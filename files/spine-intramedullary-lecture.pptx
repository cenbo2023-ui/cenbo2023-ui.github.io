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1.svg" ContentType="image/svg+xml"/>
  <Override PartName="/ppt/media/image102.svg" ContentType="image/svg+xml"/>
  <Override PartName="/ppt/media/image103.svg" ContentType="image/svg+xml"/>
  <Override PartName="/ppt/media/image104.svg" ContentType="image/svg+xml"/>
  <Override PartName="/ppt/media/image105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75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5.svg" ContentType="image/svg+xml"/>
  <Override PartName="/ppt/media/image88.svg" ContentType="image/svg+xml"/>
  <Override PartName="/ppt/media/image89.svg" ContentType="image/svg+xml"/>
  <Override PartName="/ppt/media/image90.svg" ContentType="image/svg+xml"/>
  <Override PartName="/ppt/media/image91.svg" ContentType="image/svg+xml"/>
  <Override PartName="/ppt/media/image92.svg" ContentType="image/svg+xml"/>
  <Override PartName="/ppt/media/image93.svg" ContentType="image/svg+xml"/>
  <Override PartName="/ppt/media/image94.svg" ContentType="image/svg+xml"/>
  <Override PartName="/ppt/media/image95.svg" ContentType="image/svg+xml"/>
  <Override PartName="/ppt/media/image96.svg" ContentType="image/svg+xml"/>
  <Override PartName="/ppt/media/image97.svg" ContentType="image/svg+xml"/>
  <Override PartName="/ppt/media/image98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8" r:id="rId4"/>
  </p:sldMasterIdLst>
  <p:notesMasterIdLst>
    <p:notesMasterId r:id="rId8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98" r:id="rId18"/>
    <p:sldId id="270" r:id="rId19"/>
    <p:sldId id="271" r:id="rId20"/>
    <p:sldId id="297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3" r:id="rId31"/>
    <p:sldId id="284" r:id="rId32"/>
    <p:sldId id="285" r:id="rId33"/>
    <p:sldId id="286" r:id="rId34"/>
    <p:sldId id="287" r:id="rId35"/>
    <p:sldId id="288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8" r:id="rId71"/>
    <p:sldId id="329" r:id="rId72"/>
    <p:sldId id="330" r:id="rId73"/>
    <p:sldId id="331" r:id="rId74"/>
    <p:sldId id="332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A4A3A4"/>
          </p15:clr>
        </p15:guide>
        <p15:guide id="2" pos="27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78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7" Type="http://schemas.openxmlformats.org/officeDocument/2006/relationships/tableStyles" Target="tableStyles.xml"/><Relationship Id="rId86" Type="http://schemas.openxmlformats.org/officeDocument/2006/relationships/viewProps" Target="viewProps.xml"/><Relationship Id="rId85" Type="http://schemas.openxmlformats.org/officeDocument/2006/relationships/presProps" Target="presProps.xml"/><Relationship Id="rId84" Type="http://schemas.openxmlformats.org/officeDocument/2006/relationships/notesMaster" Target="notesMasters/notesMaster1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5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7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3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4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60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1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内容占位符 2"/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467804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3" name="标题 8"/>
          <p:cNvSpPr>
            <a:spLocks noGrp="1"/>
          </p:cNvSpPr>
          <p:nvPr>
            <p:ph type="title"/>
          </p:nvPr>
        </p:nvSpPr>
        <p:spPr>
          <a:xfrm>
            <a:off x="507365" y="494349"/>
            <a:ext cx="5995035" cy="62150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内容占位符 2"/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467804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3" name="标题 8"/>
          <p:cNvSpPr>
            <a:spLocks noGrp="1"/>
          </p:cNvSpPr>
          <p:nvPr>
            <p:ph type="title"/>
          </p:nvPr>
        </p:nvSpPr>
        <p:spPr>
          <a:xfrm>
            <a:off x="507365" y="494349"/>
            <a:ext cx="5995035" cy="621506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7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6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27.sv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jpeg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30.jpeg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39.svg"/><Relationship Id="rId11" Type="http://schemas.openxmlformats.org/officeDocument/2006/relationships/image" Target="../media/image38.png"/><Relationship Id="rId10" Type="http://schemas.openxmlformats.org/officeDocument/2006/relationships/image" Target="../media/image37.sv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svg"/><Relationship Id="rId7" Type="http://schemas.openxmlformats.org/officeDocument/2006/relationships/image" Target="../media/image46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13.xml"/><Relationship Id="rId10" Type="http://schemas.openxmlformats.org/officeDocument/2006/relationships/image" Target="../media/image49.sv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4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56.jpeg"/><Relationship Id="rId3" Type="http://schemas.openxmlformats.org/officeDocument/2006/relationships/image" Target="../media/image55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5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5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2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4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Relationship Id="rId3" Type="http://schemas.openxmlformats.org/officeDocument/2006/relationships/image" Target="../media/image65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8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69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72.jpeg"/><Relationship Id="rId4" Type="http://schemas.openxmlformats.org/officeDocument/2006/relationships/image" Target="../media/image71.jpeg"/><Relationship Id="rId3" Type="http://schemas.openxmlformats.org/officeDocument/2006/relationships/image" Target="../media/image70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76.png"/><Relationship Id="rId5" Type="http://schemas.openxmlformats.org/officeDocument/2006/relationships/image" Target="../media/image75.svg"/><Relationship Id="rId4" Type="http://schemas.openxmlformats.org/officeDocument/2006/relationships/image" Target="../media/image74.png"/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svg"/><Relationship Id="rId8" Type="http://schemas.openxmlformats.org/officeDocument/2006/relationships/image" Target="../media/image79.png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36.png"/><Relationship Id="rId4" Type="http://schemas.openxmlformats.org/officeDocument/2006/relationships/image" Target="../media/image31.png"/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82.svg"/><Relationship Id="rId4" Type="http://schemas.openxmlformats.org/officeDocument/2006/relationships/image" Target="../media/image81.png"/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22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87.jpeg"/><Relationship Id="rId1" Type="http://schemas.openxmlformats.org/officeDocument/2006/relationships/image" Target="../media/image86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svg"/><Relationship Id="rId8" Type="http://schemas.openxmlformats.org/officeDocument/2006/relationships/image" Target="../media/image11.png"/><Relationship Id="rId7" Type="http://schemas.openxmlformats.org/officeDocument/2006/relationships/image" Target="../media/image89.svg"/><Relationship Id="rId6" Type="http://schemas.openxmlformats.org/officeDocument/2006/relationships/image" Target="../media/image9.png"/><Relationship Id="rId5" Type="http://schemas.openxmlformats.org/officeDocument/2006/relationships/image" Target="../media/image88.svg"/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20.xml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image" Target="../media/image93.svg"/><Relationship Id="rId7" Type="http://schemas.openxmlformats.org/officeDocument/2006/relationships/image" Target="../media/image18.png"/><Relationship Id="rId6" Type="http://schemas.openxmlformats.org/officeDocument/2006/relationships/image" Target="../media/image92.svg"/><Relationship Id="rId5" Type="http://schemas.openxmlformats.org/officeDocument/2006/relationships/image" Target="../media/image16.png"/><Relationship Id="rId4" Type="http://schemas.openxmlformats.org/officeDocument/2006/relationships/image" Target="../media/image91.svg"/><Relationship Id="rId3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95.svg"/><Relationship Id="rId7" Type="http://schemas.openxmlformats.org/officeDocument/2006/relationships/image" Target="../media/image24.png"/><Relationship Id="rId6" Type="http://schemas.openxmlformats.org/officeDocument/2006/relationships/image" Target="../media/image94.svg"/><Relationship Id="rId5" Type="http://schemas.openxmlformats.org/officeDocument/2006/relationships/image" Target="../media/image22.pn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20.xml"/><Relationship Id="rId10" Type="http://schemas.openxmlformats.org/officeDocument/2006/relationships/image" Target="../media/image96.svg"/><Relationship Id="rId1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29.jpeg"/><Relationship Id="rId3" Type="http://schemas.openxmlformats.org/officeDocument/2006/relationships/image" Target="../media/image28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jpeg"/><Relationship Id="rId7" Type="http://schemas.openxmlformats.org/officeDocument/2006/relationships/image" Target="../media/image98.svg"/><Relationship Id="rId6" Type="http://schemas.openxmlformats.org/officeDocument/2006/relationships/image" Target="../media/image33.png"/><Relationship Id="rId5" Type="http://schemas.openxmlformats.org/officeDocument/2006/relationships/image" Target="../media/image97.svg"/><Relationship Id="rId4" Type="http://schemas.openxmlformats.org/officeDocument/2006/relationships/image" Target="../media/image31.png"/><Relationship Id="rId3" Type="http://schemas.openxmlformats.org/officeDocument/2006/relationships/image" Target="../media/image30.jpeg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20.xml"/><Relationship Id="rId12" Type="http://schemas.openxmlformats.org/officeDocument/2006/relationships/image" Target="../media/image100.svg"/><Relationship Id="rId11" Type="http://schemas.openxmlformats.org/officeDocument/2006/relationships/image" Target="../media/image38.png"/><Relationship Id="rId10" Type="http://schemas.openxmlformats.org/officeDocument/2006/relationships/image" Target="../media/image99.svg"/><Relationship Id="rId1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image" Target="../media/image94.svg"/><Relationship Id="rId7" Type="http://schemas.openxmlformats.org/officeDocument/2006/relationships/image" Target="../media/image22.png"/><Relationship Id="rId6" Type="http://schemas.openxmlformats.org/officeDocument/2006/relationships/image" Target="../media/image97.svg"/><Relationship Id="rId5" Type="http://schemas.openxmlformats.org/officeDocument/2006/relationships/image" Target="../media/image31.png"/><Relationship Id="rId4" Type="http://schemas.openxmlformats.org/officeDocument/2006/relationships/image" Target="../media/image101.svg"/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104.svg"/><Relationship Id="rId7" Type="http://schemas.openxmlformats.org/officeDocument/2006/relationships/image" Target="../media/image46.png"/><Relationship Id="rId6" Type="http://schemas.openxmlformats.org/officeDocument/2006/relationships/image" Target="../media/image103.svg"/><Relationship Id="rId5" Type="http://schemas.openxmlformats.org/officeDocument/2006/relationships/image" Target="../media/image44.png"/><Relationship Id="rId4" Type="http://schemas.openxmlformats.org/officeDocument/2006/relationships/image" Target="../media/image102.svg"/><Relationship Id="rId3" Type="http://schemas.openxmlformats.org/officeDocument/2006/relationships/image" Target="../media/image42.png"/><Relationship Id="rId2" Type="http://schemas.openxmlformats.org/officeDocument/2006/relationships/image" Target="../media/image5.png"/><Relationship Id="rId11" Type="http://schemas.openxmlformats.org/officeDocument/2006/relationships/slideLayout" Target="../slideLayouts/slideLayout20.xml"/><Relationship Id="rId10" Type="http://schemas.openxmlformats.org/officeDocument/2006/relationships/image" Target="../media/image105.svg"/><Relationship Id="rId1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image" Target="../media/image106.png"/><Relationship Id="rId5" Type="http://schemas.openxmlformats.org/officeDocument/2006/relationships/tags" Target="../tags/tag1.xml"/><Relationship Id="rId4" Type="http://schemas.microsoft.com/office/2007/relationships/media" Target="file:///C:\Users\Administrator\Desktop\2026&#30465;&#24180;&#20250;\1-&#39640;&#39048;&#27573;&#34880;&#32593;.mp4" TargetMode="External"/><Relationship Id="rId3" Type="http://schemas.openxmlformats.org/officeDocument/2006/relationships/video" Target="file:///C:\Users\Administrator\Desktop\2026&#30465;&#24180;&#20250;\1-&#39640;&#39048;&#27573;&#34880;&#32593;.mp4" TargetMode="Externa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4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56.jpeg"/><Relationship Id="rId3" Type="http://schemas.openxmlformats.org/officeDocument/2006/relationships/image" Target="../media/image55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7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58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59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2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4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image" Target="../media/image67.jpeg"/><Relationship Id="rId4" Type="http://schemas.openxmlformats.org/officeDocument/2006/relationships/image" Target="../media/image66.jpeg"/><Relationship Id="rId3" Type="http://schemas.openxmlformats.org/officeDocument/2006/relationships/image" Target="../media/image65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8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9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image" Target="../media/image72.jpeg"/><Relationship Id="rId4" Type="http://schemas.openxmlformats.org/officeDocument/2006/relationships/image" Target="../media/image71.jpeg"/><Relationship Id="rId3" Type="http://schemas.openxmlformats.org/officeDocument/2006/relationships/image" Target="../media/image70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73.jpe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image" Target="../media/image76.png"/><Relationship Id="rId5" Type="http://schemas.openxmlformats.org/officeDocument/2006/relationships/image" Target="../media/image108.svg"/><Relationship Id="rId4" Type="http://schemas.openxmlformats.org/officeDocument/2006/relationships/image" Target="../media/image107.png"/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svg"/><Relationship Id="rId8" Type="http://schemas.openxmlformats.org/officeDocument/2006/relationships/image" Target="../media/image111.png"/><Relationship Id="rId7" Type="http://schemas.openxmlformats.org/officeDocument/2006/relationships/image" Target="../media/image110.svg"/><Relationship Id="rId6" Type="http://schemas.openxmlformats.org/officeDocument/2006/relationships/image" Target="../media/image109.png"/><Relationship Id="rId5" Type="http://schemas.openxmlformats.org/officeDocument/2006/relationships/image" Target="../media/image36.png"/><Relationship Id="rId4" Type="http://schemas.openxmlformats.org/officeDocument/2006/relationships/image" Target="../media/image31.png"/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0" Type="http://schemas.openxmlformats.org/officeDocument/2006/relationships/slideLayout" Target="../slideLayouts/slideLayout20.xml"/><Relationship Id="rId1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image" Target="../media/image114.svg"/><Relationship Id="rId4" Type="http://schemas.openxmlformats.org/officeDocument/2006/relationships/image" Target="../media/image113.png"/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7" Type="http://schemas.openxmlformats.org/officeDocument/2006/relationships/image" Target="../media/image22.png"/><Relationship Id="rId6" Type="http://schemas.openxmlformats.org/officeDocument/2006/relationships/image" Target="../media/image116.svg"/><Relationship Id="rId5" Type="http://schemas.openxmlformats.org/officeDocument/2006/relationships/image" Target="../media/image115.png"/><Relationship Id="rId4" Type="http://schemas.openxmlformats.org/officeDocument/2006/relationships/image" Target="../media/image83.png"/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87.jpeg"/><Relationship Id="rId1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 txBox="1"/>
          <p:nvPr/>
        </p:nvSpPr>
        <p:spPr>
          <a:xfrm>
            <a:off x="7520623" y="1021192"/>
            <a:ext cx="4675917" cy="4675917"/>
          </a:xfrm>
          <a:prstGeom prst="donut">
            <a:avLst>
              <a:gd name="adj" fmla="val 8337"/>
            </a:avLst>
          </a:prstGeom>
          <a:solidFill>
            <a:schemeClr val="accent1">
              <a:alpha val="60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30" name="图片 4" descr="E:\MyData\桌面\微信图片_20240627101518.jpg微信图片_20240627101518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7913370" y="1390650"/>
            <a:ext cx="3942080" cy="3937000"/>
          </a:xfrm>
          <a:custGeom>
            <a:avLst/>
            <a:gdLst/>
            <a:ahLst/>
            <a:cxnLst/>
            <a:rect l="l" t="t" r="r" b="b"/>
            <a:pathLst>
              <a:path w="3937000" h="3937000">
                <a:moveTo>
                  <a:pt x="0" y="1968499"/>
                </a:moveTo>
                <a:cubicBezTo>
                  <a:pt x="0" y="881327"/>
                  <a:pt x="881327" y="0"/>
                  <a:pt x="1968499" y="0"/>
                </a:cubicBezTo>
                <a:cubicBezTo>
                  <a:pt x="3055671" y="0"/>
                  <a:pt x="3936998" y="881327"/>
                  <a:pt x="3936998" y="1968499"/>
                </a:cubicBezTo>
                <a:cubicBezTo>
                  <a:pt x="3936998" y="3055671"/>
                  <a:pt x="3055671" y="3936998"/>
                  <a:pt x="1968499" y="3936998"/>
                </a:cubicBezTo>
                <a:cubicBezTo>
                  <a:pt x="881327" y="3936998"/>
                  <a:pt x="0" y="3055671"/>
                  <a:pt x="0" y="196849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31" name="标题 1"/>
          <p:cNvSpPr txBox="1"/>
          <p:nvPr/>
        </p:nvSpPr>
        <p:spPr>
          <a:xfrm>
            <a:off x="1028065" y="4213860"/>
            <a:ext cx="5339080" cy="6991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 panose="020B0A00000000000000" charset="-122"/>
                <a:ea typeface="Source Han Sans CN Regular" panose="020B0A00000000000000" charset="-122"/>
                <a:cs typeface="Source Han Sans CN Regular" panose="020B0A00000000000000" charset="-122"/>
              </a:rPr>
              <a:t>XXX大学</a:t>
            </a:r>
            <a:endParaRPr kumimoji="1" lang="zh-CN" altLang="en-US"/>
          </a:p>
        </p:txBody>
      </p:sp>
      <p:sp>
        <p:nvSpPr>
          <p:cNvPr id="132" name="标题 1"/>
          <p:cNvSpPr txBox="1"/>
          <p:nvPr/>
        </p:nvSpPr>
        <p:spPr>
          <a:xfrm>
            <a:off x="1301750" y="4213543"/>
            <a:ext cx="4792345" cy="7067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长江航运总医院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武汉脑科医院：</a:t>
            </a:r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岑  波</a:t>
            </a:r>
            <a:endParaRPr lang="zh-CN" altLang="zh-CN" sz="20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2026.8</a:t>
            </a:r>
            <a:endParaRPr lang="zh-CN" altLang="zh-CN" sz="20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标题 1"/>
          <p:cNvSpPr txBox="1"/>
          <p:nvPr/>
        </p:nvSpPr>
        <p:spPr>
          <a:xfrm>
            <a:off x="53340" y="1268730"/>
            <a:ext cx="8267065" cy="27546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高颈段脊髓髓内肿瘤的显微外科治疗体会</a:t>
            </a:r>
            <a:endParaRPr kumimoji="1" lang="en-US" altLang="zh-CN" sz="3200" b="1">
              <a:ln w="12700">
                <a:noFill/>
              </a:ln>
              <a:solidFill>
                <a:srgbClr val="1083C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Source Han Sans CN Bold" panose="020B0800000000000000" charset="-122"/>
            </a:endParaRPr>
          </a:p>
        </p:txBody>
      </p:sp>
      <p:pic>
        <p:nvPicPr>
          <p:cNvPr id="134" name="图片 18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0885"/>
            <a:ext cx="12233275" cy="1047115"/>
          </a:xfrm>
          <a:prstGeom prst="rect">
            <a:avLst/>
          </a:prstGeom>
        </p:spPr>
      </p:pic>
      <p:pic>
        <p:nvPicPr>
          <p:cNvPr id="135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4" y="15145"/>
            <a:ext cx="5441152" cy="929721"/>
          </a:xfrm>
          <a:prstGeom prst="rect">
            <a:avLst/>
          </a:prstGeom>
        </p:spPr>
      </p:pic>
      <p:sp>
        <p:nvSpPr>
          <p:cNvPr id="136" name="文本框 19" descr="7b0a20202020227461726765744d6f64756c65223a20226b6f6e6c696e65666f6e7473220a7d0a"/>
          <p:cNvSpPr txBox="1"/>
          <p:nvPr/>
        </p:nvSpPr>
        <p:spPr>
          <a:xfrm>
            <a:off x="8881745" y="6334033"/>
            <a:ext cx="3310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病人至上</a:t>
            </a:r>
            <a:r>
              <a:rPr lang="en-US" altLang="zh-CN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服务第一</a:t>
            </a:r>
            <a:endParaRPr lang="zh-CN" altLang="en-US" sz="2400" b="1" dirty="0">
              <a:solidFill>
                <a:srgbClr val="FF0000"/>
              </a:solidFill>
              <a:latin typeface="汉仪青云简" panose="00020600040101010101" charset="-122"/>
              <a:ea typeface="汉仪青云简" panose="00020600040101010101" charset="-122"/>
              <a:cs typeface="汉仪青云简" panose="00020600040101010101" charset="-122"/>
              <a:sym typeface="汉仪青云简" panose="00020600040101010101" charset="-122"/>
            </a:endParaRPr>
          </a:p>
        </p:txBody>
      </p:sp>
      <p:sp>
        <p:nvSpPr>
          <p:cNvPr id="137" name="流程图: 接点 1"/>
          <p:cNvSpPr/>
          <p:nvPr/>
        </p:nvSpPr>
        <p:spPr>
          <a:xfrm flipV="1">
            <a:off x="3366896" y="434716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标题 1"/>
          <p:cNvSpPr txBox="1"/>
          <p:nvPr/>
        </p:nvSpPr>
        <p:spPr>
          <a:xfrm>
            <a:off x="-10795" y="169545"/>
            <a:ext cx="12446000" cy="70612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2000"/>
                </a:schemeClr>
              </a:gs>
              <a:gs pos="100000">
                <a:schemeClr val="bg1">
                  <a:alpha val="21000"/>
                </a:schemeClr>
              </a:gs>
            </a:gsLst>
            <a:lin ang="16200000" scaled="0"/>
          </a:gra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37" name="标题 1"/>
          <p:cNvSpPr txBox="1"/>
          <p:nvPr/>
        </p:nvSpPr>
        <p:spPr>
          <a:xfrm>
            <a:off x="660400" y="1835914"/>
            <a:ext cx="3168000" cy="3168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8" name="标题 1"/>
          <p:cNvSpPr txBox="1"/>
          <p:nvPr/>
        </p:nvSpPr>
        <p:spPr>
          <a:xfrm>
            <a:off x="1705256" y="1817914"/>
            <a:ext cx="3204000" cy="3204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kumimoji="1" lang="zh-CN" altLang="en-US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9" name="标题 1"/>
          <p:cNvSpPr txBox="1"/>
          <p:nvPr/>
        </p:nvSpPr>
        <p:spPr>
          <a:xfrm>
            <a:off x="2093956" y="2617301"/>
            <a:ext cx="2425700" cy="10033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7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目录</a:t>
            </a:r>
            <a:endParaRPr kumimoji="1" lang="zh-CN" altLang="en-US"/>
          </a:p>
        </p:txBody>
      </p:sp>
      <p:sp>
        <p:nvSpPr>
          <p:cNvPr id="240" name="标题 1"/>
          <p:cNvSpPr txBox="1"/>
          <p:nvPr/>
        </p:nvSpPr>
        <p:spPr>
          <a:xfrm>
            <a:off x="2133145" y="3725297"/>
            <a:ext cx="2349500" cy="2794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CATALOGUE</a:t>
            </a:r>
            <a:endParaRPr kumimoji="1" lang="zh-CN" altLang="en-US"/>
          </a:p>
        </p:txBody>
      </p:sp>
      <p:sp>
        <p:nvSpPr>
          <p:cNvPr id="241" name="标题 1"/>
          <p:cNvSpPr txBox="1"/>
          <p:nvPr/>
        </p:nvSpPr>
        <p:spPr>
          <a:xfrm>
            <a:off x="5437461" y="2139544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01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2" name="标题 1"/>
          <p:cNvSpPr txBox="1"/>
          <p:nvPr/>
        </p:nvSpPr>
        <p:spPr>
          <a:xfrm>
            <a:off x="5972850" y="2139238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引言与研究背景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3" name="标题 1"/>
          <p:cNvSpPr txBox="1"/>
          <p:nvPr/>
        </p:nvSpPr>
        <p:spPr>
          <a:xfrm>
            <a:off x="5437461" y="2935183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02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4" name="标题 1"/>
          <p:cNvSpPr txBox="1"/>
          <p:nvPr/>
        </p:nvSpPr>
        <p:spPr>
          <a:xfrm>
            <a:off x="5972850" y="2933437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临床资料与方法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5" name="标题 1"/>
          <p:cNvSpPr txBox="1"/>
          <p:nvPr/>
        </p:nvSpPr>
        <p:spPr>
          <a:xfrm>
            <a:off x="5437461" y="3730822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03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6" name="标题 1"/>
          <p:cNvSpPr txBox="1"/>
          <p:nvPr/>
        </p:nvSpPr>
        <p:spPr>
          <a:xfrm>
            <a:off x="5972850" y="3727636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治疗结果</a:t>
            </a:r>
            <a:endParaRPr kumimoji="1" lang="en-US" altLang="en-US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7" name="标题 1"/>
          <p:cNvSpPr txBox="1"/>
          <p:nvPr/>
        </p:nvSpPr>
        <p:spPr>
          <a:xfrm>
            <a:off x="5437461" y="4526461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04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8" name="标题 1"/>
          <p:cNvSpPr txBox="1"/>
          <p:nvPr/>
        </p:nvSpPr>
        <p:spPr>
          <a:xfrm>
            <a:off x="5972850" y="4521835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讨论与分析</a:t>
            </a:r>
            <a:endParaRPr kumimoji="1" lang="en-US" altLang="zh-CN" sz="2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  <a:sym typeface="+mn-ea"/>
            </a:endParaRPr>
          </a:p>
        </p:txBody>
      </p:sp>
      <p:sp>
        <p:nvSpPr>
          <p:cNvPr id="249" name="标题 1"/>
          <p:cNvSpPr txBox="1"/>
          <p:nvPr/>
        </p:nvSpPr>
        <p:spPr>
          <a:xfrm>
            <a:off x="5437461" y="5320846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05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50" name="标题 1"/>
          <p:cNvSpPr txBox="1"/>
          <p:nvPr/>
        </p:nvSpPr>
        <p:spPr>
          <a:xfrm>
            <a:off x="5972850" y="5316220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结论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9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0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0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0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0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0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引言与研究背景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0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778000"/>
            <a:ext cx="3556000" cy="355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</p:pic>
      <p:sp>
        <p:nvSpPr>
          <p:cNvPr id="406" name="AutoShape 6"/>
          <p:cNvSpPr/>
          <p:nvPr/>
        </p:nvSpPr>
        <p:spPr>
          <a:xfrm>
            <a:off x="762000" y="5524500"/>
            <a:ext cx="3556000" cy="76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图示：高颈段脊髓作为连接大脑与躯干的核心通路，其解剖位置的特殊性决定了手术的高风险与高难度。</a:t>
            </a:r>
            <a:endParaRPr lang="en-US" sz="1300" b="0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7" name="AutoShape 7"/>
          <p:cNvSpPr/>
          <p:nvPr/>
        </p:nvSpPr>
        <p:spPr>
          <a:xfrm>
            <a:off x="4826000" y="1778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08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2006600"/>
            <a:ext cx="457200" cy="457200"/>
          </a:xfrm>
          <a:prstGeom prst="rect">
            <a:avLst/>
          </a:prstGeom>
        </p:spPr>
      </p:pic>
      <p:sp>
        <p:nvSpPr>
          <p:cNvPr id="409" name="AutoShape 10"/>
          <p:cNvSpPr/>
          <p:nvPr/>
        </p:nvSpPr>
        <p:spPr>
          <a:xfrm>
            <a:off x="5715000" y="1879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紧邻生命中枢，关乎呼吸循环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病变位于C1-C4节段，直接毗邻控制呼吸的神经核团（C3-C5）及延髓。此处一旦受压或受损，可直接引发呼吸骤停、血压波动等致命并发症，是手术安全的核心挑战。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10" name="AutoShape 11"/>
          <p:cNvSpPr/>
          <p:nvPr/>
        </p:nvSpPr>
        <p:spPr>
          <a:xfrm>
            <a:off x="4826000" y="3175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1" name="Picture 1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3403600"/>
            <a:ext cx="457200" cy="457200"/>
          </a:xfrm>
          <a:prstGeom prst="rect">
            <a:avLst/>
          </a:prstGeom>
        </p:spPr>
      </p:pic>
      <p:sp>
        <p:nvSpPr>
          <p:cNvPr id="412" name="AutoShape 14"/>
          <p:cNvSpPr/>
          <p:nvPr/>
        </p:nvSpPr>
        <p:spPr>
          <a:xfrm>
            <a:off x="5715000" y="3276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解剖结构脆弱，容错率极低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高颈段脊髓纤细且神经纤维高度密集，是大脑向躯干传递指令的“咽喉要道”。该区域缺乏缓冲空间，手术中任何微小的牵拉、触碰或缺血，都可能导致永久性的四肢瘫痪或感觉功能丧失。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13" name="AutoShape 15"/>
          <p:cNvSpPr/>
          <p:nvPr/>
        </p:nvSpPr>
        <p:spPr>
          <a:xfrm>
            <a:off x="4826000" y="4572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14" name="AutoShape 16"/>
          <p:cNvSpPr/>
          <p:nvPr/>
        </p:nvSpPr>
        <p:spPr>
          <a:xfrm>
            <a:off x="4826000" y="4572000"/>
            <a:ext cx="508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5" name="Picture 17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80000" y="4800600"/>
            <a:ext cx="457200" cy="457200"/>
          </a:xfrm>
          <a:prstGeom prst="rect">
            <a:avLst/>
          </a:prstGeom>
        </p:spPr>
      </p:pic>
      <p:sp>
        <p:nvSpPr>
          <p:cNvPr id="416" name="AutoShape 18"/>
          <p:cNvSpPr/>
          <p:nvPr/>
        </p:nvSpPr>
        <p:spPr>
          <a:xfrm>
            <a:off x="5715000" y="4673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手术空间受限，技术要求严苛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受颈椎骨性结构与硬脊膜的双重包裹，手术显露困难，操作通道狭窄。这对术者的显微外科技术、肿瘤切除策略及术中应急处理能力，均提出了极高的临床要求。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1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72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73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74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75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76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77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引言与研究背景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78" name="Picture 5"/>
          <p:cNvPicPr>
            <a:picLocks noChangeAspect="1"/>
          </p:cNvPicPr>
          <p:nvPr/>
        </p:nvPicPr>
        <p:blipFill>
          <a:blip r:embed="rId3"/>
          <a:srcRect t="8482" b="8482"/>
          <a:stretch>
            <a:fillRect/>
          </a:stretch>
        </p:blipFill>
        <p:spPr>
          <a:xfrm>
            <a:off x="762000" y="1905000"/>
            <a:ext cx="3556000" cy="3937000"/>
          </a:xfrm>
          <a:prstGeom prst="roundRect">
            <a:avLst>
              <a:gd name="adj" fmla="val 4285"/>
            </a:avLst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479" name="AutoShape 6"/>
          <p:cNvSpPr/>
          <p:nvPr/>
        </p:nvSpPr>
        <p:spPr>
          <a:xfrm>
            <a:off x="4826000" y="1905000"/>
            <a:ext cx="66040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0" name="AutoShape 7"/>
          <p:cNvSpPr/>
          <p:nvPr/>
        </p:nvSpPr>
        <p:spPr>
          <a:xfrm>
            <a:off x="4826000" y="1905000"/>
            <a:ext cx="76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1" name="AutoShape 8"/>
          <p:cNvSpPr/>
          <p:nvPr/>
        </p:nvSpPr>
        <p:spPr>
          <a:xfrm>
            <a:off x="5143500" y="2095500"/>
            <a:ext cx="6096000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01 治疗现状</a:t>
            </a:r>
            <a:endParaRPr lang="en-US" sz="2000" b="1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82" name="AutoShape 9"/>
          <p:cNvSpPr/>
          <p:nvPr/>
        </p:nvSpPr>
        <p:spPr>
          <a:xfrm>
            <a:off x="5143500" y="2603500"/>
            <a:ext cx="6096000" cy="1143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随着医学技术的进步，</a:t>
            </a: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显微外科手术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已成为治疗高颈段脊髓髓内肿瘤的核心手段。其优势在于提供高倍清晰的手术视野，实现对肿瘤的精准分离与切除，同时最大限度地保护周围正常的脊髓组织、重要血管及神经结构，从而有效降低术后并发症风险。</a:t>
            </a:r>
            <a:endParaRPr lang="en-US" sz="1100"/>
          </a:p>
        </p:txBody>
      </p:sp>
      <p:sp>
        <p:nvSpPr>
          <p:cNvPr id="483" name="AutoShape 10"/>
          <p:cNvSpPr/>
          <p:nvPr/>
        </p:nvSpPr>
        <p:spPr>
          <a:xfrm>
            <a:off x="4826000" y="4191000"/>
            <a:ext cx="66040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4" name="AutoShape 11"/>
          <p:cNvSpPr/>
          <p:nvPr/>
        </p:nvSpPr>
        <p:spPr>
          <a:xfrm>
            <a:off x="4826000" y="4191000"/>
            <a:ext cx="76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5" name="AutoShape 12"/>
          <p:cNvSpPr/>
          <p:nvPr/>
        </p:nvSpPr>
        <p:spPr>
          <a:xfrm>
            <a:off x="5143500" y="4381500"/>
            <a:ext cx="6096000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02 研究目的</a:t>
            </a:r>
            <a:endParaRPr lang="en-US" sz="1100"/>
          </a:p>
        </p:txBody>
      </p:sp>
      <p:sp>
        <p:nvSpPr>
          <p:cNvPr id="486" name="AutoShape 13"/>
          <p:cNvSpPr/>
          <p:nvPr/>
        </p:nvSpPr>
        <p:spPr>
          <a:xfrm>
            <a:off x="5143500" y="4889500"/>
            <a:ext cx="6096000" cy="1143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zh-CN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通过回顾性分析我院近8年收治的9例高颈段脊髓髓内肿瘤患者的临床资料、手术过程及随访结果，旨在系统总结手术经验，探讨优化的诊疗策略，以期为提高手术疗效、改善患者神经功能恢复及长期预后提供有价值的临床参考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8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9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9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9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9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9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95" name="AutoShape 5"/>
          <p:cNvSpPr/>
          <p:nvPr/>
        </p:nvSpPr>
        <p:spPr>
          <a:xfrm>
            <a:off x="762000" y="15240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zh-CN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回顾性纳入9例高颈段脊髓髓内肿瘤患者，所有病例均经术前增强MRI检查明确病灶位置与范围，并由同一外科团队实施显微外科手术切除，术后病理结果作为最终诊断依据，确保了研究样本的同质性与可靠性。</a:t>
            </a:r>
            <a:endParaRPr lang="en-US" sz="14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96" name="AutoShape 6"/>
          <p:cNvSpPr/>
          <p:nvPr/>
        </p:nvSpPr>
        <p:spPr>
          <a:xfrm>
            <a:off x="762000" y="2540000"/>
            <a:ext cx="5207000" cy="2921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97" name="AutoShape 7"/>
          <p:cNvSpPr/>
          <p:nvPr/>
        </p:nvSpPr>
        <p:spPr>
          <a:xfrm>
            <a:off x="1016000" y="2730500"/>
            <a:ext cx="4699000" cy="381000"/>
          </a:xfrm>
          <a:prstGeom prst="rect">
            <a:avLst/>
          </a:prstGeom>
          <a:solidFill>
            <a:schemeClr val="accent1">
              <a:lumMod val="75000"/>
              <a:alpha val="8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基线特征：中青年群体为主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98" name="Picture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429000"/>
            <a:ext cx="304800" cy="304800"/>
          </a:xfrm>
          <a:prstGeom prst="rect">
            <a:avLst/>
          </a:prstGeom>
        </p:spPr>
      </p:pic>
      <p:sp>
        <p:nvSpPr>
          <p:cNvPr id="499" name="AutoShape 10"/>
          <p:cNvSpPr/>
          <p:nvPr/>
        </p:nvSpPr>
        <p:spPr>
          <a:xfrm>
            <a:off x="11430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3例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男性 (33.3%)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00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0500" y="3429000"/>
            <a:ext cx="304800" cy="304800"/>
          </a:xfrm>
          <a:prstGeom prst="rect">
            <a:avLst/>
          </a:prstGeom>
        </p:spPr>
      </p:pic>
      <p:sp>
        <p:nvSpPr>
          <p:cNvPr id="501" name="AutoShape 13"/>
          <p:cNvSpPr/>
          <p:nvPr/>
        </p:nvSpPr>
        <p:spPr>
          <a:xfrm>
            <a:off x="27305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6例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女性 (66.7%)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02" name="Picture 1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8000" y="3429000"/>
            <a:ext cx="304800" cy="304800"/>
          </a:xfrm>
          <a:prstGeom prst="rect">
            <a:avLst/>
          </a:prstGeom>
        </p:spPr>
      </p:pic>
      <p:sp>
        <p:nvSpPr>
          <p:cNvPr id="503" name="AutoShape 16"/>
          <p:cNvSpPr/>
          <p:nvPr/>
        </p:nvSpPr>
        <p:spPr>
          <a:xfrm>
            <a:off x="43180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34岁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中位年龄 (19-48岁)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4" name="AutoShape 17"/>
          <p:cNvSpPr/>
          <p:nvPr/>
        </p:nvSpPr>
        <p:spPr>
          <a:xfrm>
            <a:off x="1016000" y="469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样本呈现明显的中青年聚集性特征，性别分布以女性略占优势，符合该类脊髓肿瘤在中青年人群中高发的流行病学特点。</a:t>
            </a:r>
            <a:endParaRPr lang="en-US" sz="1100"/>
          </a:p>
        </p:txBody>
      </p:sp>
      <p:sp>
        <p:nvSpPr>
          <p:cNvPr id="505" name="AutoShape 18"/>
          <p:cNvSpPr/>
          <p:nvPr/>
        </p:nvSpPr>
        <p:spPr>
          <a:xfrm>
            <a:off x="6223000" y="2540000"/>
            <a:ext cx="5207000" cy="2921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06" name="AutoShape 19"/>
          <p:cNvSpPr/>
          <p:nvPr/>
        </p:nvSpPr>
        <p:spPr>
          <a:xfrm>
            <a:off x="6477000" y="2730500"/>
            <a:ext cx="4699000" cy="381000"/>
          </a:xfrm>
          <a:prstGeom prst="rect">
            <a:avLst/>
          </a:prstGeom>
          <a:solidFill>
            <a:schemeClr val="accent1">
              <a:lumMod val="75000"/>
              <a:alpha val="8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病理图谱：多样化的肿瘤类型</a:t>
            </a:r>
            <a:endParaRPr lang="en-US" sz="1800" b="1" i="0" u="none" strike="noStrike">
              <a:solidFill>
                <a:schemeClr val="accent1">
                  <a:lumMod val="40000"/>
                  <a:lumOff val="6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7" name="AutoShape 22"/>
          <p:cNvSpPr/>
          <p:nvPr/>
        </p:nvSpPr>
        <p:spPr>
          <a:xfrm>
            <a:off x="6985000" y="33528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室管膜瘤 (2例) &amp; 胶质瘤 (3例)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：占比超55%，含1例胶质母细胞瘤，覆盖良恶性谱系。</a:t>
            </a:r>
            <a:endParaRPr lang="en-US" sz="1100"/>
          </a:p>
        </p:txBody>
      </p:sp>
      <p:sp>
        <p:nvSpPr>
          <p:cNvPr id="508" name="AutoShape 25"/>
          <p:cNvSpPr/>
          <p:nvPr/>
        </p:nvSpPr>
        <p:spPr>
          <a:xfrm>
            <a:off x="6985000" y="4013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血管网织细胞瘤 (1例)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：典型的富血供良性肿瘤，手术切除对技术要求较高。</a:t>
            </a:r>
            <a:endParaRPr lang="en-US" sz="1100"/>
          </a:p>
        </p:txBody>
      </p:sp>
      <p:sp>
        <p:nvSpPr>
          <p:cNvPr id="509" name="AutoShape 28"/>
          <p:cNvSpPr/>
          <p:nvPr/>
        </p:nvSpPr>
        <p:spPr>
          <a:xfrm>
            <a:off x="6985000" y="4673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其他罕见类型 (3例)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：包括海绵状血管瘤2例、精原细胞瘤1例，丰富了病理多样性。</a:t>
            </a:r>
            <a:endParaRPr lang="en-US" sz="1100"/>
          </a:p>
        </p:txBody>
      </p:sp>
      <p:sp>
        <p:nvSpPr>
          <p:cNvPr id="510" name="AutoShape 29"/>
          <p:cNvSpPr/>
          <p:nvPr/>
        </p:nvSpPr>
        <p:spPr>
          <a:xfrm>
            <a:off x="762000" y="5628005"/>
            <a:ext cx="10668000" cy="698500"/>
          </a:xfrm>
          <a:prstGeom prst="roundRect">
            <a:avLst>
              <a:gd name="adj" fmla="val 0"/>
            </a:avLst>
          </a:prstGeom>
          <a:solidFill>
            <a:srgbClr val="2D374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11" name="AutoShape 30"/>
          <p:cNvSpPr/>
          <p:nvPr/>
        </p:nvSpPr>
        <p:spPr>
          <a:xfrm>
            <a:off x="889000" y="5755005"/>
            <a:ext cx="1028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临床意义：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该样本库涵盖了从良性到高度恶性的多种脊髓髓内肿瘤病理类型，为后续对比分析不同肿瘤的手术疗效、并发症及预后提供了宝贵的临床依据。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1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1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1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1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1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19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20" name="AutoShape 5"/>
          <p:cNvSpPr/>
          <p:nvPr/>
        </p:nvSpPr>
        <p:spPr>
          <a:xfrm>
            <a:off x="309245" y="122047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影像学精准评估：术前诊断的“透视眼”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21" name="Picture 6"/>
          <p:cNvPicPr>
            <a:picLocks noChangeAspect="1"/>
          </p:cNvPicPr>
          <p:nvPr/>
        </p:nvPicPr>
        <p:blipFill>
          <a:blip r:embed="rId3"/>
          <a:srcRect t="12464" b="12464"/>
          <a:stretch>
            <a:fillRect/>
          </a:stretch>
        </p:blipFill>
        <p:spPr>
          <a:xfrm>
            <a:off x="309245" y="1791970"/>
            <a:ext cx="2413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</p:pic>
      <p:sp>
        <p:nvSpPr>
          <p:cNvPr id="522" name="AutoShape 7"/>
          <p:cNvSpPr/>
          <p:nvPr/>
        </p:nvSpPr>
        <p:spPr>
          <a:xfrm>
            <a:off x="2976245" y="191897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颈椎MRI（金标准）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作为首选核心手段，清晰呈现肿瘤的精准位置、侵犯范围及信号特征，明确其与脊髓、神经根的毗邻关系，为手术方案制定提供解剖学基础。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23" name="Picture 8"/>
          <p:cNvPicPr>
            <a:picLocks noChangeAspect="1"/>
          </p:cNvPicPr>
          <p:nvPr/>
        </p:nvPicPr>
        <p:blipFill>
          <a:blip r:embed="rId4"/>
          <a:srcRect l="2124" r="2124"/>
          <a:stretch>
            <a:fillRect/>
          </a:stretch>
        </p:blipFill>
        <p:spPr>
          <a:xfrm>
            <a:off x="6151245" y="1791970"/>
            <a:ext cx="2413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</p:pic>
      <p:sp>
        <p:nvSpPr>
          <p:cNvPr id="524" name="AutoShape 9"/>
          <p:cNvSpPr/>
          <p:nvPr/>
        </p:nvSpPr>
        <p:spPr>
          <a:xfrm>
            <a:off x="8754745" y="191897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CT三维重建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精准评估颈椎骨性结构的完整性，预判术后脊柱稳定性，为椎板复位、内固定方式的选择提供关键的骨性解剖依据。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5" name="AutoShape 11"/>
          <p:cNvSpPr/>
          <p:nvPr/>
        </p:nvSpPr>
        <p:spPr>
          <a:xfrm>
            <a:off x="309245" y="439547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多维度功能基线评估：量化风险与预后</a:t>
            </a:r>
            <a:endParaRPr lang="en-US" sz="2000" b="1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26" name="AutoShape 12"/>
          <p:cNvSpPr/>
          <p:nvPr/>
        </p:nvSpPr>
        <p:spPr>
          <a:xfrm>
            <a:off x="3092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27" name="Picture 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745" y="5055870"/>
            <a:ext cx="304800" cy="304800"/>
          </a:xfrm>
          <a:prstGeom prst="rect">
            <a:avLst/>
          </a:prstGeom>
        </p:spPr>
      </p:pic>
      <p:sp>
        <p:nvSpPr>
          <p:cNvPr id="528" name="AutoShape 14"/>
          <p:cNvSpPr/>
          <p:nvPr/>
        </p:nvSpPr>
        <p:spPr>
          <a:xfrm>
            <a:off x="8807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神经电生理监测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常规监测SSEP与MEP，建立神经功能基线，客观评估脊髓传导通路的完整性，是术中神经保护的重要参照。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9" name="AutoShape 15"/>
          <p:cNvSpPr/>
          <p:nvPr/>
        </p:nvSpPr>
        <p:spPr>
          <a:xfrm>
            <a:off x="39414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30" name="Picture 1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1945" y="5055870"/>
            <a:ext cx="304800" cy="304800"/>
          </a:xfrm>
          <a:prstGeom prst="rect">
            <a:avLst/>
          </a:prstGeom>
        </p:spPr>
      </p:pic>
      <p:sp>
        <p:nvSpPr>
          <p:cNvPr id="531" name="AutoShape 17"/>
          <p:cNvSpPr/>
          <p:nvPr/>
        </p:nvSpPr>
        <p:spPr>
          <a:xfrm>
            <a:off x="45129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呼吸功能综合评估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针对伴胸闷、憋气症状的患者，完善肺功能及血气分析，精准评估手术耐受风险，保障围手术期呼吸安全。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32" name="AutoShape 18"/>
          <p:cNvSpPr/>
          <p:nvPr/>
        </p:nvSpPr>
        <p:spPr>
          <a:xfrm>
            <a:off x="75736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33" name="Picture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4145" y="5055870"/>
            <a:ext cx="304800" cy="304800"/>
          </a:xfrm>
          <a:prstGeom prst="rect">
            <a:avLst/>
          </a:prstGeom>
        </p:spPr>
      </p:pic>
      <p:sp>
        <p:nvSpPr>
          <p:cNvPr id="534" name="AutoShape 20"/>
          <p:cNvSpPr/>
          <p:nvPr/>
        </p:nvSpPr>
        <p:spPr>
          <a:xfrm>
            <a:off x="81451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McCormick功能评分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采用国际通用的脊髓功能分级标准，对术前神经功能状态进行量化评分，为术后疗效对比提供客观标尺。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3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3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3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4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4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42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43" name="AutoShape 5"/>
          <p:cNvSpPr/>
          <p:nvPr/>
        </p:nvSpPr>
        <p:spPr>
          <a:xfrm>
            <a:off x="568325" y="1349375"/>
            <a:ext cx="5270500" cy="444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44" name="Picture 6"/>
          <p:cNvPicPr>
            <a:picLocks noChangeAspect="1"/>
          </p:cNvPicPr>
          <p:nvPr/>
        </p:nvPicPr>
        <p:blipFill>
          <a:blip r:embed="rId3"/>
          <a:srcRect t="8126" b="8126"/>
          <a:stretch>
            <a:fillRect/>
          </a:stretch>
        </p:blipFill>
        <p:spPr>
          <a:xfrm>
            <a:off x="822325" y="1666875"/>
            <a:ext cx="18415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45" name="AutoShape 7"/>
          <p:cNvSpPr/>
          <p:nvPr/>
        </p:nvSpPr>
        <p:spPr>
          <a:xfrm>
            <a:off x="2790825" y="1666875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精准微创入路与稳定重建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46" name="AutoShape 9"/>
          <p:cNvSpPr/>
          <p:nvPr/>
        </p:nvSpPr>
        <p:spPr>
          <a:xfrm>
            <a:off x="2790825" y="23018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微创化操作策略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采用仰卧头颈过伸位，经后正中小切口入路，精准剥离椎旁肌群，最大限度保留脊柱后方韧带复合体，减少创伤。</a:t>
            </a:r>
            <a:endParaRPr lang="en-US" sz="1100"/>
          </a:p>
        </p:txBody>
      </p:sp>
      <p:sp>
        <p:nvSpPr>
          <p:cNvPr id="547" name="AutoShape 10"/>
          <p:cNvSpPr/>
          <p:nvPr/>
        </p:nvSpPr>
        <p:spPr>
          <a:xfrm>
            <a:off x="2790825" y="35083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即刻骨性结构重建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严格控制椎板开窗范围，术毕将椎板原位回植，配合微型钛板固定，即刻重建颈椎后方的生物力学稳定性。</a:t>
            </a:r>
            <a:endParaRPr lang="en-US" sz="1100"/>
          </a:p>
        </p:txBody>
      </p:sp>
      <p:sp>
        <p:nvSpPr>
          <p:cNvPr id="548" name="AutoShape 12"/>
          <p:cNvSpPr/>
          <p:nvPr/>
        </p:nvSpPr>
        <p:spPr>
          <a:xfrm>
            <a:off x="949325" y="5133975"/>
            <a:ext cx="450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实现“病灶切除+脊柱稳定”同步完成，有效降低术后颈椎失稳风险。</a:t>
            </a:r>
            <a:endParaRPr lang="en-US" sz="1100"/>
          </a:p>
        </p:txBody>
      </p:sp>
      <p:sp>
        <p:nvSpPr>
          <p:cNvPr id="549" name="AutoShape 13"/>
          <p:cNvSpPr/>
          <p:nvPr/>
        </p:nvSpPr>
        <p:spPr>
          <a:xfrm>
            <a:off x="6092825" y="1349375"/>
            <a:ext cx="5270500" cy="444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50" name="Picture 14"/>
          <p:cNvPicPr>
            <a:picLocks noChangeAspect="1"/>
          </p:cNvPicPr>
          <p:nvPr/>
        </p:nvPicPr>
        <p:blipFill>
          <a:blip r:embed="rId4"/>
          <a:srcRect l="13750" r="13750"/>
          <a:stretch>
            <a:fillRect/>
          </a:stretch>
        </p:blipFill>
        <p:spPr>
          <a:xfrm>
            <a:off x="6346825" y="1666875"/>
            <a:ext cx="18415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1" name="AutoShape 15"/>
          <p:cNvSpPr/>
          <p:nvPr/>
        </p:nvSpPr>
        <p:spPr>
          <a:xfrm>
            <a:off x="8315325" y="1666875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多模态术中安全监测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52" name="AutoShape 17"/>
          <p:cNvSpPr/>
          <p:nvPr/>
        </p:nvSpPr>
        <p:spPr>
          <a:xfrm>
            <a:off x="8315325" y="23018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术中超声实时导航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高频超声实时定位肿瘤边界及其与脊髓、神经根的毗邻关系，避免盲目切开，确保病灶切除的精准度。</a:t>
            </a:r>
            <a:endParaRPr lang="en-US" sz="1100"/>
          </a:p>
        </p:txBody>
      </p:sp>
      <p:sp>
        <p:nvSpPr>
          <p:cNvPr id="553" name="AutoShape 18"/>
          <p:cNvSpPr/>
          <p:nvPr/>
        </p:nvSpPr>
        <p:spPr>
          <a:xfrm>
            <a:off x="8315325" y="35083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神经电生理“安全锁”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全程监测SSEP和MEP，一旦出现异常信号即刻预警并调整策略，是避免永久性神经损伤的关键保障。</a:t>
            </a:r>
            <a:endParaRPr lang="en-US" sz="1100"/>
          </a:p>
        </p:txBody>
      </p:sp>
      <p:sp>
        <p:nvSpPr>
          <p:cNvPr id="554" name="AutoShape 19"/>
          <p:cNvSpPr/>
          <p:nvPr/>
        </p:nvSpPr>
        <p:spPr>
          <a:xfrm>
            <a:off x="6346825" y="5140325"/>
            <a:ext cx="4762500" cy="571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55" name="AutoShape 20"/>
          <p:cNvSpPr/>
          <p:nvPr/>
        </p:nvSpPr>
        <p:spPr>
          <a:xfrm>
            <a:off x="6346825" y="5218430"/>
            <a:ext cx="450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为高难度颈椎手术提供双重安全防线，显著提升手术安全性与疗效。</a:t>
            </a:r>
            <a:endParaRPr lang="en-US" sz="1100"/>
          </a:p>
        </p:txBody>
      </p:sp>
      <p:sp>
        <p:nvSpPr>
          <p:cNvPr id="556" name="AutoShape 11"/>
          <p:cNvSpPr/>
          <p:nvPr/>
        </p:nvSpPr>
        <p:spPr>
          <a:xfrm>
            <a:off x="885825" y="5138420"/>
            <a:ext cx="4762500" cy="571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5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6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6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6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6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6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65" name="AutoShape 5"/>
          <p:cNvSpPr/>
          <p:nvPr/>
        </p:nvSpPr>
        <p:spPr>
          <a:xfrm>
            <a:off x="686435" y="1328420"/>
            <a:ext cx="5207000" cy="457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66" name="AutoShape 6"/>
          <p:cNvSpPr/>
          <p:nvPr/>
        </p:nvSpPr>
        <p:spPr>
          <a:xfrm>
            <a:off x="876935" y="151892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手术核心技术：精细化剥离与止血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67" name="Picture 7"/>
          <p:cNvPicPr>
            <a:picLocks noChangeAspect="1"/>
          </p:cNvPicPr>
          <p:nvPr/>
        </p:nvPicPr>
        <p:blipFill>
          <a:blip r:embed="rId3"/>
          <a:srcRect l="1969" r="1969"/>
          <a:stretch>
            <a:fillRect/>
          </a:stretch>
        </p:blipFill>
        <p:spPr>
          <a:xfrm>
            <a:off x="876935" y="2090420"/>
            <a:ext cx="2286000" cy="1778000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</p:pic>
      <p:sp>
        <p:nvSpPr>
          <p:cNvPr id="568" name="AutoShape 8"/>
          <p:cNvSpPr/>
          <p:nvPr/>
        </p:nvSpPr>
        <p:spPr>
          <a:xfrm>
            <a:off x="3289935" y="2090420"/>
            <a:ext cx="2476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依托高清手术显微镜与神经电生理监测，实现对脊髓及肿瘤组织的毫米级分辨，为精准切除提供技术保障。</a:t>
            </a:r>
            <a:endParaRPr lang="en-US" sz="1100"/>
          </a:p>
        </p:txBody>
      </p:sp>
      <p:pic>
        <p:nvPicPr>
          <p:cNvPr id="569" name="Picture 1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935" y="4224020"/>
            <a:ext cx="228600" cy="228600"/>
          </a:xfrm>
          <a:prstGeom prst="rect">
            <a:avLst/>
          </a:prstGeom>
        </p:spPr>
      </p:pic>
      <p:sp>
        <p:nvSpPr>
          <p:cNvPr id="570" name="AutoShape 11"/>
          <p:cNvSpPr/>
          <p:nvPr/>
        </p:nvSpPr>
        <p:spPr>
          <a:xfrm>
            <a:off x="1194435" y="41859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精准切开：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显微镜下识别脊髓后正中沟，沿无血管区纵向切开，最大限度保护正常组织。</a:t>
            </a:r>
            <a:endParaRPr lang="en-US" sz="1100"/>
          </a:p>
        </p:txBody>
      </p:sp>
      <p:pic>
        <p:nvPicPr>
          <p:cNvPr id="571" name="Picture 1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935" y="4820920"/>
            <a:ext cx="228600" cy="228600"/>
          </a:xfrm>
          <a:prstGeom prst="rect">
            <a:avLst/>
          </a:prstGeom>
        </p:spPr>
      </p:pic>
      <p:sp>
        <p:nvSpPr>
          <p:cNvPr id="572" name="AutoShape 13"/>
          <p:cNvSpPr/>
          <p:nvPr/>
        </p:nvSpPr>
        <p:spPr>
          <a:xfrm>
            <a:off x="1194435" y="47828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界面剥离：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遵循“由浅入深”原则，沿胶质界膜分离，配合低功率双极电凝，避免热损伤。</a:t>
            </a:r>
            <a:endParaRPr lang="en-US" sz="1100"/>
          </a:p>
        </p:txBody>
      </p:sp>
      <p:sp>
        <p:nvSpPr>
          <p:cNvPr id="573" name="AutoShape 14"/>
          <p:cNvSpPr/>
          <p:nvPr/>
        </p:nvSpPr>
        <p:spPr>
          <a:xfrm>
            <a:off x="6147435" y="1328420"/>
            <a:ext cx="5207000" cy="457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74" name="AutoShape 15"/>
          <p:cNvSpPr/>
          <p:nvPr/>
        </p:nvSpPr>
        <p:spPr>
          <a:xfrm>
            <a:off x="6337935" y="151892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围手术期管理：全流程安全保障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75" name="Picture 16"/>
          <p:cNvPicPr>
            <a:picLocks noChangeAspect="1"/>
          </p:cNvPicPr>
          <p:nvPr/>
        </p:nvPicPr>
        <p:blipFill>
          <a:blip r:embed="rId8"/>
          <a:srcRect l="11696" r="11696"/>
          <a:stretch>
            <a:fillRect/>
          </a:stretch>
        </p:blipFill>
        <p:spPr>
          <a:xfrm>
            <a:off x="6337935" y="2090420"/>
            <a:ext cx="2286000" cy="1778000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</p:pic>
      <p:sp>
        <p:nvSpPr>
          <p:cNvPr id="576" name="AutoShape 17"/>
          <p:cNvSpPr/>
          <p:nvPr/>
        </p:nvSpPr>
        <p:spPr>
          <a:xfrm>
            <a:off x="8750935" y="2090420"/>
            <a:ext cx="2476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建立标准化术后监护体系，多学科协作（神经外科、ICU、康复科）确保患者平稳度过急性期。</a:t>
            </a:r>
            <a:endParaRPr lang="en-US" sz="1100"/>
          </a:p>
        </p:txBody>
      </p:sp>
      <p:pic>
        <p:nvPicPr>
          <p:cNvPr id="577" name="Picture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7935" y="4224020"/>
            <a:ext cx="228600" cy="228600"/>
          </a:xfrm>
          <a:prstGeom prst="rect">
            <a:avLst/>
          </a:prstGeom>
        </p:spPr>
      </p:pic>
      <p:sp>
        <p:nvSpPr>
          <p:cNvPr id="578" name="AutoShape 20"/>
          <p:cNvSpPr/>
          <p:nvPr/>
        </p:nvSpPr>
        <p:spPr>
          <a:xfrm>
            <a:off x="6655435" y="41859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ICU 强化监护：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实时监测生命体征、血氧饱和度及神经功能，动态评估呼吸循环，及时处置异常。</a:t>
            </a:r>
            <a:endParaRPr lang="en-US" sz="1100"/>
          </a:p>
        </p:txBody>
      </p:sp>
      <p:pic>
        <p:nvPicPr>
          <p:cNvPr id="579" name="Picture 21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37935" y="4820920"/>
            <a:ext cx="228600" cy="228600"/>
          </a:xfrm>
          <a:prstGeom prst="rect">
            <a:avLst/>
          </a:prstGeom>
        </p:spPr>
      </p:pic>
      <p:sp>
        <p:nvSpPr>
          <p:cNvPr id="580" name="AutoShape 22"/>
          <p:cNvSpPr/>
          <p:nvPr/>
        </p:nvSpPr>
        <p:spPr>
          <a:xfrm>
            <a:off x="6655435" y="47828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并发症防控：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重点预防呼吸障碍、神经功能缺损及感染，早期介入康复训练，降低长期致残率。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治疗结果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579120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1" name="AutoShape 21"/>
          <p:cNvSpPr/>
          <p:nvPr/>
        </p:nvSpPr>
        <p:spPr>
          <a:xfrm>
            <a:off x="579120" y="3652520"/>
            <a:ext cx="546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Noto Sans SC"/>
                <a:ea typeface="Noto Sans SC"/>
                <a:cs typeface="Noto Sans SC"/>
                <a:sym typeface="Noto Sans SC"/>
              </a:rPr>
              <a:t>术后神经功能</a:t>
            </a:r>
            <a:r>
              <a:rPr lang="zh-CN" altLang="en-US" sz="1800" b="1" i="0" u="none" strike="noStrike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Noto Sans SC"/>
                <a:ea typeface="Noto Sans SC"/>
                <a:cs typeface="Noto Sans SC"/>
                <a:sym typeface="Noto Sans SC"/>
              </a:rPr>
              <a:t>随访</a:t>
            </a:r>
            <a:endParaRPr lang="en-US" sz="110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3个月进行McCormick分级随访，结果显示：7例患者神经功能分级较术前改善Ⅰ~Ⅱ级，肢体运动、感觉及括约肌功能均有明显恢复，日常生活能力（ADL）评分显著提高。无患者出现严重的新发神经功能缺损，即便2例次全切的高度恶性肿瘤患者，其神经功能也保持稳定，未出现恶化趋势，为后续的综合治疗奠定了良好的神经功能基础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525" y="1589405"/>
            <a:ext cx="355600" cy="355600"/>
          </a:xfrm>
          <a:prstGeom prst="rect">
            <a:avLst/>
          </a:prstGeom>
        </p:spPr>
      </p:pic>
      <p:sp>
        <p:nvSpPr>
          <p:cNvPr id="13" name="AutoShape 8"/>
          <p:cNvSpPr/>
          <p:nvPr/>
        </p:nvSpPr>
        <p:spPr>
          <a:xfrm>
            <a:off x="12033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手术成功率 100%</a:t>
            </a:r>
            <a:endParaRPr lang="en-US" sz="1100"/>
          </a:p>
        </p:txBody>
      </p:sp>
      <p:sp>
        <p:nvSpPr>
          <p:cNvPr id="14" name="AutoShape 9"/>
          <p:cNvSpPr/>
          <p:nvPr/>
        </p:nvSpPr>
        <p:spPr>
          <a:xfrm>
            <a:off x="7715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9例患者均成功完成手术，无术中死亡病例，围手术期各项生命体征平稳，无严重并发症发生。</a:t>
            </a:r>
            <a:endParaRPr lang="en-US" sz="1100"/>
          </a:p>
        </p:txBody>
      </p:sp>
      <p:sp>
        <p:nvSpPr>
          <p:cNvPr id="15" name="AutoShape 10"/>
          <p:cNvSpPr/>
          <p:nvPr/>
        </p:nvSpPr>
        <p:spPr>
          <a:xfrm>
            <a:off x="4213225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16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6425" y="1589405"/>
            <a:ext cx="355600" cy="355600"/>
          </a:xfrm>
          <a:prstGeom prst="rect">
            <a:avLst/>
          </a:prstGeom>
        </p:spPr>
      </p:pic>
      <p:sp>
        <p:nvSpPr>
          <p:cNvPr id="17" name="AutoShape 13"/>
          <p:cNvSpPr/>
          <p:nvPr/>
        </p:nvSpPr>
        <p:spPr>
          <a:xfrm>
            <a:off x="48482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肿瘤全切率 77.8%</a:t>
            </a:r>
            <a:endParaRPr lang="en-US" sz="1100"/>
          </a:p>
        </p:txBody>
      </p:sp>
      <p:sp>
        <p:nvSpPr>
          <p:cNvPr id="18" name="AutoShape 14"/>
          <p:cNvSpPr/>
          <p:nvPr/>
        </p:nvSpPr>
        <p:spPr>
          <a:xfrm>
            <a:off x="44164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7例实现肿瘤全切，2例次全切（均为高度恶性肿瘤，为保留神经功能完整性，术中保留了安全边界）。</a:t>
            </a:r>
            <a:endParaRPr lang="en-US" sz="1100"/>
          </a:p>
        </p:txBody>
      </p:sp>
      <p:sp>
        <p:nvSpPr>
          <p:cNvPr id="19" name="AutoShape 15"/>
          <p:cNvSpPr/>
          <p:nvPr/>
        </p:nvSpPr>
        <p:spPr>
          <a:xfrm>
            <a:off x="7858125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0" name="AutoShape 18"/>
          <p:cNvSpPr/>
          <p:nvPr/>
        </p:nvSpPr>
        <p:spPr>
          <a:xfrm>
            <a:off x="84931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神经功能显著改善</a:t>
            </a:r>
            <a:endParaRPr lang="en-US" sz="1100"/>
          </a:p>
        </p:txBody>
      </p:sp>
      <p:sp>
        <p:nvSpPr>
          <p:cNvPr id="21" name="AutoShape 19"/>
          <p:cNvSpPr/>
          <p:nvPr/>
        </p:nvSpPr>
        <p:spPr>
          <a:xfrm>
            <a:off x="80613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7例患者术后神经功能分级较术前改善Ⅰ~Ⅱ级，肌力、感觉及括约肌功能均有恢复，生活自理。</a:t>
            </a:r>
            <a:endParaRPr lang="en-US" sz="1100"/>
          </a:p>
        </p:txBody>
      </p:sp>
      <p:pic>
        <p:nvPicPr>
          <p:cNvPr id="22" name="Picture 1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1325" y="1614805"/>
            <a:ext cx="355600" cy="355600"/>
          </a:xfrm>
          <a:prstGeom prst="rect">
            <a:avLst/>
          </a:prstGeom>
        </p:spPr>
      </p:pic>
      <p:sp>
        <p:nvSpPr>
          <p:cNvPr id="23" name="AutoShape 5"/>
          <p:cNvSpPr/>
          <p:nvPr/>
        </p:nvSpPr>
        <p:spPr>
          <a:xfrm>
            <a:off x="579120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4" name="AutoShape 10"/>
          <p:cNvSpPr/>
          <p:nvPr/>
        </p:nvSpPr>
        <p:spPr>
          <a:xfrm>
            <a:off x="4213225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5" name="AutoShape 15"/>
          <p:cNvSpPr/>
          <p:nvPr/>
        </p:nvSpPr>
        <p:spPr>
          <a:xfrm>
            <a:off x="7858125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治疗结果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" name="AutoShape 5"/>
          <p:cNvSpPr/>
          <p:nvPr/>
        </p:nvSpPr>
        <p:spPr>
          <a:xfrm>
            <a:off x="719455" y="1588770"/>
            <a:ext cx="5207000" cy="3937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5" name="Picture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455" y="1842770"/>
            <a:ext cx="304800" cy="304800"/>
          </a:xfrm>
          <a:prstGeom prst="rect">
            <a:avLst/>
          </a:prstGeom>
        </p:spPr>
      </p:pic>
      <p:sp>
        <p:nvSpPr>
          <p:cNvPr id="36" name="AutoShape 7"/>
          <p:cNvSpPr/>
          <p:nvPr/>
        </p:nvSpPr>
        <p:spPr>
          <a:xfrm>
            <a:off x="1417955" y="181737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术后并发症观察</a:t>
            </a:r>
            <a:endParaRPr lang="en-US" sz="1100"/>
          </a:p>
        </p:txBody>
      </p:sp>
      <p:cxnSp>
        <p:nvCxnSpPr>
          <p:cNvPr id="37" name="Connector 8"/>
          <p:cNvCxnSpPr/>
          <p:nvPr/>
        </p:nvCxnSpPr>
        <p:spPr>
          <a:xfrm rot="-9291">
            <a:off x="973464" y="234442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noFill/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9"/>
          <p:cNvSpPr/>
          <p:nvPr/>
        </p:nvSpPr>
        <p:spPr>
          <a:xfrm>
            <a:off x="973455" y="254127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01. 2例高度恶性肿瘤的特殊干预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针对2例高度恶性肿瘤患者，术后因呼吸困难接受了气管切开术以维持呼吸通畅，这是针对该类复杂病例的必要术后支持手段。</a:t>
            </a:r>
            <a:endParaRPr lang="en-US" sz="1100"/>
          </a:p>
        </p:txBody>
      </p:sp>
      <p:sp>
        <p:nvSpPr>
          <p:cNvPr id="39" name="AutoShape 10"/>
          <p:cNvSpPr/>
          <p:nvPr/>
        </p:nvSpPr>
        <p:spPr>
          <a:xfrm>
            <a:off x="973455" y="406527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02. 总体并发症控制良好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除上述特殊病例外，其余患者术后均未出现颅内感染、大出血、重要神经功能永久性损伤等严重手术相关并发症，恢复过程平稳可控。</a:t>
            </a:r>
            <a:endParaRPr lang="en-US" sz="1100"/>
          </a:p>
        </p:txBody>
      </p:sp>
      <p:sp>
        <p:nvSpPr>
          <p:cNvPr id="40" name="AutoShape 11"/>
          <p:cNvSpPr/>
          <p:nvPr/>
        </p:nvSpPr>
        <p:spPr>
          <a:xfrm>
            <a:off x="6180455" y="1588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4455" y="1817370"/>
            <a:ext cx="279400" cy="279400"/>
          </a:xfrm>
          <a:prstGeom prst="rect">
            <a:avLst/>
          </a:prstGeom>
        </p:spPr>
      </p:pic>
      <p:sp>
        <p:nvSpPr>
          <p:cNvPr id="42" name="AutoShape 13"/>
          <p:cNvSpPr/>
          <p:nvPr/>
        </p:nvSpPr>
        <p:spPr>
          <a:xfrm>
            <a:off x="6840855" y="1791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随访周期：6个月 — 24个月</a:t>
            </a:r>
            <a:endParaRPr lang="en-US" sz="1100"/>
          </a:p>
        </p:txBody>
      </p:sp>
      <p:sp>
        <p:nvSpPr>
          <p:cNvPr id="43" name="AutoShape 14"/>
          <p:cNvSpPr/>
          <p:nvPr/>
        </p:nvSpPr>
        <p:spPr>
          <a:xfrm>
            <a:off x="6434455" y="2287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涵盖术后短期恢复与中期疗效评估，所有患者均完成完整随访，无失访情况，数据真实反映了术后长期的临床转归。</a:t>
            </a:r>
            <a:endParaRPr lang="en-US" sz="1100"/>
          </a:p>
        </p:txBody>
      </p:sp>
      <p:sp>
        <p:nvSpPr>
          <p:cNvPr id="44" name="AutoShape 15"/>
          <p:cNvSpPr/>
          <p:nvPr/>
        </p:nvSpPr>
        <p:spPr>
          <a:xfrm>
            <a:off x="6180455" y="2985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5" name="Picture 1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4455" y="3214370"/>
            <a:ext cx="279400" cy="279400"/>
          </a:xfrm>
          <a:prstGeom prst="rect">
            <a:avLst/>
          </a:prstGeom>
        </p:spPr>
      </p:pic>
      <p:sp>
        <p:nvSpPr>
          <p:cNvPr id="46" name="AutoShape 17"/>
          <p:cNvSpPr/>
          <p:nvPr/>
        </p:nvSpPr>
        <p:spPr>
          <a:xfrm>
            <a:off x="6840855" y="3188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肿瘤全切组：0 复发率</a:t>
            </a:r>
            <a:endParaRPr lang="en-US" sz="1100"/>
          </a:p>
        </p:txBody>
      </p:sp>
      <p:sp>
        <p:nvSpPr>
          <p:cNvPr id="47" name="AutoShape 18"/>
          <p:cNvSpPr/>
          <p:nvPr/>
        </p:nvSpPr>
        <p:spPr>
          <a:xfrm>
            <a:off x="6434455" y="3684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7例实现肿瘤肉眼全切的患者，术后影像学复查（增强MRI/CT）均未发现肿瘤残余或复发迹象，病灶局部控制效果显著。</a:t>
            </a:r>
            <a:endParaRPr lang="en-US" sz="1100"/>
          </a:p>
        </p:txBody>
      </p:sp>
      <p:sp>
        <p:nvSpPr>
          <p:cNvPr id="48" name="AutoShape 19"/>
          <p:cNvSpPr/>
          <p:nvPr/>
        </p:nvSpPr>
        <p:spPr>
          <a:xfrm>
            <a:off x="6180455" y="4382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9" name="Picture 2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4455" y="4611370"/>
            <a:ext cx="279400" cy="279400"/>
          </a:xfrm>
          <a:prstGeom prst="rect">
            <a:avLst/>
          </a:prstGeom>
        </p:spPr>
      </p:pic>
      <p:sp>
        <p:nvSpPr>
          <p:cNvPr id="50" name="AutoShape 21"/>
          <p:cNvSpPr/>
          <p:nvPr/>
        </p:nvSpPr>
        <p:spPr>
          <a:xfrm>
            <a:off x="6840855" y="4585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核心发现：恶性程度决定预后</a:t>
            </a:r>
            <a:endParaRPr lang="en-US" sz="1100"/>
          </a:p>
        </p:txBody>
      </p:sp>
      <p:sp>
        <p:nvSpPr>
          <p:cNvPr id="51" name="AutoShape 22"/>
          <p:cNvSpPr/>
          <p:nvPr/>
        </p:nvSpPr>
        <p:spPr>
          <a:xfrm>
            <a:off x="6434455" y="5081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2例次全切患者均为胶质母细胞瘤、精原细胞瘤等高度恶性肿瘤，预后较差（1例截瘫，1例死亡），有力证实了肿瘤的病理恶性程度是影响患者预后的决定性因素。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9" name="标题 1"/>
          <p:cNvSpPr txBox="1"/>
          <p:nvPr/>
        </p:nvSpPr>
        <p:spPr bwMode="auto">
          <a:xfrm>
            <a:off x="308466" y="22467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0" name="textbox 86"/>
          <p:cNvSpPr/>
          <p:nvPr/>
        </p:nvSpPr>
        <p:spPr>
          <a:xfrm>
            <a:off x="838403" y="1267726"/>
            <a:ext cx="10515600" cy="4614545"/>
          </a:xfrm>
          <a:prstGeom prst="rect">
            <a:avLst/>
          </a:prstGeom>
          <a:solidFill>
            <a:srgbClr val="FFFFFF">
              <a:alpha val="8509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张某霞 女 38岁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“左上肢麻木伴乏力一年余，加重半年”入院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en-US" altLang="zh-CN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阳性体征：左上肢浅感觉减退，左上肢近端肌力4级远端肌力3</a:t>
            </a:r>
            <a:r>
              <a:rPr lang="en-US" altLang="zh-CN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级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2018.3.17北京天坛医院颈椎MR平扫+增强提示：颈2段脊髓内占位性病变（伴延髓至胸段脊髓空洞），血管网织细胞瘤可能性大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6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6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6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6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6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术前CTA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9" name="textbox 94"/>
          <p:cNvSpPr/>
          <p:nvPr/>
        </p:nvSpPr>
        <p:spPr>
          <a:xfrm rot="21600000">
            <a:off x="675640" y="1886585"/>
            <a:ext cx="9790430" cy="2773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43535" indent="168910" algn="l" rtl="0" eaLnBrk="0">
              <a:lnSpc>
                <a:spcPct val="140000"/>
              </a:lnSpc>
              <a:spcBef>
                <a:spcPts val="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indent="168910" algn="l" rtl="0" eaLnBrk="0">
              <a:lnSpc>
                <a:spcPct val="14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颈2椎管水平见一大小约24.0mm×12.9mm明显强化软组织肿块，其后、上缘见迂曲增粗血管影 , 肿块由双侧脊髓后动脉供血；余颅内动脉无狭窄及扩张改变，管壁未见明显异常密度影。颈2椎管水平肿块由双侧脊髓后动脉供血。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72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73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74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5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6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77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术前CTA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8" name="picture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9580" y="1029970"/>
            <a:ext cx="10570210" cy="52965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8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8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8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8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7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83285" y="1377315"/>
            <a:ext cx="9893300" cy="4817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9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9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9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9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9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二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7" name="textbox 162"/>
          <p:cNvSpPr/>
          <p:nvPr/>
        </p:nvSpPr>
        <p:spPr>
          <a:xfrm>
            <a:off x="838200" y="1825625"/>
            <a:ext cx="10823575" cy="3620135"/>
          </a:xfrm>
          <a:prstGeom prst="rect">
            <a:avLst/>
          </a:prstGeom>
          <a:solidFill>
            <a:srgbClr val="FFFFFF">
              <a:alpha val="8274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1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患者周某 女 48岁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15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因“左上肢麻木半年余，加重伴右上肢麻木半月余”入院。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35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2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阳性体征：双上肢感觉减退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4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2018.6.2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外院颈髓MRI提示:颈髓占位性病变，颈椎</a:t>
            </a:r>
            <a:r>
              <a:rPr lang="zh-CN" altLang="en-US" sz="2800" b="1" spc="0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退行性变，颈2/3、4/5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椎间盘突出。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0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0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0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0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0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06" name="Picture 2" descr="G:\123\周芹1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0210" y="1203325"/>
            <a:ext cx="417195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7" name="Picture 2" descr="G:\123\周芹5.bmp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5934825" y="1196975"/>
            <a:ext cx="4040187" cy="4883150"/>
          </a:xfr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1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1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1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1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 descr="捕获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25" y="1412875"/>
            <a:ext cx="9958705" cy="4839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2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2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2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2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2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2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CT</a:t>
            </a:r>
            <a:endParaRPr lang="en-US" altLang="zh-CN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26" name="picture 1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69000" y="1484757"/>
            <a:ext cx="4690871" cy="4841748"/>
          </a:xfrm>
          <a:prstGeom prst="rect">
            <a:avLst/>
          </a:prstGeom>
        </p:spPr>
      </p:pic>
      <p:pic>
        <p:nvPicPr>
          <p:cNvPr id="127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2199" y="1489329"/>
            <a:ext cx="4468367" cy="4837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4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4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4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4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4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46" name="picture 1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479422"/>
            <a:ext cx="12192000" cy="43754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5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5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5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5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54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三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5" name="textbox 352"/>
          <p:cNvSpPr/>
          <p:nvPr/>
        </p:nvSpPr>
        <p:spPr>
          <a:xfrm>
            <a:off x="838200" y="1825752"/>
            <a:ext cx="10529569" cy="3040379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2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2395" algn="l" rtl="0" eaLnBrk="0">
              <a:lnSpc>
                <a:spcPct val="146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患者赵某 女  26岁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  <a:spcBef>
                <a:spcPts val="4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因“突发颈部疼痛2月加重20天余”入院。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  <a:spcBef>
                <a:spcPts val="35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1310" indent="-208915" algn="l" rtl="0" eaLnBrk="0">
              <a:lnSpc>
                <a:spcPct val="146000"/>
              </a:lnSpc>
              <a:spcBef>
                <a:spcPts val="6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阳性体征：左侧远端肌力Ⅴ级，近端肌力Ⅲ级，下肢肌力Ⅴ级。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咸宁市中医院MRI平扫：颈2-3椎管内占位性病变。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内容占位符 3" descr="捕获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11220" y="1129665"/>
            <a:ext cx="5228590" cy="5076190"/>
          </a:xfrm>
          <a:prstGeom prst="rect">
            <a:avLst/>
          </a:prstGeom>
        </p:spPr>
      </p:pic>
      <p:sp>
        <p:nvSpPr>
          <p:cNvPr id="158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5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61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6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6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64" name="图形 2" descr="大脑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6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6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7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7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7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7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病情变化</a:t>
            </a:r>
            <a:endParaRPr lang="zh-CN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4" name="textbox 366"/>
          <p:cNvSpPr/>
          <p:nvPr/>
        </p:nvSpPr>
        <p:spPr>
          <a:xfrm>
            <a:off x="838200" y="1825625"/>
            <a:ext cx="10755630" cy="2724150"/>
          </a:xfrm>
          <a:prstGeom prst="rect">
            <a:avLst/>
          </a:prstGeom>
          <a:solidFill>
            <a:srgbClr val="FFFFFF">
              <a:alpha val="8117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22580" indent="-207010" algn="l" rtl="0" eaLnBrk="0">
              <a:lnSpc>
                <a:spcPct val="163000"/>
              </a:lnSpc>
              <a:spcBef>
                <a:spcPts val="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2580" indent="-207010" algn="l" rtl="0" eaLnBrk="0">
              <a:lnSpc>
                <a:spcPct val="163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患者入院后肌力障碍逐渐加重，一周后右侧C2水平以下浅感觉减退，温度觉减退，左上肢肌力0级，左下肢肌力Ⅲ级，双下肢病理征阳性，并出现呼吸障碍，遂行急诊手术。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内容占位符 3" descr="捕获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49015" y="1053465"/>
            <a:ext cx="5266690" cy="5137150"/>
          </a:xfrm>
          <a:prstGeom prst="rect">
            <a:avLst/>
          </a:prstGeom>
        </p:spPr>
      </p:pic>
      <p:sp>
        <p:nvSpPr>
          <p:cNvPr id="177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7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7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80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8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8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83" name="图形 2" descr="大脑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8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8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8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8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9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9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92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四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3" name="textbox 352"/>
          <p:cNvSpPr/>
          <p:nvPr/>
        </p:nvSpPr>
        <p:spPr>
          <a:xfrm>
            <a:off x="838200" y="1825625"/>
            <a:ext cx="10529570" cy="3681095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2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患者，女性，19岁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左侧肢体麻木两月余入院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头颈部MR显示：颅颈交界处海绵状血管瘤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9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9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9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9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0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0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02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03" name="内容占位符 3" descr="屏幕截图 2025-08-05 095814"/>
          <p:cNvPicPr/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4975" y="1906270"/>
            <a:ext cx="4104005" cy="3302635"/>
          </a:xfrm>
          <a:prstGeom prst="rect">
            <a:avLst/>
          </a:prstGeom>
        </p:spPr>
      </p:pic>
      <p:pic>
        <p:nvPicPr>
          <p:cNvPr id="204" name="内容占位符 3" descr="屏幕截图 2025-08-05 095327"/>
          <p:cNvPicPr/>
          <p:nvPr/>
        </p:nvPicPr>
        <p:blipFill>
          <a:blip r:embed="rId4"/>
          <a:stretch>
            <a:fillRect/>
          </a:stretch>
        </p:blipFill>
        <p:spPr>
          <a:xfrm>
            <a:off x="6506210" y="1906270"/>
            <a:ext cx="4104005" cy="33026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0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0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1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1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1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1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手术体位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14" name="内容占位符 3" descr="微信图片_20250804110106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5970" y="1397000"/>
            <a:ext cx="7710805" cy="46780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2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2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2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3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3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3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3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34" name="内容占位符 3" descr="屏幕截图 2025-08-05 104515 (1)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31135" y="1189990"/>
            <a:ext cx="6120130" cy="49549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5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5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5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5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5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59" name="标题 1"/>
          <p:cNvSpPr txBox="1"/>
          <p:nvPr/>
        </p:nvSpPr>
        <p:spPr bwMode="auto">
          <a:xfrm>
            <a:off x="425941" y="18911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病理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60" name="内容占位符 3" descr="微信图片_20250804110115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75760" y="1189990"/>
            <a:ext cx="3840480" cy="513715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6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6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6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6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6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68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五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69" name="textbox 352"/>
          <p:cNvSpPr/>
          <p:nvPr/>
        </p:nvSpPr>
        <p:spPr>
          <a:xfrm>
            <a:off x="838200" y="1825752"/>
            <a:ext cx="10529569" cy="3040379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112395" algn="l" rtl="0" eaLnBrk="0">
              <a:lnSpc>
                <a:spcPct val="146000"/>
              </a:lnSpc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患者吕某 男  42岁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因“肩颈部僵硬伴随双上肢麻木6月余”入院。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2026.3.26行颈椎前路椎间盘切除术+植骨融合术。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同济医院MRI平扫：颈椎前路术后，颈髓内占位性病变。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7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7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7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7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7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7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7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79" name="图片 3" descr="屏幕截图 2026-08-10 151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45" y="1397635"/>
            <a:ext cx="3600000" cy="4320000"/>
          </a:xfrm>
          <a:prstGeom prst="rect">
            <a:avLst/>
          </a:prstGeom>
        </p:spPr>
      </p:pic>
      <p:pic>
        <p:nvPicPr>
          <p:cNvPr id="280" name="图片 5" descr="屏幕截图 2026-08-10 151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505" y="1397635"/>
            <a:ext cx="3599815" cy="4320000"/>
          </a:xfrm>
          <a:prstGeom prst="rect">
            <a:avLst/>
          </a:prstGeom>
        </p:spPr>
      </p:pic>
      <p:pic>
        <p:nvPicPr>
          <p:cNvPr id="281" name="图片 10" descr="屏幕截图 2026-08-10 1509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3580" y="1397635"/>
            <a:ext cx="3599815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8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8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8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8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8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90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手术体位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91" name="图片 4" descr="8477214e6f953673e972a0520efe47f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70" y="1179830"/>
            <a:ext cx="9147175" cy="49752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9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9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9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9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9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00" name="标题 1"/>
          <p:cNvSpPr txBox="1"/>
          <p:nvPr/>
        </p:nvSpPr>
        <p:spPr bwMode="auto">
          <a:xfrm>
            <a:off x="308466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01" name="图片 15" descr="b7f77941224fc9f077ae257e25d6e4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860" y="995045"/>
            <a:ext cx="432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31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1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1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1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1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1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20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21" name="图片 3" descr="屏幕截图 2026-08-10 1514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1536065"/>
            <a:ext cx="3600000" cy="4320000"/>
          </a:xfrm>
          <a:prstGeom prst="rect">
            <a:avLst/>
          </a:prstGeom>
        </p:spPr>
      </p:pic>
      <p:pic>
        <p:nvPicPr>
          <p:cNvPr id="322" name="图片 5" descr="屏幕截图 2026-08-10 1515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960" y="1507490"/>
            <a:ext cx="3599815" cy="4320000"/>
          </a:xfrm>
          <a:prstGeom prst="rect">
            <a:avLst/>
          </a:prstGeom>
        </p:spPr>
      </p:pic>
      <p:pic>
        <p:nvPicPr>
          <p:cNvPr id="323" name="图片 4" descr="屏幕截图 2026-08-10 151232"/>
          <p:cNvPicPr/>
          <p:nvPr/>
        </p:nvPicPr>
        <p:blipFill>
          <a:blip r:embed="rId5"/>
          <a:stretch>
            <a:fillRect/>
          </a:stretch>
        </p:blipFill>
        <p:spPr>
          <a:xfrm>
            <a:off x="8502835" y="1536065"/>
            <a:ext cx="3599815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32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2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2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2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3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3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32" name="标题 1"/>
          <p:cNvSpPr txBox="1"/>
          <p:nvPr/>
        </p:nvSpPr>
        <p:spPr bwMode="auto">
          <a:xfrm>
            <a:off x="425941" y="18911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病理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33" name="图片 4" descr="屏幕截图 2026-08-10 1518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145" y="1042035"/>
            <a:ext cx="4319905" cy="528447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36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37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38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39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40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41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2" name="AutoShape 5"/>
          <p:cNvSpPr/>
          <p:nvPr/>
        </p:nvSpPr>
        <p:spPr>
          <a:xfrm>
            <a:off x="5791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" y="1822450"/>
            <a:ext cx="457200" cy="457200"/>
          </a:xfrm>
          <a:prstGeom prst="rect">
            <a:avLst/>
          </a:prstGeom>
        </p:spPr>
      </p:pic>
      <p:sp>
        <p:nvSpPr>
          <p:cNvPr id="344" name="AutoShape 7"/>
          <p:cNvSpPr/>
          <p:nvPr/>
        </p:nvSpPr>
        <p:spPr>
          <a:xfrm>
            <a:off x="14173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解剖风险极高</a:t>
            </a:r>
            <a:endParaRPr lang="en-US" sz="1100"/>
          </a:p>
        </p:txBody>
      </p:sp>
      <p:cxnSp>
        <p:nvCxnSpPr>
          <p:cNvPr id="345" name="Connector 8"/>
          <p:cNvCxnSpPr/>
          <p:nvPr/>
        </p:nvCxnSpPr>
        <p:spPr>
          <a:xfrm rot="-15211">
            <a:off x="8331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6" name="AutoShape 9"/>
          <p:cNvSpPr/>
          <p:nvPr/>
        </p:nvSpPr>
        <p:spPr>
          <a:xfrm>
            <a:off x="833120" y="264795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脊髓纤细脆弱，紧邻延髓等生命中枢，是呼吸、心跳等基本生命活动的调控枢纽。该区域手术操作空间狭小，任何细微的器械触碰或牵拉，都可能引发呼吸骤停、心跳紊乱等致命风险，手术操作的容错率极低。</a:t>
            </a:r>
            <a:endParaRPr lang="en-US" sz="1100"/>
          </a:p>
        </p:txBody>
      </p:sp>
      <p:sp>
        <p:nvSpPr>
          <p:cNvPr id="347" name="AutoShape 10"/>
          <p:cNvSpPr/>
          <p:nvPr/>
        </p:nvSpPr>
        <p:spPr>
          <a:xfrm>
            <a:off x="42240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8" name="Picture 1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8020" y="1822450"/>
            <a:ext cx="457200" cy="457200"/>
          </a:xfrm>
          <a:prstGeom prst="rect">
            <a:avLst/>
          </a:prstGeom>
        </p:spPr>
      </p:pic>
      <p:sp>
        <p:nvSpPr>
          <p:cNvPr id="349" name="AutoShape 12"/>
          <p:cNvSpPr/>
          <p:nvPr/>
        </p:nvSpPr>
        <p:spPr>
          <a:xfrm>
            <a:off x="50622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手术边界难判定</a:t>
            </a:r>
            <a:endParaRPr lang="en-US" sz="1100"/>
          </a:p>
        </p:txBody>
      </p:sp>
      <p:cxnSp>
        <p:nvCxnSpPr>
          <p:cNvPr id="350" name="Connector 13"/>
          <p:cNvCxnSpPr/>
          <p:nvPr/>
        </p:nvCxnSpPr>
        <p:spPr>
          <a:xfrm rot="-15211">
            <a:off x="44780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1" name="AutoShape 15"/>
          <p:cNvSpPr/>
          <p:nvPr/>
        </p:nvSpPr>
        <p:spPr>
          <a:xfrm>
            <a:off x="78689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52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920" y="1822450"/>
            <a:ext cx="457200" cy="457200"/>
          </a:xfrm>
          <a:prstGeom prst="rect">
            <a:avLst/>
          </a:prstGeom>
        </p:spPr>
      </p:pic>
      <p:sp>
        <p:nvSpPr>
          <p:cNvPr id="353" name="AutoShape 17"/>
          <p:cNvSpPr/>
          <p:nvPr/>
        </p:nvSpPr>
        <p:spPr>
          <a:xfrm>
            <a:off x="87071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术后并发症多</a:t>
            </a:r>
            <a:endParaRPr lang="en-US" sz="1100"/>
          </a:p>
        </p:txBody>
      </p:sp>
      <p:cxnSp>
        <p:nvCxnSpPr>
          <p:cNvPr id="354" name="Connector 18"/>
          <p:cNvCxnSpPr/>
          <p:nvPr/>
        </p:nvCxnSpPr>
        <p:spPr>
          <a:xfrm rot="-15211">
            <a:off x="81229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AutoShape 19"/>
          <p:cNvSpPr/>
          <p:nvPr/>
        </p:nvSpPr>
        <p:spPr>
          <a:xfrm>
            <a:off x="8122920" y="264795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可能出现呼吸功能障碍、四肢瘫痪加重、脑脊液漏、脊柱失稳及肺部感染等多种并发症。这些并发症不仅会严重影响患者的术后恢复，甚至可能危及生命，对围手术期的监测、呼吸支持、神经功能保护及康复管理提出了极高的要求。</a:t>
            </a:r>
            <a:endParaRPr lang="en-US" sz="1100"/>
          </a:p>
        </p:txBody>
      </p:sp>
      <p:sp>
        <p:nvSpPr>
          <p:cNvPr id="356" name="AutoShape 20"/>
          <p:cNvSpPr/>
          <p:nvPr/>
        </p:nvSpPr>
        <p:spPr>
          <a:xfrm>
            <a:off x="579120" y="5124450"/>
            <a:ext cx="10668000" cy="7112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57" name="AutoShape 21"/>
          <p:cNvSpPr/>
          <p:nvPr/>
        </p:nvSpPr>
        <p:spPr>
          <a:xfrm>
            <a:off x="833120" y="523875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高颈段髓内肿瘤的诊疗是神经外科领域的难点，不仅需要精湛的显微外科技术，更依赖多学科团队的协同配合，以平衡肿瘤切除与神经功能保护。</a:t>
            </a:r>
            <a:endParaRPr lang="en-US" sz="1100"/>
          </a:p>
        </p:txBody>
      </p:sp>
      <p:sp>
        <p:nvSpPr>
          <p:cNvPr id="358" name="AutoShape 14"/>
          <p:cNvSpPr/>
          <p:nvPr/>
        </p:nvSpPr>
        <p:spPr>
          <a:xfrm>
            <a:off x="4478020" y="266827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对于星形细胞瘤等浸润性生长的肿瘤，其无明确包膜，与正常脊髓组织呈“犬牙交错”的浸润状态，边界肉眼难以精准辨识。过度追求全切极易损伤正常脊髓组织，导致永久性神经功能缺损；而保守切除则易残留肿瘤组织，为术后复发埋下隐患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"/>
        <p:cNvGrpSpPr/>
        <p:nvPr/>
      </p:nvGrpSpPr>
      <p:grpSpPr>
        <a:xfrm rot="0">
          <a:off x="-9223372036854775808" y="-9223372036854775808"/>
          <a:ext cx="0" cy="0"/>
          <a:chOff x="0" y="6361043"/>
          <a:chExt cx="10465904" cy="0"/>
        </a:xfrm>
      </p:grpSpPr>
      <p:cxnSp>
        <p:nvCxnSpPr>
          <p:cNvPr id="36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6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6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6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6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6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6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67" name="AutoShape 5"/>
          <p:cNvSpPr/>
          <p:nvPr/>
        </p:nvSpPr>
        <p:spPr>
          <a:xfrm>
            <a:off x="374650" y="127444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提升手术疗效的核心要素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68" name="AutoShape 6"/>
          <p:cNvSpPr/>
          <p:nvPr/>
        </p:nvSpPr>
        <p:spPr>
          <a:xfrm>
            <a:off x="374650" y="190944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结合临床实践与研究成果，精准评估、微创技术、术中监测与围术期管理构成了高颈段髓内肿瘤手术成功的关键闭环，四者环环相扣，共同构筑了治疗成功的坚实基础。</a:t>
            </a:r>
            <a:endParaRPr lang="en-US" sz="1100"/>
          </a:p>
        </p:txBody>
      </p:sp>
      <p:sp>
        <p:nvSpPr>
          <p:cNvPr id="369" name="AutoShape 7"/>
          <p:cNvSpPr/>
          <p:nvPr/>
        </p:nvSpPr>
        <p:spPr>
          <a:xfrm>
            <a:off x="374650" y="27349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70" name="AutoShape 8"/>
          <p:cNvSpPr/>
          <p:nvPr/>
        </p:nvSpPr>
        <p:spPr>
          <a:xfrm>
            <a:off x="374650" y="27349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71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2925445"/>
            <a:ext cx="406400" cy="406400"/>
          </a:xfrm>
          <a:prstGeom prst="rect">
            <a:avLst/>
          </a:prstGeom>
        </p:spPr>
      </p:pic>
      <p:sp>
        <p:nvSpPr>
          <p:cNvPr id="372" name="AutoShape 10"/>
          <p:cNvSpPr/>
          <p:nvPr/>
        </p:nvSpPr>
        <p:spPr>
          <a:xfrm>
            <a:off x="1238250" y="29254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精准的术前评估</a:t>
            </a:r>
            <a:endParaRPr lang="en-US" sz="1100"/>
          </a:p>
        </p:txBody>
      </p:sp>
      <p:sp>
        <p:nvSpPr>
          <p:cNvPr id="373" name="AutoShape 11"/>
          <p:cNvSpPr/>
          <p:nvPr/>
        </p:nvSpPr>
        <p:spPr>
          <a:xfrm>
            <a:off x="1238250" y="33318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手术成功的前提与基石，通过影像学精准定位与神经功能全面评估，制定个体化手术方案，从源头预判并规避潜在风险。</a:t>
            </a:r>
            <a:endParaRPr lang="en-US" sz="1100"/>
          </a:p>
        </p:txBody>
      </p:sp>
      <p:sp>
        <p:nvSpPr>
          <p:cNvPr id="374" name="AutoShape 12"/>
          <p:cNvSpPr/>
          <p:nvPr/>
        </p:nvSpPr>
        <p:spPr>
          <a:xfrm>
            <a:off x="5835650" y="27349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75" name="AutoShape 13"/>
          <p:cNvSpPr/>
          <p:nvPr/>
        </p:nvSpPr>
        <p:spPr>
          <a:xfrm>
            <a:off x="5835650" y="27349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76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450" y="2925445"/>
            <a:ext cx="406400" cy="406400"/>
          </a:xfrm>
          <a:prstGeom prst="rect">
            <a:avLst/>
          </a:prstGeom>
        </p:spPr>
      </p:pic>
      <p:sp>
        <p:nvSpPr>
          <p:cNvPr id="377" name="AutoShape 15"/>
          <p:cNvSpPr/>
          <p:nvPr/>
        </p:nvSpPr>
        <p:spPr>
          <a:xfrm>
            <a:off x="6699250" y="29254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微创的显微手术技术</a:t>
            </a:r>
            <a:endParaRPr lang="en-US" sz="1100"/>
          </a:p>
        </p:txBody>
      </p:sp>
      <p:sp>
        <p:nvSpPr>
          <p:cNvPr id="378" name="AutoShape 16"/>
          <p:cNvSpPr/>
          <p:nvPr/>
        </p:nvSpPr>
        <p:spPr>
          <a:xfrm>
            <a:off x="6699250" y="33318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以最小创伤换取最大疗效，借助神经显微镜实现毫米级精准操作，最大限度保护脊髓与神经根，维持脊柱的解剖与功能稳定性。</a:t>
            </a:r>
            <a:endParaRPr lang="en-US" sz="1100"/>
          </a:p>
        </p:txBody>
      </p:sp>
      <p:sp>
        <p:nvSpPr>
          <p:cNvPr id="379" name="AutoShape 17"/>
          <p:cNvSpPr/>
          <p:nvPr/>
        </p:nvSpPr>
        <p:spPr>
          <a:xfrm>
            <a:off x="374650" y="44494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80" name="AutoShape 18"/>
          <p:cNvSpPr/>
          <p:nvPr/>
        </p:nvSpPr>
        <p:spPr>
          <a:xfrm>
            <a:off x="374650" y="44494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81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4639945"/>
            <a:ext cx="406400" cy="406400"/>
          </a:xfrm>
          <a:prstGeom prst="rect">
            <a:avLst/>
          </a:prstGeom>
        </p:spPr>
      </p:pic>
      <p:sp>
        <p:nvSpPr>
          <p:cNvPr id="382" name="AutoShape 20"/>
          <p:cNvSpPr/>
          <p:nvPr/>
        </p:nvSpPr>
        <p:spPr>
          <a:xfrm>
            <a:off x="1238250" y="46399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多模态术中监测</a:t>
            </a:r>
            <a:endParaRPr lang="en-US" sz="1100"/>
          </a:p>
        </p:txBody>
      </p:sp>
      <p:sp>
        <p:nvSpPr>
          <p:cNvPr id="383" name="AutoShape 21"/>
          <p:cNvSpPr/>
          <p:nvPr/>
        </p:nvSpPr>
        <p:spPr>
          <a:xfrm>
            <a:off x="1238250" y="50463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手术安全的“保护神”，通过体感诱发电位等技术实现神经功能的实时预警，避免不可逆的神经损伤，是提升手术安全性的核心保障。</a:t>
            </a:r>
            <a:endParaRPr lang="en-US" sz="1100"/>
          </a:p>
        </p:txBody>
      </p:sp>
      <p:sp>
        <p:nvSpPr>
          <p:cNvPr id="384" name="AutoShape 22"/>
          <p:cNvSpPr/>
          <p:nvPr/>
        </p:nvSpPr>
        <p:spPr>
          <a:xfrm>
            <a:off x="5835650" y="44494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85" name="AutoShape 23"/>
          <p:cNvSpPr/>
          <p:nvPr/>
        </p:nvSpPr>
        <p:spPr>
          <a:xfrm>
            <a:off x="5835650" y="44494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86" name="Picture 2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0450" y="4639945"/>
            <a:ext cx="406400" cy="406400"/>
          </a:xfrm>
          <a:prstGeom prst="rect">
            <a:avLst/>
          </a:prstGeom>
        </p:spPr>
      </p:pic>
      <p:sp>
        <p:nvSpPr>
          <p:cNvPr id="387" name="AutoShape 25"/>
          <p:cNvSpPr/>
          <p:nvPr/>
        </p:nvSpPr>
        <p:spPr>
          <a:xfrm>
            <a:off x="6699250" y="46399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04 精细化围手术期管理</a:t>
            </a:r>
            <a:endParaRPr lang="en-US" sz="1100"/>
          </a:p>
        </p:txBody>
      </p:sp>
      <p:sp>
        <p:nvSpPr>
          <p:cNvPr id="388" name="AutoShape 26"/>
          <p:cNvSpPr/>
          <p:nvPr/>
        </p:nvSpPr>
        <p:spPr>
          <a:xfrm>
            <a:off x="6546850" y="51479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贯穿治疗全程的保障体系，涵盖术前调理、术中生命支持及术后康复指导，有效减少并发症，加速神经功能恢复与患者康复进程。</a:t>
            </a:r>
            <a:endParaRPr lang="en-US" sz="1100"/>
          </a:p>
        </p:txBody>
      </p:sp>
      <p:sp>
        <p:nvSpPr>
          <p:cNvPr id="389" name="AutoShape 8"/>
          <p:cNvSpPr/>
          <p:nvPr/>
        </p:nvSpPr>
        <p:spPr>
          <a:xfrm>
            <a:off x="374650" y="27349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29254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1" name="AutoShape 13"/>
          <p:cNvSpPr/>
          <p:nvPr/>
        </p:nvSpPr>
        <p:spPr>
          <a:xfrm>
            <a:off x="5835650" y="27349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2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450" y="29254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3" name="AutoShape 18"/>
          <p:cNvSpPr/>
          <p:nvPr/>
        </p:nvSpPr>
        <p:spPr>
          <a:xfrm>
            <a:off x="374650" y="44494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4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46399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5" name="AutoShape 23"/>
          <p:cNvSpPr/>
          <p:nvPr/>
        </p:nvSpPr>
        <p:spPr>
          <a:xfrm>
            <a:off x="5835650" y="44494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6" name="Picture 2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0450" y="4639945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1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2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2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2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2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2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25" name="AutoShape 5"/>
          <p:cNvSpPr/>
          <p:nvPr/>
        </p:nvSpPr>
        <p:spPr>
          <a:xfrm>
            <a:off x="579120" y="121158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治疗理念的思考与未来展望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26" name="AutoShape 6"/>
          <p:cNvSpPr/>
          <p:nvPr/>
        </p:nvSpPr>
        <p:spPr>
          <a:xfrm>
            <a:off x="579120" y="2100580"/>
            <a:ext cx="5207000" cy="330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2456180"/>
            <a:ext cx="406400" cy="406400"/>
          </a:xfrm>
          <a:prstGeom prst="rect">
            <a:avLst/>
          </a:prstGeom>
        </p:spPr>
      </p:pic>
      <p:sp>
        <p:nvSpPr>
          <p:cNvPr id="428" name="AutoShape 9"/>
          <p:cNvSpPr/>
          <p:nvPr/>
        </p:nvSpPr>
        <p:spPr>
          <a:xfrm>
            <a:off x="1391920" y="245618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功能优先，坚守治疗本质</a:t>
            </a:r>
            <a:endParaRPr lang="en-US" sz="1100"/>
          </a:p>
        </p:txBody>
      </p:sp>
      <p:sp>
        <p:nvSpPr>
          <p:cNvPr id="429" name="AutoShape 11"/>
          <p:cNvSpPr/>
          <p:nvPr/>
        </p:nvSpPr>
        <p:spPr>
          <a:xfrm>
            <a:off x="883920" y="324358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对于高颈段髓内肿瘤，尤其是浸润性生长的高度恶性肿瘤，需摒弃“全切至上”的执念。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核心是在</a:t>
            </a:r>
            <a:r>
              <a:rPr lang="en-US" sz="14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肿瘤切除与神经功能保护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之间寻找最佳平衡点，秉持“功能优先”理念，为患者量身定制个体化诊疗方案，最大化保留生活质量。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0" name="AutoShape 12"/>
          <p:cNvSpPr/>
          <p:nvPr/>
        </p:nvSpPr>
        <p:spPr>
          <a:xfrm>
            <a:off x="6040120" y="2100580"/>
            <a:ext cx="5207000" cy="330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31" name="Picture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4920" y="2456180"/>
            <a:ext cx="406400" cy="406400"/>
          </a:xfrm>
          <a:prstGeom prst="rect">
            <a:avLst/>
          </a:prstGeom>
        </p:spPr>
      </p:pic>
      <p:sp>
        <p:nvSpPr>
          <p:cNvPr id="432" name="AutoShape 15"/>
          <p:cNvSpPr/>
          <p:nvPr/>
        </p:nvSpPr>
        <p:spPr>
          <a:xfrm>
            <a:off x="6852920" y="245618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技术赋能，开启精准时代</a:t>
            </a:r>
            <a:endParaRPr lang="en-US" sz="1100"/>
          </a:p>
        </p:txBody>
      </p:sp>
      <p:sp>
        <p:nvSpPr>
          <p:cNvPr id="433" name="AutoShape 17"/>
          <p:cNvSpPr/>
          <p:nvPr/>
        </p:nvSpPr>
        <p:spPr>
          <a:xfrm>
            <a:off x="6344920" y="324358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随着</a:t>
            </a:r>
            <a:r>
              <a:rPr lang="en-US" sz="14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神经导航、术中荧光显影、机器人辅助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等前沿技术的迭代，将打破传统手术的视野与精度限制。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这些技术将进一步提升复杂髓内肿瘤的诊疗上限，实现更精准的病灶定位与更安全的手术操作，为患者带来更优的预后与康复希望。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4" name="AutoShape 18"/>
          <p:cNvSpPr/>
          <p:nvPr/>
        </p:nvSpPr>
        <p:spPr>
          <a:xfrm>
            <a:off x="579120" y="5656580"/>
            <a:ext cx="10668000" cy="508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35" name="AutoShape 19"/>
          <p:cNvSpPr/>
          <p:nvPr/>
        </p:nvSpPr>
        <p:spPr>
          <a:xfrm>
            <a:off x="706120" y="575818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D374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核心宗旨：在技术创新与人文关怀之间寻找平衡，让每一位患者获得最适合的诊疗方案。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3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3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4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4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4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结论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44" name="AutoShape 9"/>
          <p:cNvSpPr/>
          <p:nvPr/>
        </p:nvSpPr>
        <p:spPr>
          <a:xfrm>
            <a:off x="6125210" y="14224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5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210" y="1676400"/>
            <a:ext cx="406400" cy="406400"/>
          </a:xfrm>
          <a:prstGeom prst="rect">
            <a:avLst/>
          </a:prstGeom>
        </p:spPr>
      </p:pic>
      <p:sp>
        <p:nvSpPr>
          <p:cNvPr id="446" name="AutoShape 13"/>
          <p:cNvSpPr/>
          <p:nvPr/>
        </p:nvSpPr>
        <p:spPr>
          <a:xfrm>
            <a:off x="600710" y="37719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7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" y="4025900"/>
            <a:ext cx="406400" cy="406400"/>
          </a:xfrm>
          <a:prstGeom prst="rect">
            <a:avLst/>
          </a:prstGeom>
        </p:spPr>
      </p:pic>
      <p:sp>
        <p:nvSpPr>
          <p:cNvPr id="448" name="AutoShape 17"/>
          <p:cNvSpPr/>
          <p:nvPr/>
        </p:nvSpPr>
        <p:spPr>
          <a:xfrm>
            <a:off x="6125210" y="37719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9" name="Picture 1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9210" y="4025900"/>
            <a:ext cx="406400" cy="406400"/>
          </a:xfrm>
          <a:prstGeom prst="rect">
            <a:avLst/>
          </a:prstGeom>
        </p:spPr>
      </p:pic>
      <p:sp>
        <p:nvSpPr>
          <p:cNvPr id="450" name="AutoShape 19"/>
          <p:cNvSpPr/>
          <p:nvPr/>
        </p:nvSpPr>
        <p:spPr>
          <a:xfrm>
            <a:off x="6950710" y="4025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04 突破禁区，守护希望</a:t>
            </a:r>
            <a:endParaRPr lang="en-US" sz="1100"/>
          </a:p>
        </p:txBody>
      </p:sp>
      <p:sp>
        <p:nvSpPr>
          <p:cNvPr id="451" name="AutoShape 20"/>
          <p:cNvSpPr/>
          <p:nvPr/>
        </p:nvSpPr>
        <p:spPr>
          <a:xfrm>
            <a:off x="6379210" y="4597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尽管手术风险极高，但高颈段髓内肿瘤并非绝对的手术禁区。随着神经外科技术的革新与临床经验的积累，手术安全性与肿瘤全切率稳步提升，为更多患者带来了康复的希望。</a:t>
            </a:r>
            <a:endParaRPr lang="en-US" sz="1100"/>
          </a:p>
        </p:txBody>
      </p:sp>
      <p:sp>
        <p:nvSpPr>
          <p:cNvPr id="452" name="AutoShape 5"/>
          <p:cNvSpPr/>
          <p:nvPr/>
        </p:nvSpPr>
        <p:spPr>
          <a:xfrm>
            <a:off x="600710" y="14224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53" name="AutoShape 7"/>
          <p:cNvSpPr/>
          <p:nvPr/>
        </p:nvSpPr>
        <p:spPr>
          <a:xfrm>
            <a:off x="142621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有效治疗手段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54" name="AutoShape 8"/>
          <p:cNvSpPr/>
          <p:nvPr/>
        </p:nvSpPr>
        <p:spPr>
          <a:xfrm>
            <a:off x="854710" y="22479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显微外科手术是治疗高颈段脊髓髓内肿瘤的核心手段，能显著改善患者的神经功能缺损症状，有效提升术后生存质量与生活自理能力，是目前临床首选的治疗方式。</a:t>
            </a:r>
            <a:endParaRPr lang="en-US" sz="1100"/>
          </a:p>
        </p:txBody>
      </p:sp>
      <p:sp>
        <p:nvSpPr>
          <p:cNvPr id="455" name="AutoShape 11"/>
          <p:cNvSpPr/>
          <p:nvPr/>
        </p:nvSpPr>
        <p:spPr>
          <a:xfrm>
            <a:off x="695071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围术期多维保障</a:t>
            </a:r>
            <a:endParaRPr lang="en-US" sz="1100"/>
          </a:p>
        </p:txBody>
      </p:sp>
      <p:sp>
        <p:nvSpPr>
          <p:cNvPr id="456" name="AutoShape 12"/>
          <p:cNvSpPr/>
          <p:nvPr/>
        </p:nvSpPr>
        <p:spPr>
          <a:xfrm>
            <a:off x="6379210" y="22479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术前精准评估、术中精细化显微操作，配合体感诱发电位等多模态监测技术，可最大限度保护脊髓功能完整性，显著降低术后并发症，为良好预后奠定坚实基础。</a:t>
            </a:r>
            <a:endParaRPr lang="en-US" sz="1100"/>
          </a:p>
        </p:txBody>
      </p:sp>
      <p:sp>
        <p:nvSpPr>
          <p:cNvPr id="457" name="AutoShape 15"/>
          <p:cNvSpPr/>
          <p:nvPr/>
        </p:nvSpPr>
        <p:spPr>
          <a:xfrm>
            <a:off x="1426210" y="4025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03 预后核心影响因素</a:t>
            </a:r>
            <a:endParaRPr lang="en-US" sz="1800" b="1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8" name="AutoShape 16"/>
          <p:cNvSpPr/>
          <p:nvPr/>
        </p:nvSpPr>
        <p:spPr>
          <a:xfrm>
            <a:off x="854710" y="4597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肿瘤的病理恶性程度是决定患者长期预后的关键。针对高度恶性肿瘤，需采取更谨慎的手术策略，并结合术后放化疗、靶向治疗等综合方案，以延缓复发、改善生存。</a:t>
            </a:r>
            <a:endParaRPr lang="en-US" sz="1100"/>
          </a:p>
        </p:txBody>
      </p:sp>
      <p:pic>
        <p:nvPicPr>
          <p:cNvPr id="459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10" y="1691005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标题 1"/>
          <p:cNvSpPr txBox="1"/>
          <p:nvPr/>
        </p:nvSpPr>
        <p:spPr>
          <a:xfrm>
            <a:off x="7101641" y="0"/>
            <a:ext cx="5577722" cy="6858000"/>
          </a:xfrm>
          <a:custGeom>
            <a:avLst/>
            <a:gdLst>
              <a:gd name="connsiteX0" fmla="*/ 0 w 5577722"/>
              <a:gd name="connsiteY0" fmla="*/ 0 h 6858000"/>
              <a:gd name="connsiteX1" fmla="*/ 5577722 w 5577722"/>
              <a:gd name="connsiteY1" fmla="*/ 0 h 6858000"/>
              <a:gd name="connsiteX2" fmla="*/ 5577722 w 5577722"/>
              <a:gd name="connsiteY2" fmla="*/ 6858000 h 6858000"/>
              <a:gd name="connsiteX3" fmla="*/ 534530 w 5577722"/>
              <a:gd name="connsiteY3" fmla="*/ 6858000 h 6858000"/>
              <a:gd name="connsiteX4" fmla="*/ 582579 w 5577722"/>
              <a:gd name="connsiteY4" fmla="*/ 6796857 h 6858000"/>
              <a:gd name="connsiteX5" fmla="*/ 1186864 w 5577722"/>
              <a:gd name="connsiteY5" fmla="*/ 5752132 h 6858000"/>
              <a:gd name="connsiteX6" fmla="*/ 1214201 w 5577722"/>
              <a:gd name="connsiteY6" fmla="*/ 5684928 h 6858000"/>
              <a:gd name="connsiteX7" fmla="*/ 1348501 w 5577722"/>
              <a:gd name="connsiteY7" fmla="*/ 5719460 h 6858000"/>
              <a:gd name="connsiteX8" fmla="*/ 1819681 w 5577722"/>
              <a:gd name="connsiteY8" fmla="*/ 5766959 h 6858000"/>
              <a:gd name="connsiteX9" fmla="*/ 4157640 w 5577722"/>
              <a:gd name="connsiteY9" fmla="*/ 3429000 h 6858000"/>
              <a:gd name="connsiteX10" fmla="*/ 1819681 w 5577722"/>
              <a:gd name="connsiteY10" fmla="*/ 1091041 h 6858000"/>
              <a:gd name="connsiteX11" fmla="*/ 1124444 w 5577722"/>
              <a:gd name="connsiteY11" fmla="*/ 1196151 h 6858000"/>
              <a:gd name="connsiteX12" fmla="*/ 968931 w 5577722"/>
              <a:gd name="connsiteY12" fmla="*/ 1253070 h 6858000"/>
              <a:gd name="connsiteX13" fmla="*/ 859284 w 5577722"/>
              <a:gd name="connsiteY13" fmla="*/ 1062376 h 6858000"/>
              <a:gd name="connsiteX14" fmla="*/ 98762 w 5577722"/>
              <a:gd name="connsiteY14" fmla="*/ 94161 h 6858000"/>
            </a:gdLst>
            <a:ahLst/>
            <a:cxnLst/>
            <a:rect l="l" t="t" r="r" b="b"/>
            <a:pathLst>
              <a:path w="5577722" h="6858000">
                <a:moveTo>
                  <a:pt x="0" y="0"/>
                </a:moveTo>
                <a:lnTo>
                  <a:pt x="5577722" y="0"/>
                </a:lnTo>
                <a:lnTo>
                  <a:pt x="5577722" y="6858000"/>
                </a:lnTo>
                <a:lnTo>
                  <a:pt x="534530" y="6858000"/>
                </a:lnTo>
                <a:lnTo>
                  <a:pt x="582579" y="6796857"/>
                </a:lnTo>
                <a:cubicBezTo>
                  <a:pt x="822824" y="6475612"/>
                  <a:pt x="1026329" y="6125294"/>
                  <a:pt x="1186864" y="5752132"/>
                </a:cubicBezTo>
                <a:lnTo>
                  <a:pt x="1214201" y="5684928"/>
                </a:lnTo>
                <a:lnTo>
                  <a:pt x="1348501" y="5719460"/>
                </a:lnTo>
                <a:cubicBezTo>
                  <a:pt x="1500696" y="5750604"/>
                  <a:pt x="1658279" y="5766959"/>
                  <a:pt x="1819681" y="5766959"/>
                </a:cubicBezTo>
                <a:cubicBezTo>
                  <a:pt x="3110900" y="5766959"/>
                  <a:pt x="4157640" y="4720219"/>
                  <a:pt x="4157640" y="3429000"/>
                </a:cubicBezTo>
                <a:cubicBezTo>
                  <a:pt x="4157640" y="2137781"/>
                  <a:pt x="3110900" y="1091041"/>
                  <a:pt x="1819681" y="1091041"/>
                </a:cubicBezTo>
                <a:cubicBezTo>
                  <a:pt x="1577578" y="1091041"/>
                  <a:pt x="1344069" y="1127841"/>
                  <a:pt x="1124444" y="1196151"/>
                </a:cubicBezTo>
                <a:lnTo>
                  <a:pt x="968931" y="1253070"/>
                </a:lnTo>
                <a:lnTo>
                  <a:pt x="859284" y="1062376"/>
                </a:lnTo>
                <a:cubicBezTo>
                  <a:pt x="644873" y="709503"/>
                  <a:pt x="389126" y="384524"/>
                  <a:pt x="98762" y="94161"/>
                </a:cubicBez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62" name="图片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7101641" y="1"/>
            <a:ext cx="5537405" cy="68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标题 1"/>
          <p:cNvSpPr txBox="1"/>
          <p:nvPr/>
        </p:nvSpPr>
        <p:spPr>
          <a:xfrm>
            <a:off x="6583363" y="1091042"/>
            <a:ext cx="4675917" cy="4675917"/>
          </a:xfrm>
          <a:prstGeom prst="donut">
            <a:avLst>
              <a:gd name="adj" fmla="val 8337"/>
            </a:avLst>
          </a:prstGeom>
          <a:solidFill>
            <a:schemeClr val="accent1">
              <a:alpha val="60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64" name="图片 4" descr="C:/Users/Administrator/Desktop/f5d65bc45c1fd606c1ddddaf1028ada.jpgf5d65bc45c1fd606c1ddddaf1028ada"/>
          <p:cNvPicPr>
            <a:picLocks noChangeAspect="1"/>
          </p:cNvPicPr>
          <p:nvPr/>
        </p:nvPicPr>
        <p:blipFill>
          <a:blip r:embed="rId2">
            <a:alphaModFix amt="100000"/>
          </a:blip>
          <a:srcRect t="14412" b="14412"/>
          <a:stretch>
            <a:fillRect/>
          </a:stretch>
        </p:blipFill>
        <p:spPr>
          <a:xfrm>
            <a:off x="6986270" y="1460500"/>
            <a:ext cx="3928110" cy="3937000"/>
          </a:xfrm>
          <a:custGeom>
            <a:avLst/>
            <a:gdLst/>
            <a:ahLst/>
            <a:cxnLst/>
            <a:rect l="l" t="t" r="r" b="b"/>
            <a:pathLst>
              <a:path w="3937000" h="3937000">
                <a:moveTo>
                  <a:pt x="0" y="1968499"/>
                </a:moveTo>
                <a:cubicBezTo>
                  <a:pt x="0" y="881327"/>
                  <a:pt x="881327" y="0"/>
                  <a:pt x="1968499" y="0"/>
                </a:cubicBezTo>
                <a:cubicBezTo>
                  <a:pt x="3055671" y="0"/>
                  <a:pt x="3936998" y="881327"/>
                  <a:pt x="3936998" y="1968499"/>
                </a:cubicBezTo>
                <a:cubicBezTo>
                  <a:pt x="3936998" y="3055671"/>
                  <a:pt x="3055671" y="3936998"/>
                  <a:pt x="1968499" y="3936998"/>
                </a:cubicBezTo>
                <a:cubicBezTo>
                  <a:pt x="881327" y="3936998"/>
                  <a:pt x="0" y="3055671"/>
                  <a:pt x="0" y="196849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65" name="标题 1"/>
          <p:cNvSpPr txBox="1"/>
          <p:nvPr/>
        </p:nvSpPr>
        <p:spPr>
          <a:xfrm>
            <a:off x="698500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6" name="标题 1"/>
          <p:cNvSpPr txBox="1"/>
          <p:nvPr/>
        </p:nvSpPr>
        <p:spPr>
          <a:xfrm>
            <a:off x="982133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7" name="标题 1"/>
          <p:cNvSpPr txBox="1"/>
          <p:nvPr/>
        </p:nvSpPr>
        <p:spPr>
          <a:xfrm>
            <a:off x="1265767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8" name="标题 1"/>
          <p:cNvSpPr txBox="1"/>
          <p:nvPr/>
        </p:nvSpPr>
        <p:spPr>
          <a:xfrm>
            <a:off x="1549400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9" name="矩形 40964"/>
          <p:cNvSpPr>
            <a:spLocks noTextEdit="1"/>
          </p:cNvSpPr>
          <p:nvPr/>
        </p:nvSpPr>
        <p:spPr>
          <a:xfrm>
            <a:off x="407035" y="2061210"/>
            <a:ext cx="5628005" cy="17729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fromWordArt="1">
            <a:prstTxWarp prst="textPlain">
              <a:avLst>
                <a:gd name="adj" fmla="val 50874"/>
              </a:avLst>
            </a:prstTxWarp>
            <a:norm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感谢您的聆听！</a:t>
            </a:r>
            <a:endParaRPr lang="zh-CN" altLang="en-US" sz="9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 txBox="1"/>
          <p:nvPr/>
        </p:nvSpPr>
        <p:spPr>
          <a:xfrm>
            <a:off x="7520623" y="1021192"/>
            <a:ext cx="4675917" cy="4675917"/>
          </a:xfrm>
          <a:prstGeom prst="donut">
            <a:avLst>
              <a:gd name="adj" fmla="val 8337"/>
            </a:avLst>
          </a:prstGeom>
          <a:solidFill>
            <a:schemeClr val="accent1">
              <a:alpha val="60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30" name="图片 4" descr="E:\MyData\桌面\微信图片_20240627101518.jpg微信图片_20240627101518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7913370" y="1390650"/>
            <a:ext cx="3942080" cy="3937000"/>
          </a:xfrm>
          <a:custGeom>
            <a:avLst/>
            <a:gdLst/>
            <a:ahLst/>
            <a:cxnLst/>
            <a:rect l="l" t="t" r="r" b="b"/>
            <a:pathLst>
              <a:path w="3937000" h="3937000">
                <a:moveTo>
                  <a:pt x="0" y="1968499"/>
                </a:moveTo>
                <a:cubicBezTo>
                  <a:pt x="0" y="881327"/>
                  <a:pt x="881327" y="0"/>
                  <a:pt x="1968499" y="0"/>
                </a:cubicBezTo>
                <a:cubicBezTo>
                  <a:pt x="3055671" y="0"/>
                  <a:pt x="3936998" y="881327"/>
                  <a:pt x="3936998" y="1968499"/>
                </a:cubicBezTo>
                <a:cubicBezTo>
                  <a:pt x="3936998" y="3055671"/>
                  <a:pt x="3055671" y="3936998"/>
                  <a:pt x="1968499" y="3936998"/>
                </a:cubicBezTo>
                <a:cubicBezTo>
                  <a:pt x="881327" y="3936998"/>
                  <a:pt x="0" y="3055671"/>
                  <a:pt x="0" y="196849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31" name="标题 1"/>
          <p:cNvSpPr txBox="1"/>
          <p:nvPr/>
        </p:nvSpPr>
        <p:spPr>
          <a:xfrm>
            <a:off x="1028065" y="4213860"/>
            <a:ext cx="5339080" cy="69913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 panose="020B0A00000000000000" charset="-122"/>
                <a:ea typeface="Source Han Sans CN Regular" panose="020B0A00000000000000" charset="-122"/>
                <a:cs typeface="Source Han Sans CN Regular" panose="020B0A00000000000000" charset="-122"/>
              </a:rPr>
              <a:t>XXX大学</a:t>
            </a:r>
            <a:endParaRPr kumimoji="1" lang="zh-CN" altLang="en-US"/>
          </a:p>
        </p:txBody>
      </p:sp>
      <p:sp>
        <p:nvSpPr>
          <p:cNvPr id="132" name="标题 1"/>
          <p:cNvSpPr txBox="1"/>
          <p:nvPr/>
        </p:nvSpPr>
        <p:spPr>
          <a:xfrm>
            <a:off x="1301750" y="4213543"/>
            <a:ext cx="4792345" cy="7067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长江航运总医院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武汉脑科医院：</a:t>
            </a:r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岑  波</a:t>
            </a:r>
            <a:endParaRPr lang="zh-CN" altLang="zh-CN" sz="20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2026.8</a:t>
            </a:r>
            <a:endParaRPr lang="zh-CN" altLang="zh-CN" sz="2000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标题 1"/>
          <p:cNvSpPr txBox="1"/>
          <p:nvPr/>
        </p:nvSpPr>
        <p:spPr>
          <a:xfrm>
            <a:off x="53340" y="1268730"/>
            <a:ext cx="8267065" cy="27546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高颈段脊髓髓内肿瘤的显微外科治疗体会</a:t>
            </a:r>
            <a:endParaRPr kumimoji="1" lang="en-US" altLang="zh-CN" sz="3200" b="1">
              <a:ln w="12700">
                <a:noFill/>
              </a:ln>
              <a:solidFill>
                <a:srgbClr val="1083C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Source Han Sans CN Bold" panose="020B0800000000000000" charset="-122"/>
            </a:endParaRPr>
          </a:p>
        </p:txBody>
      </p:sp>
      <p:pic>
        <p:nvPicPr>
          <p:cNvPr id="134" name="图片 18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0885"/>
            <a:ext cx="12233275" cy="1047115"/>
          </a:xfrm>
          <a:prstGeom prst="rect">
            <a:avLst/>
          </a:prstGeom>
        </p:spPr>
      </p:pic>
      <p:pic>
        <p:nvPicPr>
          <p:cNvPr id="135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4" y="15145"/>
            <a:ext cx="5441152" cy="929721"/>
          </a:xfrm>
          <a:prstGeom prst="rect">
            <a:avLst/>
          </a:prstGeom>
        </p:spPr>
      </p:pic>
      <p:sp>
        <p:nvSpPr>
          <p:cNvPr id="136" name="文本框 19" descr="7b0a20202020227461726765744d6f64756c65223a20226b6f6e6c696e65666f6e7473220a7d0a"/>
          <p:cNvSpPr txBox="1"/>
          <p:nvPr/>
        </p:nvSpPr>
        <p:spPr>
          <a:xfrm>
            <a:off x="8881745" y="6334033"/>
            <a:ext cx="3310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病人至上</a:t>
            </a:r>
            <a:r>
              <a:rPr lang="en-US" altLang="zh-CN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汉仪青云简" panose="00020600040101010101" charset="-122"/>
                <a:ea typeface="汉仪青云简" panose="00020600040101010101" charset="-122"/>
                <a:cs typeface="汉仪青云简" panose="00020600040101010101" charset="-122"/>
                <a:sym typeface="汉仪青云简" panose="00020600040101010101" charset="-122"/>
              </a:rPr>
              <a:t>服务第一</a:t>
            </a:r>
            <a:endParaRPr lang="zh-CN" altLang="en-US" sz="2400" b="1" dirty="0">
              <a:solidFill>
                <a:srgbClr val="FF0000"/>
              </a:solidFill>
              <a:latin typeface="汉仪青云简" panose="00020600040101010101" charset="-122"/>
              <a:ea typeface="汉仪青云简" panose="00020600040101010101" charset="-122"/>
              <a:cs typeface="汉仪青云简" panose="00020600040101010101" charset="-122"/>
              <a:sym typeface="汉仪青云简" panose="00020600040101010101" charset="-122"/>
            </a:endParaRPr>
          </a:p>
        </p:txBody>
      </p:sp>
      <p:sp>
        <p:nvSpPr>
          <p:cNvPr id="137" name="流程图: 接点 1"/>
          <p:cNvSpPr/>
          <p:nvPr/>
        </p:nvSpPr>
        <p:spPr>
          <a:xfrm flipV="1">
            <a:off x="3366896" y="4347168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标题 1"/>
          <p:cNvSpPr txBox="1"/>
          <p:nvPr/>
        </p:nvSpPr>
        <p:spPr>
          <a:xfrm>
            <a:off x="-10795" y="169545"/>
            <a:ext cx="12446000" cy="70612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2000"/>
                </a:schemeClr>
              </a:gs>
              <a:gs pos="100000">
                <a:schemeClr val="bg1">
                  <a:alpha val="21000"/>
                </a:schemeClr>
              </a:gs>
            </a:gsLst>
            <a:lin ang="16200000" scaled="0"/>
          </a:gra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37" name="标题 1"/>
          <p:cNvSpPr txBox="1"/>
          <p:nvPr/>
        </p:nvSpPr>
        <p:spPr>
          <a:xfrm>
            <a:off x="660400" y="1835914"/>
            <a:ext cx="3168000" cy="3168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8" name="标题 1"/>
          <p:cNvSpPr txBox="1"/>
          <p:nvPr/>
        </p:nvSpPr>
        <p:spPr>
          <a:xfrm>
            <a:off x="1705256" y="1817914"/>
            <a:ext cx="3204000" cy="3204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kumimoji="1" lang="zh-CN" altLang="en-US"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9" name="标题 1"/>
          <p:cNvSpPr txBox="1"/>
          <p:nvPr/>
        </p:nvSpPr>
        <p:spPr>
          <a:xfrm>
            <a:off x="2093956" y="2617301"/>
            <a:ext cx="2425700" cy="10033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7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目录</a:t>
            </a:r>
            <a:endParaRPr kumimoji="1" lang="zh-CN" altLang="en-US"/>
          </a:p>
        </p:txBody>
      </p:sp>
      <p:sp>
        <p:nvSpPr>
          <p:cNvPr id="240" name="标题 1"/>
          <p:cNvSpPr txBox="1"/>
          <p:nvPr/>
        </p:nvSpPr>
        <p:spPr>
          <a:xfrm>
            <a:off x="2133145" y="3725297"/>
            <a:ext cx="2349500" cy="2794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OPPOSans L" panose="00020600040101010101" charset="-122"/>
                <a:ea typeface="OPPOSans L" panose="00020600040101010101" charset="-122"/>
                <a:cs typeface="OPPOSans L" panose="00020600040101010101" charset="-122"/>
              </a:rPr>
              <a:t>CATALOGUE</a:t>
            </a:r>
            <a:endParaRPr kumimoji="1" lang="zh-CN" altLang="en-US"/>
          </a:p>
        </p:txBody>
      </p:sp>
      <p:sp>
        <p:nvSpPr>
          <p:cNvPr id="241" name="标题 1"/>
          <p:cNvSpPr txBox="1"/>
          <p:nvPr/>
        </p:nvSpPr>
        <p:spPr>
          <a:xfrm>
            <a:off x="5437461" y="2139544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01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2" name="标题 1"/>
          <p:cNvSpPr txBox="1"/>
          <p:nvPr/>
        </p:nvSpPr>
        <p:spPr>
          <a:xfrm>
            <a:off x="5972850" y="2139238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引言与研究背景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3" name="标题 1"/>
          <p:cNvSpPr txBox="1"/>
          <p:nvPr/>
        </p:nvSpPr>
        <p:spPr>
          <a:xfrm>
            <a:off x="5437461" y="2935183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02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4" name="标题 1"/>
          <p:cNvSpPr txBox="1"/>
          <p:nvPr/>
        </p:nvSpPr>
        <p:spPr>
          <a:xfrm>
            <a:off x="5972850" y="2933437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临床资料与方法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5" name="标题 1"/>
          <p:cNvSpPr txBox="1"/>
          <p:nvPr/>
        </p:nvSpPr>
        <p:spPr>
          <a:xfrm>
            <a:off x="5437461" y="3730822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03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6" name="标题 1"/>
          <p:cNvSpPr txBox="1"/>
          <p:nvPr/>
        </p:nvSpPr>
        <p:spPr>
          <a:xfrm>
            <a:off x="5972850" y="3727636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治疗结果</a:t>
            </a:r>
            <a:endParaRPr kumimoji="1" lang="en-US" altLang="en-US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  <p:sp>
        <p:nvSpPr>
          <p:cNvPr id="247" name="标题 1"/>
          <p:cNvSpPr txBox="1"/>
          <p:nvPr/>
        </p:nvSpPr>
        <p:spPr>
          <a:xfrm>
            <a:off x="5437461" y="4526461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04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48" name="标题 1"/>
          <p:cNvSpPr txBox="1"/>
          <p:nvPr/>
        </p:nvSpPr>
        <p:spPr>
          <a:xfrm>
            <a:off x="5972850" y="4521835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讨论与分析</a:t>
            </a:r>
            <a:endParaRPr kumimoji="1" lang="en-US" altLang="zh-CN" sz="240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  <a:sym typeface="+mn-ea"/>
            </a:endParaRPr>
          </a:p>
        </p:txBody>
      </p:sp>
      <p:sp>
        <p:nvSpPr>
          <p:cNvPr id="249" name="标题 1"/>
          <p:cNvSpPr txBox="1"/>
          <p:nvPr/>
        </p:nvSpPr>
        <p:spPr>
          <a:xfrm>
            <a:off x="5437461" y="5320846"/>
            <a:ext cx="423953" cy="43088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54B2F2">
                    <a:alpha val="100000"/>
                  </a:srgbClr>
                </a:solidFill>
                <a:latin typeface="Source Han Sans" panose="020B0500000000000000" charset="-122"/>
                <a:ea typeface="Source Han Sans" panose="020B0500000000000000" charset="-122"/>
                <a:cs typeface="Source Han Sans" panose="020B0500000000000000" charset="-122"/>
              </a:rPr>
              <a:t>05</a:t>
            </a:r>
            <a:endParaRPr kumimoji="1" lang="en-US" altLang="zh-CN" sz="2800">
              <a:ln w="12700">
                <a:noFill/>
              </a:ln>
              <a:solidFill>
                <a:srgbClr val="54B2F2">
                  <a:alpha val="100000"/>
                </a:srgbClr>
              </a:solidFill>
              <a:latin typeface="Source Han Sans" panose="020B0500000000000000" charset="-122"/>
              <a:ea typeface="Source Han Sans" panose="020B0500000000000000" charset="-122"/>
              <a:cs typeface="Source Han Sans" panose="020B0500000000000000" charset="-122"/>
            </a:endParaRPr>
          </a:p>
        </p:txBody>
      </p:sp>
      <p:sp>
        <p:nvSpPr>
          <p:cNvPr id="250" name="标题 1"/>
          <p:cNvSpPr txBox="1"/>
          <p:nvPr/>
        </p:nvSpPr>
        <p:spPr>
          <a:xfrm>
            <a:off x="5972850" y="5316220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p>
            <a:pPr algn="l"/>
            <a:r>
              <a:rPr lang="en-US" sz="2400" b="1">
                <a:solidFill>
                  <a:srgbClr val="2D3748"/>
                </a:solidFill>
                <a:latin typeface="微软雅黑" panose="020B0503020204020204" charset="-122"/>
                <a:ea typeface="微软雅黑" panose="020B0503020204020204" charset="-122"/>
                <a:cs typeface="Noto Sans SC"/>
                <a:sym typeface="Noto Sans SC"/>
              </a:rPr>
              <a:t>结论</a:t>
            </a:r>
            <a:endParaRPr kumimoji="1" lang="en-US" altLang="zh-CN" sz="2400" b="1">
              <a:ln w="12700">
                <a:noFill/>
              </a:ln>
              <a:solidFill>
                <a:srgbClr val="2D3748"/>
              </a:solidFill>
              <a:latin typeface="微软雅黑" panose="020B0503020204020204" charset="-122"/>
              <a:ea typeface="微软雅黑" panose="020B0503020204020204" charset="-122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9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0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0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0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0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0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引言与研究背景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0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778000"/>
            <a:ext cx="3556000" cy="355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</p:spPr>
      </p:pic>
      <p:sp>
        <p:nvSpPr>
          <p:cNvPr id="406" name="AutoShape 6"/>
          <p:cNvSpPr/>
          <p:nvPr/>
        </p:nvSpPr>
        <p:spPr>
          <a:xfrm>
            <a:off x="762000" y="5524500"/>
            <a:ext cx="3556000" cy="76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图示：高颈段脊髓作为连接大脑与躯干的核心通路，其解剖位置的特殊性决定了手术的高风险与高难度。</a:t>
            </a:r>
            <a:endParaRPr lang="en-US" sz="1300" b="0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7" name="AutoShape 7"/>
          <p:cNvSpPr/>
          <p:nvPr/>
        </p:nvSpPr>
        <p:spPr>
          <a:xfrm>
            <a:off x="4826000" y="1778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08" name="Picture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2006600"/>
            <a:ext cx="457200" cy="457200"/>
          </a:xfrm>
          <a:prstGeom prst="rect">
            <a:avLst/>
          </a:prstGeom>
        </p:spPr>
      </p:pic>
      <p:sp>
        <p:nvSpPr>
          <p:cNvPr id="409" name="AutoShape 10"/>
          <p:cNvSpPr/>
          <p:nvPr/>
        </p:nvSpPr>
        <p:spPr>
          <a:xfrm>
            <a:off x="5715000" y="1879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紧邻生命中枢，关乎呼吸循环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病变位于C1-C4节段，直接毗邻控制呼吸的神经核团（C3-C5）及延髓。此处一旦受压或受损，可直接引发呼吸骤停、血压波动等致命并发症，是手术安全的核心挑战。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10" name="AutoShape 11"/>
          <p:cNvSpPr/>
          <p:nvPr/>
        </p:nvSpPr>
        <p:spPr>
          <a:xfrm>
            <a:off x="4826000" y="3175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1" name="Picture 13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3403600"/>
            <a:ext cx="457200" cy="457200"/>
          </a:xfrm>
          <a:prstGeom prst="rect">
            <a:avLst/>
          </a:prstGeom>
        </p:spPr>
      </p:pic>
      <p:sp>
        <p:nvSpPr>
          <p:cNvPr id="412" name="AutoShape 14"/>
          <p:cNvSpPr/>
          <p:nvPr/>
        </p:nvSpPr>
        <p:spPr>
          <a:xfrm>
            <a:off x="5715000" y="3276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解剖结构脆弱，容错率极低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高颈段脊髓纤细且神经纤维高度密集，是大脑向躯干传递指令的“咽喉要道”。该区域缺乏缓冲空间，手术中任何微小的牵拉、触碰或缺血，都可能导致永久性的四肢瘫痪或感觉功能丧失。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13" name="AutoShape 15"/>
          <p:cNvSpPr/>
          <p:nvPr/>
        </p:nvSpPr>
        <p:spPr>
          <a:xfrm>
            <a:off x="4826000" y="4572000"/>
            <a:ext cx="6858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cap="flat" cmpd="sng">
            <a:solidFill>
              <a:srgbClr val="33B7AB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14" name="AutoShape 16"/>
          <p:cNvSpPr/>
          <p:nvPr/>
        </p:nvSpPr>
        <p:spPr>
          <a:xfrm>
            <a:off x="4826000" y="4572000"/>
            <a:ext cx="508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5" name="Picture 17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80000" y="4800600"/>
            <a:ext cx="457200" cy="457200"/>
          </a:xfrm>
          <a:prstGeom prst="rect">
            <a:avLst/>
          </a:prstGeom>
        </p:spPr>
      </p:pic>
      <p:sp>
        <p:nvSpPr>
          <p:cNvPr id="416" name="AutoShape 18"/>
          <p:cNvSpPr/>
          <p:nvPr/>
        </p:nvSpPr>
        <p:spPr>
          <a:xfrm>
            <a:off x="5715000" y="4673600"/>
            <a:ext cx="5842000" cy="10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手术空间受限，技术要求严苛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受颈椎骨性结构与硬脊膜的双重包裹，手术显露困难，操作通道狭窄。这对术者的显微外科技术、肿瘤切除策略及术中应急处理能力，均提出了极高的临床要求。</a:t>
            </a:r>
            <a:endParaRPr lang="en-US" sz="13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1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72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73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74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75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76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77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引言与研究背景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478" name="Picture 5"/>
          <p:cNvPicPr>
            <a:picLocks noChangeAspect="1"/>
          </p:cNvPicPr>
          <p:nvPr/>
        </p:nvPicPr>
        <p:blipFill>
          <a:blip r:embed="rId3"/>
          <a:srcRect t="8482" b="8482"/>
          <a:stretch>
            <a:fillRect/>
          </a:stretch>
        </p:blipFill>
        <p:spPr>
          <a:xfrm>
            <a:off x="762000" y="1905000"/>
            <a:ext cx="3556000" cy="3937000"/>
          </a:xfrm>
          <a:prstGeom prst="roundRect">
            <a:avLst>
              <a:gd name="adj" fmla="val 4285"/>
            </a:avLst>
          </a:prstGeom>
          <a:solidFill>
            <a:schemeClr val="accent1">
              <a:lumMod val="60000"/>
              <a:lumOff val="40000"/>
            </a:schemeClr>
          </a:solidFill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479" name="AutoShape 6"/>
          <p:cNvSpPr/>
          <p:nvPr/>
        </p:nvSpPr>
        <p:spPr>
          <a:xfrm>
            <a:off x="4826000" y="1905000"/>
            <a:ext cx="66040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0" name="AutoShape 7"/>
          <p:cNvSpPr/>
          <p:nvPr/>
        </p:nvSpPr>
        <p:spPr>
          <a:xfrm>
            <a:off x="4826000" y="1905000"/>
            <a:ext cx="76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1" name="AutoShape 8"/>
          <p:cNvSpPr/>
          <p:nvPr/>
        </p:nvSpPr>
        <p:spPr>
          <a:xfrm>
            <a:off x="5143500" y="2095500"/>
            <a:ext cx="6096000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01 治疗现状</a:t>
            </a:r>
            <a:endParaRPr lang="en-US" sz="2000" b="1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82" name="AutoShape 9"/>
          <p:cNvSpPr/>
          <p:nvPr/>
        </p:nvSpPr>
        <p:spPr>
          <a:xfrm>
            <a:off x="5143500" y="2603500"/>
            <a:ext cx="6096000" cy="1143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随着医学技术的进步，</a:t>
            </a: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显微外科手术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已成为治疗高颈段脊髓髓内肿瘤的核心手段。其优势在于提供高倍清晰的手术视野，实现对肿瘤的精准分离与切除，同时最大限度地保护周围正常的脊髓组织、重要血管及神经结构，从而有效降低术后并发症风险。</a:t>
            </a:r>
            <a:endParaRPr lang="en-US" sz="1100"/>
          </a:p>
        </p:txBody>
      </p:sp>
      <p:sp>
        <p:nvSpPr>
          <p:cNvPr id="483" name="AutoShape 10"/>
          <p:cNvSpPr/>
          <p:nvPr/>
        </p:nvSpPr>
        <p:spPr>
          <a:xfrm>
            <a:off x="4826000" y="4191000"/>
            <a:ext cx="66040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4" name="AutoShape 11"/>
          <p:cNvSpPr/>
          <p:nvPr/>
        </p:nvSpPr>
        <p:spPr>
          <a:xfrm>
            <a:off x="4826000" y="4191000"/>
            <a:ext cx="76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5" name="AutoShape 12"/>
          <p:cNvSpPr/>
          <p:nvPr/>
        </p:nvSpPr>
        <p:spPr>
          <a:xfrm>
            <a:off x="5143500" y="4381500"/>
            <a:ext cx="6096000" cy="40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02 研究目的</a:t>
            </a:r>
            <a:endParaRPr lang="en-US" sz="1100"/>
          </a:p>
        </p:txBody>
      </p:sp>
      <p:sp>
        <p:nvSpPr>
          <p:cNvPr id="486" name="AutoShape 13"/>
          <p:cNvSpPr/>
          <p:nvPr/>
        </p:nvSpPr>
        <p:spPr>
          <a:xfrm>
            <a:off x="5143500" y="4889500"/>
            <a:ext cx="6096000" cy="1143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zh-CN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通过回顾性分析我院近8年收治的9例高颈段脊髓髓内肿瘤患者的临床资料、手术过程及随访结果，旨在系统总结手术经验，探讨优化的诊疗策略，以期为提高手术疗效、改善患者神经功能恢复及长期预后提供有价值的临床参考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8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9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9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9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9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9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95" name="AutoShape 5"/>
          <p:cNvSpPr/>
          <p:nvPr/>
        </p:nvSpPr>
        <p:spPr>
          <a:xfrm>
            <a:off x="762000" y="15240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zh-CN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本研究回顾性纳入9例高颈段脊髓髓内肿瘤患者，所有病例均经术前增强MRI检查明确病灶位置与范围，并由同一外科团队实施显微外科手术切除，术后病理结果作为最终诊断依据，确保了研究样本的同质性与可靠性。</a:t>
            </a:r>
            <a:endParaRPr lang="en-US" sz="14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96" name="AutoShape 6"/>
          <p:cNvSpPr/>
          <p:nvPr/>
        </p:nvSpPr>
        <p:spPr>
          <a:xfrm>
            <a:off x="762000" y="2540000"/>
            <a:ext cx="5207000" cy="2921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97" name="AutoShape 7"/>
          <p:cNvSpPr/>
          <p:nvPr/>
        </p:nvSpPr>
        <p:spPr>
          <a:xfrm>
            <a:off x="1016000" y="2730500"/>
            <a:ext cx="4699000" cy="381000"/>
          </a:xfrm>
          <a:prstGeom prst="rect">
            <a:avLst/>
          </a:prstGeom>
          <a:solidFill>
            <a:schemeClr val="accent1">
              <a:lumMod val="75000"/>
              <a:alpha val="8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基线特征：中青年群体为主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98" name="Picture 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429000"/>
            <a:ext cx="304800" cy="304800"/>
          </a:xfrm>
          <a:prstGeom prst="rect">
            <a:avLst/>
          </a:prstGeom>
        </p:spPr>
      </p:pic>
      <p:sp>
        <p:nvSpPr>
          <p:cNvPr id="499" name="AutoShape 10"/>
          <p:cNvSpPr/>
          <p:nvPr/>
        </p:nvSpPr>
        <p:spPr>
          <a:xfrm>
            <a:off x="11430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3例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男性 (33.3%)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00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0500" y="3429000"/>
            <a:ext cx="304800" cy="304800"/>
          </a:xfrm>
          <a:prstGeom prst="rect">
            <a:avLst/>
          </a:prstGeom>
        </p:spPr>
      </p:pic>
      <p:sp>
        <p:nvSpPr>
          <p:cNvPr id="501" name="AutoShape 13"/>
          <p:cNvSpPr/>
          <p:nvPr/>
        </p:nvSpPr>
        <p:spPr>
          <a:xfrm>
            <a:off x="27305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6例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女性 (66.7%)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02" name="Picture 1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8000" y="3429000"/>
            <a:ext cx="304800" cy="304800"/>
          </a:xfrm>
          <a:prstGeom prst="rect">
            <a:avLst/>
          </a:prstGeom>
        </p:spPr>
      </p:pic>
      <p:sp>
        <p:nvSpPr>
          <p:cNvPr id="503" name="AutoShape 16"/>
          <p:cNvSpPr/>
          <p:nvPr/>
        </p:nvSpPr>
        <p:spPr>
          <a:xfrm>
            <a:off x="4318000" y="3746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34岁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中位年龄 (19-48岁)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4" name="AutoShape 17"/>
          <p:cNvSpPr/>
          <p:nvPr/>
        </p:nvSpPr>
        <p:spPr>
          <a:xfrm>
            <a:off x="1016000" y="469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样本呈现明显的中青年聚集性特征，性别分布以女性略占优势，符合该类脊髓肿瘤在中青年人群中高发的流行病学特点。</a:t>
            </a:r>
            <a:endParaRPr lang="en-US" sz="1100"/>
          </a:p>
        </p:txBody>
      </p:sp>
      <p:sp>
        <p:nvSpPr>
          <p:cNvPr id="505" name="AutoShape 18"/>
          <p:cNvSpPr/>
          <p:nvPr/>
        </p:nvSpPr>
        <p:spPr>
          <a:xfrm>
            <a:off x="6223000" y="2540000"/>
            <a:ext cx="5207000" cy="2921000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06" name="AutoShape 19"/>
          <p:cNvSpPr/>
          <p:nvPr/>
        </p:nvSpPr>
        <p:spPr>
          <a:xfrm>
            <a:off x="6477000" y="2730500"/>
            <a:ext cx="4699000" cy="381000"/>
          </a:xfrm>
          <a:prstGeom prst="rect">
            <a:avLst/>
          </a:prstGeom>
          <a:solidFill>
            <a:schemeClr val="accent1">
              <a:lumMod val="75000"/>
              <a:alpha val="8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病理图谱：多样化的肿瘤类型</a:t>
            </a:r>
            <a:endParaRPr lang="en-US" sz="1800" b="1" i="0" u="none" strike="noStrike">
              <a:solidFill>
                <a:schemeClr val="accent1">
                  <a:lumMod val="40000"/>
                  <a:lumOff val="6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07" name="AutoShape 22"/>
          <p:cNvSpPr/>
          <p:nvPr/>
        </p:nvSpPr>
        <p:spPr>
          <a:xfrm>
            <a:off x="6985000" y="33528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室管膜瘤 (2例) &amp; 胶质瘤 (3例)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：占比超55%，含1例胶质母细胞瘤，覆盖良恶性谱系。</a:t>
            </a:r>
            <a:endParaRPr lang="en-US" sz="1100"/>
          </a:p>
        </p:txBody>
      </p:sp>
      <p:sp>
        <p:nvSpPr>
          <p:cNvPr id="508" name="AutoShape 25"/>
          <p:cNvSpPr/>
          <p:nvPr/>
        </p:nvSpPr>
        <p:spPr>
          <a:xfrm>
            <a:off x="6985000" y="40132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血管网织细胞瘤 (1例)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：典型的富血供良性肿瘤，手术切除对技术要求较高。</a:t>
            </a:r>
            <a:endParaRPr lang="en-US" sz="1100"/>
          </a:p>
        </p:txBody>
      </p:sp>
      <p:sp>
        <p:nvSpPr>
          <p:cNvPr id="509" name="AutoShape 28"/>
          <p:cNvSpPr/>
          <p:nvPr/>
        </p:nvSpPr>
        <p:spPr>
          <a:xfrm>
            <a:off x="6985000" y="46736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其他罕见类型 (3例)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：包括海绵状血管瘤2例、精原细胞瘤1例，丰富了病理多样性。</a:t>
            </a:r>
            <a:endParaRPr lang="en-US" sz="1100"/>
          </a:p>
        </p:txBody>
      </p:sp>
      <p:sp>
        <p:nvSpPr>
          <p:cNvPr id="510" name="AutoShape 29"/>
          <p:cNvSpPr/>
          <p:nvPr/>
        </p:nvSpPr>
        <p:spPr>
          <a:xfrm>
            <a:off x="762000" y="5628005"/>
            <a:ext cx="10668000" cy="698500"/>
          </a:xfrm>
          <a:prstGeom prst="roundRect">
            <a:avLst>
              <a:gd name="adj" fmla="val 0"/>
            </a:avLst>
          </a:prstGeom>
          <a:solidFill>
            <a:srgbClr val="2D374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11" name="AutoShape 30"/>
          <p:cNvSpPr/>
          <p:nvPr/>
        </p:nvSpPr>
        <p:spPr>
          <a:xfrm>
            <a:off x="889000" y="5755005"/>
            <a:ext cx="1028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临床意义：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该样本库涵盖了从良性到高度恶性的多种脊髓髓内肿瘤病理类型，为后续对比分析不同肿瘤的手术疗效、并发症及预后提供了宝贵的临床依据。</a:t>
            </a:r>
            <a:endParaRPr lang="en-US" sz="11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1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1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1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1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1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19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20" name="AutoShape 5"/>
          <p:cNvSpPr/>
          <p:nvPr/>
        </p:nvSpPr>
        <p:spPr>
          <a:xfrm>
            <a:off x="309245" y="122047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影像学精准评估：术前诊断的“透视眼”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21" name="Picture 6"/>
          <p:cNvPicPr>
            <a:picLocks noChangeAspect="1"/>
          </p:cNvPicPr>
          <p:nvPr/>
        </p:nvPicPr>
        <p:blipFill>
          <a:blip r:embed="rId3"/>
          <a:srcRect t="12464" b="12464"/>
          <a:stretch>
            <a:fillRect/>
          </a:stretch>
        </p:blipFill>
        <p:spPr>
          <a:xfrm>
            <a:off x="309245" y="1791970"/>
            <a:ext cx="2413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</p:pic>
      <p:sp>
        <p:nvSpPr>
          <p:cNvPr id="522" name="AutoShape 7"/>
          <p:cNvSpPr/>
          <p:nvPr/>
        </p:nvSpPr>
        <p:spPr>
          <a:xfrm>
            <a:off x="2976245" y="191897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颈椎MRI（金标准）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作为首选核心手段，清晰呈现肿瘤的精准位置、侵犯范围及信号特征，明确其与脊髓、神经根的毗邻关系，为手术方案制定提供解剖学基础。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23" name="Picture 8"/>
          <p:cNvPicPr>
            <a:picLocks noChangeAspect="1"/>
          </p:cNvPicPr>
          <p:nvPr/>
        </p:nvPicPr>
        <p:blipFill>
          <a:blip r:embed="rId4"/>
          <a:srcRect l="2124" r="2124"/>
          <a:stretch>
            <a:fillRect/>
          </a:stretch>
        </p:blipFill>
        <p:spPr>
          <a:xfrm>
            <a:off x="6151245" y="1791970"/>
            <a:ext cx="2413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</p:pic>
      <p:sp>
        <p:nvSpPr>
          <p:cNvPr id="524" name="AutoShape 9"/>
          <p:cNvSpPr/>
          <p:nvPr/>
        </p:nvSpPr>
        <p:spPr>
          <a:xfrm>
            <a:off x="8754745" y="191897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CT三维重建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精准评估颈椎骨性结构的完整性，预判术后脊柱稳定性，为椎板复位、内固定方式的选择提供关键的骨性解剖依据。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5" name="AutoShape 11"/>
          <p:cNvSpPr/>
          <p:nvPr/>
        </p:nvSpPr>
        <p:spPr>
          <a:xfrm>
            <a:off x="309245" y="439547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多维度功能基线评估：量化风险与预后</a:t>
            </a:r>
            <a:endParaRPr lang="en-US" sz="2000" b="1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26" name="AutoShape 12"/>
          <p:cNvSpPr/>
          <p:nvPr/>
        </p:nvSpPr>
        <p:spPr>
          <a:xfrm>
            <a:off x="3092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27" name="Picture 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745" y="5055870"/>
            <a:ext cx="304800" cy="304800"/>
          </a:xfrm>
          <a:prstGeom prst="rect">
            <a:avLst/>
          </a:prstGeom>
        </p:spPr>
      </p:pic>
      <p:sp>
        <p:nvSpPr>
          <p:cNvPr id="528" name="AutoShape 14"/>
          <p:cNvSpPr/>
          <p:nvPr/>
        </p:nvSpPr>
        <p:spPr>
          <a:xfrm>
            <a:off x="8807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神经电生理监测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常规监测SSEP与MEP，建立神经功能基线，客观评估脊髓传导通路的完整性，是术中神经保护的重要参照。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29" name="AutoShape 15"/>
          <p:cNvSpPr/>
          <p:nvPr/>
        </p:nvSpPr>
        <p:spPr>
          <a:xfrm>
            <a:off x="39414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30" name="Picture 1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1945" y="5055870"/>
            <a:ext cx="304800" cy="304800"/>
          </a:xfrm>
          <a:prstGeom prst="rect">
            <a:avLst/>
          </a:prstGeom>
        </p:spPr>
      </p:pic>
      <p:sp>
        <p:nvSpPr>
          <p:cNvPr id="531" name="AutoShape 17"/>
          <p:cNvSpPr/>
          <p:nvPr/>
        </p:nvSpPr>
        <p:spPr>
          <a:xfrm>
            <a:off x="45129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呼吸功能综合评估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针对伴胸闷、憋气症状的患者，完善肺功能及血气分析，精准评估手术耐受风险，保障围手术期呼吸安全。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32" name="AutoShape 18"/>
          <p:cNvSpPr/>
          <p:nvPr/>
        </p:nvSpPr>
        <p:spPr>
          <a:xfrm>
            <a:off x="7573645" y="4903470"/>
            <a:ext cx="3378200" cy="12065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33" name="Picture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4145" y="5055870"/>
            <a:ext cx="304800" cy="304800"/>
          </a:xfrm>
          <a:prstGeom prst="rect">
            <a:avLst/>
          </a:prstGeom>
        </p:spPr>
      </p:pic>
      <p:sp>
        <p:nvSpPr>
          <p:cNvPr id="534" name="AutoShape 20"/>
          <p:cNvSpPr/>
          <p:nvPr/>
        </p:nvSpPr>
        <p:spPr>
          <a:xfrm>
            <a:off x="8145145" y="5030470"/>
            <a:ext cx="2730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McCormick功能评分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采用国际通用的脊髓功能分级标准，对术前神经功能状态进行量化评分，为术后疗效对比提供客观标尺。</a:t>
            </a:r>
            <a:endParaRPr lang="en-US" sz="1300" b="0" i="0" u="none" strike="noStrike">
              <a:solidFill>
                <a:srgbClr val="71809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3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3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3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4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4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42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43" name="AutoShape 5"/>
          <p:cNvSpPr/>
          <p:nvPr/>
        </p:nvSpPr>
        <p:spPr>
          <a:xfrm>
            <a:off x="568325" y="1349375"/>
            <a:ext cx="5270500" cy="444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44" name="Picture 6"/>
          <p:cNvPicPr>
            <a:picLocks noChangeAspect="1"/>
          </p:cNvPicPr>
          <p:nvPr/>
        </p:nvPicPr>
        <p:blipFill>
          <a:blip r:embed="rId3"/>
          <a:srcRect t="8126" b="8126"/>
          <a:stretch>
            <a:fillRect/>
          </a:stretch>
        </p:blipFill>
        <p:spPr>
          <a:xfrm>
            <a:off x="822325" y="1666875"/>
            <a:ext cx="18415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45" name="AutoShape 7"/>
          <p:cNvSpPr/>
          <p:nvPr/>
        </p:nvSpPr>
        <p:spPr>
          <a:xfrm>
            <a:off x="2790825" y="1666875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精准微创入路与稳定重建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46" name="AutoShape 9"/>
          <p:cNvSpPr/>
          <p:nvPr/>
        </p:nvSpPr>
        <p:spPr>
          <a:xfrm>
            <a:off x="2790825" y="23018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微创化操作策略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采用仰卧头颈过伸位，经后正中小切口入路，精准剥离椎旁肌群，最大限度保留脊柱后方韧带复合体，减少创伤。</a:t>
            </a:r>
            <a:endParaRPr lang="en-US" sz="1100"/>
          </a:p>
        </p:txBody>
      </p:sp>
      <p:sp>
        <p:nvSpPr>
          <p:cNvPr id="547" name="AutoShape 10"/>
          <p:cNvSpPr/>
          <p:nvPr/>
        </p:nvSpPr>
        <p:spPr>
          <a:xfrm>
            <a:off x="2790825" y="35083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即刻骨性结构重建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严格控制椎板开窗范围，术毕将椎板原位回植，配合微型钛板固定，即刻重建颈椎后方的生物力学稳定性。</a:t>
            </a:r>
            <a:endParaRPr lang="en-US" sz="1100"/>
          </a:p>
        </p:txBody>
      </p:sp>
      <p:sp>
        <p:nvSpPr>
          <p:cNvPr id="548" name="AutoShape 12"/>
          <p:cNvSpPr/>
          <p:nvPr/>
        </p:nvSpPr>
        <p:spPr>
          <a:xfrm>
            <a:off x="949325" y="5133975"/>
            <a:ext cx="450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实现“病灶切除+脊柱稳定”同步完成，有效降低术后颈椎失稳风险。</a:t>
            </a:r>
            <a:endParaRPr lang="en-US" sz="1100"/>
          </a:p>
        </p:txBody>
      </p:sp>
      <p:sp>
        <p:nvSpPr>
          <p:cNvPr id="549" name="AutoShape 13"/>
          <p:cNvSpPr/>
          <p:nvPr/>
        </p:nvSpPr>
        <p:spPr>
          <a:xfrm>
            <a:off x="6092825" y="1349375"/>
            <a:ext cx="5270500" cy="444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550" name="Picture 14"/>
          <p:cNvPicPr>
            <a:picLocks noChangeAspect="1"/>
          </p:cNvPicPr>
          <p:nvPr/>
        </p:nvPicPr>
        <p:blipFill>
          <a:blip r:embed="rId4"/>
          <a:srcRect l="13750" r="13750"/>
          <a:stretch>
            <a:fillRect/>
          </a:stretch>
        </p:blipFill>
        <p:spPr>
          <a:xfrm>
            <a:off x="6346825" y="1666875"/>
            <a:ext cx="18415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51" name="AutoShape 15"/>
          <p:cNvSpPr/>
          <p:nvPr/>
        </p:nvSpPr>
        <p:spPr>
          <a:xfrm>
            <a:off x="8315325" y="1666875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多模态术中安全监测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52" name="AutoShape 17"/>
          <p:cNvSpPr/>
          <p:nvPr/>
        </p:nvSpPr>
        <p:spPr>
          <a:xfrm>
            <a:off x="8315325" y="23018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术中超声实时导航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高频超声实时定位肿瘤边界及其与脊髓、神经根的毗邻关系，避免盲目切开，确保病灶切除的精准度。</a:t>
            </a:r>
            <a:endParaRPr lang="en-US" sz="1100"/>
          </a:p>
        </p:txBody>
      </p:sp>
      <p:sp>
        <p:nvSpPr>
          <p:cNvPr id="553" name="AutoShape 18"/>
          <p:cNvSpPr/>
          <p:nvPr/>
        </p:nvSpPr>
        <p:spPr>
          <a:xfrm>
            <a:off x="8315325" y="3508375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神经电生理“安全锁”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全程监测SSEP和MEP，一旦出现异常信号即刻预警并调整策略，是避免永久性神经损伤的关键保障。</a:t>
            </a:r>
            <a:endParaRPr lang="en-US" sz="1100"/>
          </a:p>
        </p:txBody>
      </p:sp>
      <p:sp>
        <p:nvSpPr>
          <p:cNvPr id="554" name="AutoShape 19"/>
          <p:cNvSpPr/>
          <p:nvPr/>
        </p:nvSpPr>
        <p:spPr>
          <a:xfrm>
            <a:off x="6346825" y="5140325"/>
            <a:ext cx="4762500" cy="571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55" name="AutoShape 20"/>
          <p:cNvSpPr/>
          <p:nvPr/>
        </p:nvSpPr>
        <p:spPr>
          <a:xfrm>
            <a:off x="6346825" y="5218430"/>
            <a:ext cx="4508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264653"/>
                </a:solidFill>
                <a:latin typeface="Noto Sans SC"/>
                <a:ea typeface="Noto Sans SC"/>
                <a:cs typeface="Noto Sans SC"/>
                <a:sym typeface="Noto Sans SC"/>
              </a:rPr>
              <a:t>为高难度颈椎手术提供双重安全防线，显著提升手术安全性与疗效。</a:t>
            </a:r>
            <a:endParaRPr lang="en-US" sz="1100"/>
          </a:p>
        </p:txBody>
      </p:sp>
      <p:sp>
        <p:nvSpPr>
          <p:cNvPr id="556" name="AutoShape 11"/>
          <p:cNvSpPr/>
          <p:nvPr/>
        </p:nvSpPr>
        <p:spPr>
          <a:xfrm>
            <a:off x="885825" y="5138420"/>
            <a:ext cx="4762500" cy="571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5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6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6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6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6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6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algn="l">
              <a:lnSpc>
                <a:spcPct val="100000"/>
              </a:lnSpc>
              <a:buSzTx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临床资料与方法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65" name="AutoShape 5"/>
          <p:cNvSpPr/>
          <p:nvPr/>
        </p:nvSpPr>
        <p:spPr>
          <a:xfrm>
            <a:off x="686435" y="1328420"/>
            <a:ext cx="5207000" cy="457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66" name="AutoShape 6"/>
          <p:cNvSpPr/>
          <p:nvPr/>
        </p:nvSpPr>
        <p:spPr>
          <a:xfrm>
            <a:off x="876935" y="151892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手术核心技术：精细化剥离与止血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67" name="Picture 7"/>
          <p:cNvPicPr>
            <a:picLocks noChangeAspect="1"/>
          </p:cNvPicPr>
          <p:nvPr/>
        </p:nvPicPr>
        <p:blipFill>
          <a:blip r:embed="rId3"/>
          <a:srcRect l="1969" r="1969"/>
          <a:stretch>
            <a:fillRect/>
          </a:stretch>
        </p:blipFill>
        <p:spPr>
          <a:xfrm>
            <a:off x="876935" y="2090420"/>
            <a:ext cx="2286000" cy="1778000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</p:pic>
      <p:sp>
        <p:nvSpPr>
          <p:cNvPr id="568" name="AutoShape 8"/>
          <p:cNvSpPr/>
          <p:nvPr/>
        </p:nvSpPr>
        <p:spPr>
          <a:xfrm>
            <a:off x="3289935" y="2090420"/>
            <a:ext cx="2476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依托高清手术显微镜与神经电生理监测，实现对脊髓及肿瘤组织的毫米级分辨，为精准切除提供技术保障。</a:t>
            </a:r>
            <a:endParaRPr lang="en-US" sz="1100"/>
          </a:p>
        </p:txBody>
      </p:sp>
      <p:pic>
        <p:nvPicPr>
          <p:cNvPr id="569" name="Picture 1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935" y="4224020"/>
            <a:ext cx="228600" cy="228600"/>
          </a:xfrm>
          <a:prstGeom prst="rect">
            <a:avLst/>
          </a:prstGeom>
        </p:spPr>
      </p:pic>
      <p:sp>
        <p:nvSpPr>
          <p:cNvPr id="570" name="AutoShape 11"/>
          <p:cNvSpPr/>
          <p:nvPr/>
        </p:nvSpPr>
        <p:spPr>
          <a:xfrm>
            <a:off x="1194435" y="41859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精准切开：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显微镜下识别脊髓后正中沟，沿无血管区纵向切开，最大限度保护正常组织。</a:t>
            </a:r>
            <a:endParaRPr lang="en-US" sz="1100"/>
          </a:p>
        </p:txBody>
      </p:sp>
      <p:pic>
        <p:nvPicPr>
          <p:cNvPr id="571" name="Picture 1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935" y="4820920"/>
            <a:ext cx="228600" cy="228600"/>
          </a:xfrm>
          <a:prstGeom prst="rect">
            <a:avLst/>
          </a:prstGeom>
        </p:spPr>
      </p:pic>
      <p:sp>
        <p:nvSpPr>
          <p:cNvPr id="572" name="AutoShape 13"/>
          <p:cNvSpPr/>
          <p:nvPr/>
        </p:nvSpPr>
        <p:spPr>
          <a:xfrm>
            <a:off x="1194435" y="47828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界面剥离：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遵循“由浅入深”原则，沿胶质界膜分离，配合低功率双极电凝，避免热损伤。</a:t>
            </a:r>
            <a:endParaRPr lang="en-US" sz="1100"/>
          </a:p>
        </p:txBody>
      </p:sp>
      <p:sp>
        <p:nvSpPr>
          <p:cNvPr id="573" name="AutoShape 14"/>
          <p:cNvSpPr/>
          <p:nvPr/>
        </p:nvSpPr>
        <p:spPr>
          <a:xfrm>
            <a:off x="6147435" y="1328420"/>
            <a:ext cx="5207000" cy="457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6000"/>
            </a:schemeClr>
          </a:solidFill>
          <a:ln w="12700" cap="flat" cmpd="sng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574" name="AutoShape 15"/>
          <p:cNvSpPr/>
          <p:nvPr/>
        </p:nvSpPr>
        <p:spPr>
          <a:xfrm>
            <a:off x="6337935" y="151892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围手术期管理：全流程安全保障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75" name="Picture 16"/>
          <p:cNvPicPr>
            <a:picLocks noChangeAspect="1"/>
          </p:cNvPicPr>
          <p:nvPr/>
        </p:nvPicPr>
        <p:blipFill>
          <a:blip r:embed="rId8"/>
          <a:srcRect l="11696" r="11696"/>
          <a:stretch>
            <a:fillRect/>
          </a:stretch>
        </p:blipFill>
        <p:spPr>
          <a:xfrm>
            <a:off x="6337935" y="2090420"/>
            <a:ext cx="2286000" cy="1778000"/>
          </a:xfrm>
          <a:prstGeom prst="roundRect">
            <a:avLst>
              <a:gd name="adj" fmla="val 7142"/>
            </a:avLst>
          </a:prstGeom>
          <a:noFill/>
          <a:ln w="12700" cap="flat" cmpd="sng">
            <a:solidFill>
              <a:srgbClr val="C8C8C8">
                <a:alpha val="30000"/>
              </a:srgbClr>
            </a:solidFill>
            <a:prstDash val="solid"/>
            <a:round/>
          </a:ln>
        </p:spPr>
      </p:pic>
      <p:sp>
        <p:nvSpPr>
          <p:cNvPr id="576" name="AutoShape 17"/>
          <p:cNvSpPr/>
          <p:nvPr/>
        </p:nvSpPr>
        <p:spPr>
          <a:xfrm>
            <a:off x="8750935" y="2090420"/>
            <a:ext cx="2476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建立标准化术后监护体系，多学科协作（神经外科、ICU、康复科）确保患者平稳度过急性期。</a:t>
            </a:r>
            <a:endParaRPr lang="en-US" sz="1100"/>
          </a:p>
        </p:txBody>
      </p:sp>
      <p:pic>
        <p:nvPicPr>
          <p:cNvPr id="577" name="Picture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7935" y="4224020"/>
            <a:ext cx="228600" cy="228600"/>
          </a:xfrm>
          <a:prstGeom prst="rect">
            <a:avLst/>
          </a:prstGeom>
        </p:spPr>
      </p:pic>
      <p:sp>
        <p:nvSpPr>
          <p:cNvPr id="578" name="AutoShape 20"/>
          <p:cNvSpPr/>
          <p:nvPr/>
        </p:nvSpPr>
        <p:spPr>
          <a:xfrm>
            <a:off x="6655435" y="41859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ICU 强化监护：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实时监测生命体征、血氧饱和度及神经功能，动态评估呼吸循环，及时处置异常。</a:t>
            </a:r>
            <a:endParaRPr lang="en-US" sz="1100"/>
          </a:p>
        </p:txBody>
      </p:sp>
      <p:pic>
        <p:nvPicPr>
          <p:cNvPr id="579" name="Picture 21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37935" y="4820920"/>
            <a:ext cx="228600" cy="228600"/>
          </a:xfrm>
          <a:prstGeom prst="rect">
            <a:avLst/>
          </a:prstGeom>
        </p:spPr>
      </p:pic>
      <p:sp>
        <p:nvSpPr>
          <p:cNvPr id="580" name="AutoShape 22"/>
          <p:cNvSpPr/>
          <p:nvPr/>
        </p:nvSpPr>
        <p:spPr>
          <a:xfrm>
            <a:off x="6655435" y="478282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并发症防控：</a:t>
            </a: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重点预防呼吸障碍、神经功能缺损及感染，早期介入康复训练，降低长期致残率。</a:t>
            </a:r>
            <a:endParaRPr lang="en-US" sz="11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治疗结果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AutoShape 5"/>
          <p:cNvSpPr/>
          <p:nvPr/>
        </p:nvSpPr>
        <p:spPr>
          <a:xfrm>
            <a:off x="579120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1" name="AutoShape 21"/>
          <p:cNvSpPr/>
          <p:nvPr/>
        </p:nvSpPr>
        <p:spPr>
          <a:xfrm>
            <a:off x="579120" y="3652520"/>
            <a:ext cx="546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Noto Sans SC"/>
                <a:ea typeface="Noto Sans SC"/>
                <a:cs typeface="Noto Sans SC"/>
                <a:sym typeface="Noto Sans SC"/>
              </a:rPr>
              <a:t>术后神经功能</a:t>
            </a:r>
            <a:r>
              <a:rPr lang="zh-CN" altLang="en-US" sz="1800" b="1" i="0" u="none" strike="noStrike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Noto Sans SC"/>
                <a:ea typeface="Noto Sans SC"/>
                <a:cs typeface="Noto Sans SC"/>
                <a:sym typeface="Noto Sans SC"/>
              </a:rPr>
              <a:t>随访</a:t>
            </a:r>
            <a:endParaRPr lang="en-US" sz="110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3个月进行McCormick分级随访，结果显示：7例患者神经功能分级较术前改善Ⅰ~Ⅱ级，肢体运动、感觉及括约肌功能均有明显恢复，日常生活能力（ADL）评分显著提高。无患者出现严重的新发神经功能缺损，即便2例次全切的高度恶性肿瘤患者，其神经功能也保持稳定，未出现恶化趋势，为后续的综合治疗奠定了良好的神经功能基础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525" y="1589405"/>
            <a:ext cx="355600" cy="355600"/>
          </a:xfrm>
          <a:prstGeom prst="rect">
            <a:avLst/>
          </a:prstGeom>
        </p:spPr>
      </p:pic>
      <p:sp>
        <p:nvSpPr>
          <p:cNvPr id="13" name="AutoShape 8"/>
          <p:cNvSpPr/>
          <p:nvPr/>
        </p:nvSpPr>
        <p:spPr>
          <a:xfrm>
            <a:off x="12033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手术成功率 100%</a:t>
            </a:r>
            <a:endParaRPr lang="en-US" sz="1100"/>
          </a:p>
        </p:txBody>
      </p:sp>
      <p:sp>
        <p:nvSpPr>
          <p:cNvPr id="14" name="AutoShape 9"/>
          <p:cNvSpPr/>
          <p:nvPr/>
        </p:nvSpPr>
        <p:spPr>
          <a:xfrm>
            <a:off x="7715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9例患者均成功完成手术，无术中死亡病例，围手术期各项生命体征平稳，无严重并发症发生。</a:t>
            </a:r>
            <a:endParaRPr lang="en-US" sz="1100"/>
          </a:p>
        </p:txBody>
      </p:sp>
      <p:sp>
        <p:nvSpPr>
          <p:cNvPr id="15" name="AutoShape 10"/>
          <p:cNvSpPr/>
          <p:nvPr/>
        </p:nvSpPr>
        <p:spPr>
          <a:xfrm>
            <a:off x="4213225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16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6425" y="1589405"/>
            <a:ext cx="355600" cy="355600"/>
          </a:xfrm>
          <a:prstGeom prst="rect">
            <a:avLst/>
          </a:prstGeom>
        </p:spPr>
      </p:pic>
      <p:sp>
        <p:nvSpPr>
          <p:cNvPr id="17" name="AutoShape 13"/>
          <p:cNvSpPr/>
          <p:nvPr/>
        </p:nvSpPr>
        <p:spPr>
          <a:xfrm>
            <a:off x="48482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肿瘤全切率 77.8%</a:t>
            </a:r>
            <a:endParaRPr lang="en-US" sz="1100"/>
          </a:p>
        </p:txBody>
      </p:sp>
      <p:sp>
        <p:nvSpPr>
          <p:cNvPr id="18" name="AutoShape 14"/>
          <p:cNvSpPr/>
          <p:nvPr/>
        </p:nvSpPr>
        <p:spPr>
          <a:xfrm>
            <a:off x="44164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7例实现肿瘤全切，2例次全切（均为高度恶性肿瘤，为保留神经功能完整性，术中保留了安全边界）。</a:t>
            </a:r>
            <a:endParaRPr lang="en-US" sz="1100"/>
          </a:p>
        </p:txBody>
      </p:sp>
      <p:sp>
        <p:nvSpPr>
          <p:cNvPr id="19" name="AutoShape 15"/>
          <p:cNvSpPr/>
          <p:nvPr/>
        </p:nvSpPr>
        <p:spPr>
          <a:xfrm>
            <a:off x="7858125" y="1360805"/>
            <a:ext cx="3378200" cy="1905000"/>
          </a:xfrm>
          <a:prstGeom prst="roundRect">
            <a:avLst>
              <a:gd name="adj" fmla="val 0"/>
            </a:avLst>
          </a:prstGeom>
          <a:solidFill>
            <a:srgbClr val="4FD1C5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0" name="AutoShape 18"/>
          <p:cNvSpPr/>
          <p:nvPr/>
        </p:nvSpPr>
        <p:spPr>
          <a:xfrm>
            <a:off x="8493125" y="1589405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神经功能显著改善</a:t>
            </a:r>
            <a:endParaRPr lang="en-US" sz="1100"/>
          </a:p>
        </p:txBody>
      </p:sp>
      <p:sp>
        <p:nvSpPr>
          <p:cNvPr id="21" name="AutoShape 19"/>
          <p:cNvSpPr/>
          <p:nvPr/>
        </p:nvSpPr>
        <p:spPr>
          <a:xfrm>
            <a:off x="8061325" y="2122805"/>
            <a:ext cx="2971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7例患者术后神经功能分级较术前改善Ⅰ~Ⅱ级，肌力、感觉及括约肌功能均有恢复，生活自理。</a:t>
            </a:r>
            <a:endParaRPr lang="en-US" sz="1100"/>
          </a:p>
        </p:txBody>
      </p:sp>
      <p:pic>
        <p:nvPicPr>
          <p:cNvPr id="22" name="Picture 17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1325" y="1614805"/>
            <a:ext cx="355600" cy="355600"/>
          </a:xfrm>
          <a:prstGeom prst="rect">
            <a:avLst/>
          </a:prstGeom>
        </p:spPr>
      </p:pic>
      <p:sp>
        <p:nvSpPr>
          <p:cNvPr id="23" name="AutoShape 5"/>
          <p:cNvSpPr/>
          <p:nvPr/>
        </p:nvSpPr>
        <p:spPr>
          <a:xfrm>
            <a:off x="579120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4" name="AutoShape 10"/>
          <p:cNvSpPr/>
          <p:nvPr/>
        </p:nvSpPr>
        <p:spPr>
          <a:xfrm>
            <a:off x="4213225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5" name="AutoShape 15"/>
          <p:cNvSpPr/>
          <p:nvPr/>
        </p:nvSpPr>
        <p:spPr>
          <a:xfrm>
            <a:off x="7858125" y="1357630"/>
            <a:ext cx="3378200" cy="1905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/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治疗结果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" name="AutoShape 5"/>
          <p:cNvSpPr/>
          <p:nvPr/>
        </p:nvSpPr>
        <p:spPr>
          <a:xfrm>
            <a:off x="719455" y="1588770"/>
            <a:ext cx="5207000" cy="3937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5" name="Picture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455" y="1842770"/>
            <a:ext cx="304800" cy="304800"/>
          </a:xfrm>
          <a:prstGeom prst="rect">
            <a:avLst/>
          </a:prstGeom>
        </p:spPr>
      </p:pic>
      <p:sp>
        <p:nvSpPr>
          <p:cNvPr id="36" name="AutoShape 7"/>
          <p:cNvSpPr/>
          <p:nvPr/>
        </p:nvSpPr>
        <p:spPr>
          <a:xfrm>
            <a:off x="1417955" y="181737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术后并发症观察</a:t>
            </a:r>
            <a:endParaRPr lang="en-US" sz="1100"/>
          </a:p>
        </p:txBody>
      </p:sp>
      <p:cxnSp>
        <p:nvCxnSpPr>
          <p:cNvPr id="37" name="Connector 8"/>
          <p:cNvCxnSpPr/>
          <p:nvPr/>
        </p:nvCxnSpPr>
        <p:spPr>
          <a:xfrm rot="-9291">
            <a:off x="973464" y="234442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noFill/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AutoShape 9"/>
          <p:cNvSpPr/>
          <p:nvPr/>
        </p:nvSpPr>
        <p:spPr>
          <a:xfrm>
            <a:off x="973455" y="254127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01. 2例高度恶性肿瘤的特殊干预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针对2例高度恶性肿瘤患者，术后因呼吸困难接受了气管切开术以维持呼吸通畅，这是针对该类复杂病例的必要术后支持手段。</a:t>
            </a:r>
            <a:endParaRPr lang="en-US" sz="1100"/>
          </a:p>
        </p:txBody>
      </p:sp>
      <p:sp>
        <p:nvSpPr>
          <p:cNvPr id="39" name="AutoShape 10"/>
          <p:cNvSpPr/>
          <p:nvPr/>
        </p:nvSpPr>
        <p:spPr>
          <a:xfrm>
            <a:off x="973455" y="406527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02. 总体并发症控制良好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除上述特殊病例外，其余患者术后均未出现颅内感染、大出血、重要神经功能永久性损伤等严重手术相关并发症，恢复过程平稳可控。</a:t>
            </a:r>
            <a:endParaRPr lang="en-US" sz="1100"/>
          </a:p>
        </p:txBody>
      </p:sp>
      <p:sp>
        <p:nvSpPr>
          <p:cNvPr id="40" name="AutoShape 11"/>
          <p:cNvSpPr/>
          <p:nvPr/>
        </p:nvSpPr>
        <p:spPr>
          <a:xfrm>
            <a:off x="6180455" y="1588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1" name="Picture 1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4455" y="1817370"/>
            <a:ext cx="279400" cy="279400"/>
          </a:xfrm>
          <a:prstGeom prst="rect">
            <a:avLst/>
          </a:prstGeom>
        </p:spPr>
      </p:pic>
      <p:sp>
        <p:nvSpPr>
          <p:cNvPr id="42" name="AutoShape 13"/>
          <p:cNvSpPr/>
          <p:nvPr/>
        </p:nvSpPr>
        <p:spPr>
          <a:xfrm>
            <a:off x="6840855" y="1791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随访周期：6个月 — 24个月</a:t>
            </a:r>
            <a:endParaRPr lang="en-US" sz="1100"/>
          </a:p>
        </p:txBody>
      </p:sp>
      <p:sp>
        <p:nvSpPr>
          <p:cNvPr id="43" name="AutoShape 14"/>
          <p:cNvSpPr/>
          <p:nvPr/>
        </p:nvSpPr>
        <p:spPr>
          <a:xfrm>
            <a:off x="6434455" y="2287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涵盖术后短期恢复与中期疗效评估，所有患者均完成完整随访，无失访情况，数据真实反映了术后长期的临床转归。</a:t>
            </a:r>
            <a:endParaRPr lang="en-US" sz="1100"/>
          </a:p>
        </p:txBody>
      </p:sp>
      <p:sp>
        <p:nvSpPr>
          <p:cNvPr id="44" name="AutoShape 15"/>
          <p:cNvSpPr/>
          <p:nvPr/>
        </p:nvSpPr>
        <p:spPr>
          <a:xfrm>
            <a:off x="6180455" y="2985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cap="flat" cmpd="sng">
            <a:solidFill>
              <a:srgbClr val="33B7A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5" name="Picture 1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34455" y="3214370"/>
            <a:ext cx="279400" cy="279400"/>
          </a:xfrm>
          <a:prstGeom prst="rect">
            <a:avLst/>
          </a:prstGeom>
        </p:spPr>
      </p:pic>
      <p:sp>
        <p:nvSpPr>
          <p:cNvPr id="46" name="AutoShape 17"/>
          <p:cNvSpPr/>
          <p:nvPr/>
        </p:nvSpPr>
        <p:spPr>
          <a:xfrm>
            <a:off x="6840855" y="3188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肿瘤全切组：0 复发率</a:t>
            </a:r>
            <a:endParaRPr lang="en-US" sz="1100"/>
          </a:p>
        </p:txBody>
      </p:sp>
      <p:sp>
        <p:nvSpPr>
          <p:cNvPr id="47" name="AutoShape 18"/>
          <p:cNvSpPr/>
          <p:nvPr/>
        </p:nvSpPr>
        <p:spPr>
          <a:xfrm>
            <a:off x="6434455" y="3684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7例实现肿瘤肉眼全切的患者，术后影像学复查（增强MRI/CT）均未发现肿瘤残余或复发迹象，病灶局部控制效果显著。</a:t>
            </a:r>
            <a:endParaRPr lang="en-US" sz="1100"/>
          </a:p>
        </p:txBody>
      </p:sp>
      <p:sp>
        <p:nvSpPr>
          <p:cNvPr id="48" name="AutoShape 19"/>
          <p:cNvSpPr/>
          <p:nvPr/>
        </p:nvSpPr>
        <p:spPr>
          <a:xfrm>
            <a:off x="6180455" y="4382770"/>
            <a:ext cx="5207000" cy="1206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9" name="Picture 20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34455" y="4611370"/>
            <a:ext cx="279400" cy="279400"/>
          </a:xfrm>
          <a:prstGeom prst="rect">
            <a:avLst/>
          </a:prstGeom>
        </p:spPr>
      </p:pic>
      <p:sp>
        <p:nvSpPr>
          <p:cNvPr id="50" name="AutoShape 21"/>
          <p:cNvSpPr/>
          <p:nvPr/>
        </p:nvSpPr>
        <p:spPr>
          <a:xfrm>
            <a:off x="6840855" y="458597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核心发现：恶性程度决定预后</a:t>
            </a:r>
            <a:endParaRPr lang="en-US" sz="1100"/>
          </a:p>
        </p:txBody>
      </p:sp>
      <p:sp>
        <p:nvSpPr>
          <p:cNvPr id="51" name="AutoShape 22"/>
          <p:cNvSpPr/>
          <p:nvPr/>
        </p:nvSpPr>
        <p:spPr>
          <a:xfrm>
            <a:off x="6434455" y="5081270"/>
            <a:ext cx="4699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2例次全切患者均为胶质母细胞瘤、精原细胞瘤等高度恶性肿瘤，预后较差（1例截瘫，1例死亡），有力证实了肿瘤的病理恶性程度是影响患者预后的决定性因素。</a:t>
            </a:r>
            <a:endParaRPr lang="en-US" sz="1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5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5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5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5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59" name="标题 1"/>
          <p:cNvSpPr txBox="1"/>
          <p:nvPr/>
        </p:nvSpPr>
        <p:spPr bwMode="auto">
          <a:xfrm>
            <a:off x="308466" y="22467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一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0" name="textbox 86"/>
          <p:cNvSpPr/>
          <p:nvPr/>
        </p:nvSpPr>
        <p:spPr>
          <a:xfrm>
            <a:off x="838403" y="1267726"/>
            <a:ext cx="10515600" cy="4614545"/>
          </a:xfrm>
          <a:prstGeom prst="rect">
            <a:avLst/>
          </a:prstGeom>
          <a:solidFill>
            <a:srgbClr val="FFFFFF">
              <a:alpha val="8509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张某霞 女 38岁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“左上肢麻木伴乏力一年余，加重半年”入院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en-US" altLang="zh-CN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阳性体征：左上肢浅感觉减退，左上肢近端肌力4级远端肌力3</a:t>
            </a:r>
            <a:r>
              <a:rPr lang="en-US" altLang="zh-CN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级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5120" indent="-212725" algn="l" rtl="0" eaLnBrk="0">
              <a:lnSpc>
                <a:spcPct val="119000"/>
              </a:lnSpc>
              <a:spcBef>
                <a:spcPts val="3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 2018.3.17北京天坛医院颈椎MR平扫+增强提示：颈2段脊髓内占位性病变（伴延髓至胸段脊髓空洞），血管网织细胞瘤可能性大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6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6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6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6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6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6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术前CTA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9" name="textbox 94"/>
          <p:cNvSpPr/>
          <p:nvPr/>
        </p:nvSpPr>
        <p:spPr>
          <a:xfrm rot="21600000">
            <a:off x="675640" y="1886585"/>
            <a:ext cx="9790430" cy="2773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43535" indent="168910" algn="l" rtl="0" eaLnBrk="0">
              <a:lnSpc>
                <a:spcPct val="140000"/>
              </a:lnSpc>
              <a:spcBef>
                <a:spcPts val="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3535" indent="168910" algn="l" rtl="0" eaLnBrk="0">
              <a:lnSpc>
                <a:spcPct val="14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颈2椎管水平见一大小约24.0mm×12.9mm明显强化软组织肿块，其后、上缘见迂曲增粗血管影 , 肿块由双侧脊髓后动脉供血；余颅内动脉无狭窄及扩张改变，管壁未见明显异常密度影。颈2椎管水平肿块由双侧脊髓后动脉供血。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72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73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74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5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6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77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术前CTA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8" name="picture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9580" y="1029970"/>
            <a:ext cx="10570210" cy="529653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8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8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8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8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手术视频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" name="1-高颈段血网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50875" y="1025525"/>
            <a:ext cx="9815195" cy="5098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8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8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8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8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7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83285" y="1377315"/>
            <a:ext cx="9893300" cy="4817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9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9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9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9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9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二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7" name="textbox 162"/>
          <p:cNvSpPr/>
          <p:nvPr/>
        </p:nvSpPr>
        <p:spPr>
          <a:xfrm>
            <a:off x="838200" y="1825625"/>
            <a:ext cx="10823575" cy="3620135"/>
          </a:xfrm>
          <a:prstGeom prst="rect">
            <a:avLst/>
          </a:prstGeom>
          <a:solidFill>
            <a:srgbClr val="FFFFFF">
              <a:alpha val="82745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17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患者周某 女 48岁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15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因“左上肢麻木半年余，加重伴右上肢麻木半月余”入院。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35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2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阳性体征：双上肢感觉减退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 algn="l" rtl="0" eaLnBrk="0">
              <a:lnSpc>
                <a:spcPct val="137000"/>
              </a:lnSpc>
              <a:spcBef>
                <a:spcPts val="40"/>
              </a:spcBef>
              <a:buClr>
                <a:srgbClr val="2F5597"/>
              </a:buClr>
              <a:buSzPct val="65000"/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2018.6.2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外院颈髓MRI提示:颈髓占位性病变，颈椎</a:t>
            </a:r>
            <a:r>
              <a:rPr lang="zh-CN" altLang="en-US" sz="2800" b="1" spc="0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退行性变，颈2/3、4/5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椎间盘突出。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0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0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0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0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0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0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06" name="Picture 2" descr="G:\123\周芹1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0210" y="1203325"/>
            <a:ext cx="417195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7" name="Picture 2" descr="G:\123\周芹5.bmp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5934825" y="1196975"/>
            <a:ext cx="4040187" cy="4883150"/>
          </a:xfr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1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1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1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1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" name="图片 1" descr="捕获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25" y="1412875"/>
            <a:ext cx="9958705" cy="48399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2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2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2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2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2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2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CT</a:t>
            </a:r>
            <a:endParaRPr lang="en-US" altLang="zh-CN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26" name="picture 1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969000" y="1484757"/>
            <a:ext cx="4690871" cy="4841748"/>
          </a:xfrm>
          <a:prstGeom prst="rect">
            <a:avLst/>
          </a:prstGeom>
        </p:spPr>
      </p:pic>
      <p:pic>
        <p:nvPicPr>
          <p:cNvPr id="127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2199" y="1489329"/>
            <a:ext cx="4468367" cy="483717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41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4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4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44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4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146" name="picture 1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479422"/>
            <a:ext cx="12192000" cy="437540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4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5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5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5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5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54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三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5" name="textbox 352"/>
          <p:cNvSpPr/>
          <p:nvPr/>
        </p:nvSpPr>
        <p:spPr>
          <a:xfrm>
            <a:off x="838200" y="1825752"/>
            <a:ext cx="10529569" cy="3040379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2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2395" algn="l" rtl="0" eaLnBrk="0">
              <a:lnSpc>
                <a:spcPct val="146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患者赵某 女  26岁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  <a:spcBef>
                <a:spcPts val="4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因“突发颈部疼痛2月加重20天余”入院。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  <a:spcBef>
                <a:spcPts val="35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既往体健。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1310" indent="-208915" algn="l" rtl="0" eaLnBrk="0">
              <a:lnSpc>
                <a:spcPct val="146000"/>
              </a:lnSpc>
              <a:spcBef>
                <a:spcPts val="6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阳性体征：左侧远端肌力Ⅴ级，近端肌力Ⅲ级，下肢肌力Ⅴ级。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咸宁市中医院MRI平扫：颈2-3椎管内占位性病变。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内容占位符 3" descr="捕获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11220" y="1129665"/>
            <a:ext cx="5228590" cy="5076190"/>
          </a:xfrm>
          <a:prstGeom prst="rect">
            <a:avLst/>
          </a:prstGeom>
        </p:spPr>
      </p:pic>
      <p:sp>
        <p:nvSpPr>
          <p:cNvPr id="158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59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0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61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62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63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64" name="图形 2" descr="大脑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65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6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6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7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7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7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7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病情变化</a:t>
            </a:r>
            <a:endParaRPr lang="zh-CN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4" name="textbox 366"/>
          <p:cNvSpPr/>
          <p:nvPr/>
        </p:nvSpPr>
        <p:spPr>
          <a:xfrm>
            <a:off x="838200" y="1825625"/>
            <a:ext cx="10755630" cy="2724150"/>
          </a:xfrm>
          <a:prstGeom prst="rect">
            <a:avLst/>
          </a:prstGeom>
          <a:solidFill>
            <a:srgbClr val="FFFFFF">
              <a:alpha val="81176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322580" indent="-207010" algn="l" rtl="0" eaLnBrk="0">
              <a:lnSpc>
                <a:spcPct val="163000"/>
              </a:lnSpc>
              <a:spcBef>
                <a:spcPts val="0"/>
              </a:spcBef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22580" indent="-207010" algn="l" rtl="0" eaLnBrk="0">
              <a:lnSpc>
                <a:spcPct val="163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患者入院后肌力障碍逐渐加重，一周后右侧C2水平以下浅感觉减退，温度觉减退，左上肢肌力0级，左下肢肌力Ⅲ级，双下肢病理征阳性，并出现呼吸障碍，遂行急诊手术。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内容占位符 3" descr="捕获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49015" y="1053465"/>
            <a:ext cx="5266690" cy="5137150"/>
          </a:xfrm>
          <a:prstGeom prst="rect">
            <a:avLst/>
          </a:prstGeom>
        </p:spPr>
      </p:pic>
      <p:sp>
        <p:nvSpPr>
          <p:cNvPr id="177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7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7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80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8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8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83" name="图形 2" descr="大脑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8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8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8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8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9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9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192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四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3" name="textbox 352"/>
          <p:cNvSpPr/>
          <p:nvPr/>
        </p:nvSpPr>
        <p:spPr>
          <a:xfrm>
            <a:off x="838200" y="1825625"/>
            <a:ext cx="10529570" cy="3681095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2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患者，女性，19岁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左侧肢体麻木两月余入院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indent="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</a:t>
            </a: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头颈部MR显示：颅颈交界处海绵状血管瘤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69595" indent="-457200" algn="l" rtl="0" eaLnBrk="0">
              <a:lnSpc>
                <a:spcPct val="146000"/>
              </a:lnSpc>
              <a:spcBef>
                <a:spcPts val="40"/>
              </a:spcBef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19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9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19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19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0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0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02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03" name="内容占位符 3" descr="屏幕截图 2025-08-05 095814"/>
          <p:cNvPicPr/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4975" y="1906270"/>
            <a:ext cx="4104005" cy="3302635"/>
          </a:xfrm>
          <a:prstGeom prst="rect">
            <a:avLst/>
          </a:prstGeom>
        </p:spPr>
      </p:pic>
      <p:pic>
        <p:nvPicPr>
          <p:cNvPr id="204" name="内容占位符 3" descr="屏幕截图 2025-08-05 095327"/>
          <p:cNvPicPr/>
          <p:nvPr/>
        </p:nvPicPr>
        <p:blipFill>
          <a:blip r:embed="rId4"/>
          <a:stretch>
            <a:fillRect/>
          </a:stretch>
        </p:blipFill>
        <p:spPr>
          <a:xfrm>
            <a:off x="6506210" y="1906270"/>
            <a:ext cx="4104005" cy="330263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0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0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0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1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1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1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1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手术体位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14" name="内容占位符 3" descr="微信图片_20250804110106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5970" y="1397000"/>
            <a:ext cx="7710805" cy="467804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2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2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2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3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3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3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3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34" name="内容占位符 3" descr="屏幕截图 2025-08-05 104515 (1)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31135" y="1189990"/>
            <a:ext cx="6120130" cy="495490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53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4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55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56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57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58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59" name="标题 1"/>
          <p:cNvSpPr txBox="1"/>
          <p:nvPr/>
        </p:nvSpPr>
        <p:spPr bwMode="auto">
          <a:xfrm>
            <a:off x="425941" y="18911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病理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60" name="内容占位符 3" descr="微信图片_20250804110115"/>
          <p:cNvPicPr>
            <a:picLocks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75760" y="1189990"/>
            <a:ext cx="3840480" cy="513715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6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6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6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6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6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68" name="标题 1"/>
          <p:cNvSpPr txBox="1"/>
          <p:nvPr/>
        </p:nvSpPr>
        <p:spPr bwMode="auto">
          <a:xfrm>
            <a:off x="302116" y="183404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病例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五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69" name="textbox 352"/>
          <p:cNvSpPr/>
          <p:nvPr/>
        </p:nvSpPr>
        <p:spPr>
          <a:xfrm>
            <a:off x="838200" y="1825752"/>
            <a:ext cx="10529569" cy="3040379"/>
          </a:xfrm>
          <a:prstGeom prst="rect">
            <a:avLst/>
          </a:prstGeom>
          <a:solidFill>
            <a:srgbClr val="FFFFFF">
              <a:alpha val="83529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marL="112395" algn="l" rtl="0" eaLnBrk="0">
              <a:lnSpc>
                <a:spcPct val="146000"/>
              </a:lnSpc>
            </a:pP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患者吕某 男  42岁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因“肩颈部僵硬伴随双上肢麻木6月余”入院。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2026.3.26行颈椎前路椎间盘切除术+植骨融合术。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12395" algn="l" rtl="0" eaLnBrk="0">
              <a:lnSpc>
                <a:spcPct val="146000"/>
              </a:lnSpc>
            </a:pPr>
            <a:r>
              <a:rPr lang="zh-CN" altLang="en-US" sz="2800" b="1" dirty="0">
                <a:solidFill>
                  <a:srgbClr val="1E3D7A"/>
                </a:solidFill>
                <a:latin typeface="微软雅黑" panose="020B0503020204020204" charset="-122"/>
                <a:ea typeface="微软雅黑" panose="020B0503020204020204" charset="-122"/>
              </a:rPr>
              <a:t>• 同济医院MRI平扫：颈椎前路术后，颈髓内占位性病变。</a:t>
            </a:r>
            <a:endParaRPr lang="zh-CN" altLang="en-US" sz="2800" b="1" dirty="0">
              <a:solidFill>
                <a:srgbClr val="1E3D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72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73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74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75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76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77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78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术前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79" name="图片 3" descr="屏幕截图 2026-08-10 151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45" y="1397635"/>
            <a:ext cx="3600000" cy="4320000"/>
          </a:xfrm>
          <a:prstGeom prst="rect">
            <a:avLst/>
          </a:prstGeom>
        </p:spPr>
      </p:pic>
      <p:pic>
        <p:nvPicPr>
          <p:cNvPr id="280" name="图片 5" descr="屏幕截图 2026-08-10 151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505" y="1397635"/>
            <a:ext cx="3599815" cy="4320000"/>
          </a:xfrm>
          <a:prstGeom prst="rect">
            <a:avLst/>
          </a:prstGeom>
        </p:spPr>
      </p:pic>
      <p:pic>
        <p:nvPicPr>
          <p:cNvPr id="281" name="图片 10" descr="屏幕截图 2026-08-10 1509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3580" y="1397635"/>
            <a:ext cx="3599815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8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8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8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8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8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290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手术体位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91" name="图片 4" descr="8477214e6f953673e972a0520efe47f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70" y="1179830"/>
            <a:ext cx="9147175" cy="497522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29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29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29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9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29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00" name="标题 1"/>
          <p:cNvSpPr txBox="1"/>
          <p:nvPr/>
        </p:nvSpPr>
        <p:spPr bwMode="auto">
          <a:xfrm>
            <a:off x="308466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术中电生理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监测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01" name="图片 15" descr="b7f77941224fc9f077ae257e25d6e4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860" y="995045"/>
            <a:ext cx="432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314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15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16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17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18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19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20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en-US" altLang="zh-CN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MRI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21" name="图片 3" descr="屏幕截图 2026-08-10 1514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1536065"/>
            <a:ext cx="3600000" cy="4320000"/>
          </a:xfrm>
          <a:prstGeom prst="rect">
            <a:avLst/>
          </a:prstGeom>
        </p:spPr>
      </p:pic>
      <p:pic>
        <p:nvPicPr>
          <p:cNvPr id="322" name="图片 5" descr="屏幕截图 2026-08-10 1515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960" y="1507490"/>
            <a:ext cx="3599815" cy="4320000"/>
          </a:xfrm>
          <a:prstGeom prst="rect">
            <a:avLst/>
          </a:prstGeom>
        </p:spPr>
      </p:pic>
      <p:pic>
        <p:nvPicPr>
          <p:cNvPr id="323" name="图片 4" descr="屏幕截图 2026-08-10 151232"/>
          <p:cNvPicPr/>
          <p:nvPr/>
        </p:nvPicPr>
        <p:blipFill>
          <a:blip r:embed="rId5"/>
          <a:stretch>
            <a:fillRect/>
          </a:stretch>
        </p:blipFill>
        <p:spPr>
          <a:xfrm>
            <a:off x="8502835" y="1536065"/>
            <a:ext cx="3599815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326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27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28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29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30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31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32" name="标题 1"/>
          <p:cNvSpPr txBox="1"/>
          <p:nvPr/>
        </p:nvSpPr>
        <p:spPr bwMode="auto">
          <a:xfrm>
            <a:off x="425941" y="18911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12700" algn="l" rtl="0" eaLnBrk="0">
              <a:lnSpc>
                <a:spcPct val="91000"/>
              </a:lnSpc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术后</a:t>
            </a: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病理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333" name="图片 4" descr="屏幕截图 2026-08-10 1518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145" y="1042035"/>
            <a:ext cx="4319905" cy="528447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36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37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38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39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40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41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42" name="AutoShape 5"/>
          <p:cNvSpPr/>
          <p:nvPr/>
        </p:nvSpPr>
        <p:spPr>
          <a:xfrm>
            <a:off x="5791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" y="1822450"/>
            <a:ext cx="457200" cy="457200"/>
          </a:xfrm>
          <a:prstGeom prst="rect">
            <a:avLst/>
          </a:prstGeom>
        </p:spPr>
      </p:pic>
      <p:sp>
        <p:nvSpPr>
          <p:cNvPr id="344" name="AutoShape 7"/>
          <p:cNvSpPr/>
          <p:nvPr/>
        </p:nvSpPr>
        <p:spPr>
          <a:xfrm>
            <a:off x="14173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解剖风险极高</a:t>
            </a:r>
            <a:endParaRPr lang="en-US" sz="1100"/>
          </a:p>
        </p:txBody>
      </p:sp>
      <p:cxnSp>
        <p:nvCxnSpPr>
          <p:cNvPr id="345" name="Connector 8"/>
          <p:cNvCxnSpPr/>
          <p:nvPr/>
        </p:nvCxnSpPr>
        <p:spPr>
          <a:xfrm rot="-15211">
            <a:off x="8331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6" name="AutoShape 9"/>
          <p:cNvSpPr/>
          <p:nvPr/>
        </p:nvSpPr>
        <p:spPr>
          <a:xfrm>
            <a:off x="833120" y="264795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脊髓纤细脆弱，紧邻延髓等生命中枢，是呼吸、心跳等基本生命活动的调控枢纽。该区域手术操作空间狭小，任何细微的器械触碰或牵拉，都可能引发呼吸骤停、心跳紊乱等致命风险，手术操作的容错率极低。</a:t>
            </a:r>
            <a:endParaRPr lang="en-US" sz="1100"/>
          </a:p>
        </p:txBody>
      </p:sp>
      <p:sp>
        <p:nvSpPr>
          <p:cNvPr id="347" name="AutoShape 10"/>
          <p:cNvSpPr/>
          <p:nvPr/>
        </p:nvSpPr>
        <p:spPr>
          <a:xfrm>
            <a:off x="42240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8" name="Picture 1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8020" y="1822450"/>
            <a:ext cx="457200" cy="457200"/>
          </a:xfrm>
          <a:prstGeom prst="rect">
            <a:avLst/>
          </a:prstGeom>
        </p:spPr>
      </p:pic>
      <p:sp>
        <p:nvSpPr>
          <p:cNvPr id="349" name="AutoShape 12"/>
          <p:cNvSpPr/>
          <p:nvPr/>
        </p:nvSpPr>
        <p:spPr>
          <a:xfrm>
            <a:off x="50622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手术边界难判定</a:t>
            </a:r>
            <a:endParaRPr lang="en-US" sz="1100"/>
          </a:p>
        </p:txBody>
      </p:sp>
      <p:cxnSp>
        <p:nvCxnSpPr>
          <p:cNvPr id="350" name="Connector 13"/>
          <p:cNvCxnSpPr/>
          <p:nvPr/>
        </p:nvCxnSpPr>
        <p:spPr>
          <a:xfrm rot="-15211">
            <a:off x="44780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1" name="AutoShape 15"/>
          <p:cNvSpPr/>
          <p:nvPr/>
        </p:nvSpPr>
        <p:spPr>
          <a:xfrm>
            <a:off x="7868920" y="1504950"/>
            <a:ext cx="3378200" cy="3429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52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2920" y="1822450"/>
            <a:ext cx="457200" cy="457200"/>
          </a:xfrm>
          <a:prstGeom prst="rect">
            <a:avLst/>
          </a:prstGeom>
        </p:spPr>
      </p:pic>
      <p:sp>
        <p:nvSpPr>
          <p:cNvPr id="353" name="AutoShape 17"/>
          <p:cNvSpPr/>
          <p:nvPr/>
        </p:nvSpPr>
        <p:spPr>
          <a:xfrm>
            <a:off x="8707120" y="182245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术后并发症多</a:t>
            </a:r>
            <a:endParaRPr lang="en-US" sz="1100"/>
          </a:p>
        </p:txBody>
      </p:sp>
      <p:cxnSp>
        <p:nvCxnSpPr>
          <p:cNvPr id="354" name="Connector 18"/>
          <p:cNvCxnSpPr/>
          <p:nvPr/>
        </p:nvCxnSpPr>
        <p:spPr>
          <a:xfrm rot="-15211">
            <a:off x="8122934" y="245110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AutoShape 19"/>
          <p:cNvSpPr/>
          <p:nvPr/>
        </p:nvSpPr>
        <p:spPr>
          <a:xfrm>
            <a:off x="8122920" y="264795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后可能出现呼吸功能障碍、四肢瘫痪加重、脑脊液漏、脊柱失稳及肺部感染等多种并发症。这些并发症不仅会严重影响患者的术后恢复，甚至可能危及生命，对围手术期的监测、呼吸支持、神经功能保护及康复管理提出了极高的要求。</a:t>
            </a:r>
            <a:endParaRPr lang="en-US" sz="1100"/>
          </a:p>
        </p:txBody>
      </p:sp>
      <p:sp>
        <p:nvSpPr>
          <p:cNvPr id="356" name="AutoShape 20"/>
          <p:cNvSpPr/>
          <p:nvPr/>
        </p:nvSpPr>
        <p:spPr>
          <a:xfrm>
            <a:off x="579120" y="5124450"/>
            <a:ext cx="10668000" cy="7112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57" name="AutoShape 21"/>
          <p:cNvSpPr/>
          <p:nvPr/>
        </p:nvSpPr>
        <p:spPr>
          <a:xfrm>
            <a:off x="833120" y="523875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核心挑战：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高颈段髓内肿瘤的诊疗是神经外科领域的难点，不仅需要精湛的显微外科技术，更依赖多学科团队的协同配合，以平衡肿瘤切除与神经功能保护。</a:t>
            </a:r>
            <a:endParaRPr lang="en-US" sz="1100"/>
          </a:p>
        </p:txBody>
      </p:sp>
      <p:sp>
        <p:nvSpPr>
          <p:cNvPr id="358" name="AutoShape 14"/>
          <p:cNvSpPr/>
          <p:nvPr/>
        </p:nvSpPr>
        <p:spPr>
          <a:xfrm>
            <a:off x="4478020" y="266827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对于星形细胞瘤等浸润性生长的肿瘤，其无明确包膜，与正常脊髓组织呈“犬牙交错”的浸润状态，边界肉眼难以精准辨识。过度追求全切极易损伤正常脊髓组织，导致永久性神经功能缺损；而保守切除则易残留肿瘤组织，为术后复发埋下隐患。</a:t>
            </a:r>
            <a:endParaRPr lang="en-US" sz="11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"/>
        <p:cNvGrpSpPr/>
        <p:nvPr/>
      </p:nvGrpSpPr>
      <p:grpSpPr>
        <a:xfrm rot="0">
          <a:off x="-9223372036854775808" y="-9223372036854775808"/>
          <a:ext cx="0" cy="0"/>
          <a:chOff x="0" y="6361043"/>
          <a:chExt cx="10465904" cy="0"/>
        </a:xfrm>
      </p:grpSpPr>
      <p:cxnSp>
        <p:nvCxnSpPr>
          <p:cNvPr id="360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61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362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363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64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365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366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67" name="AutoShape 5"/>
          <p:cNvSpPr/>
          <p:nvPr/>
        </p:nvSpPr>
        <p:spPr>
          <a:xfrm>
            <a:off x="374650" y="1274445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提升手术疗效的核心要素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68" name="AutoShape 6"/>
          <p:cNvSpPr/>
          <p:nvPr/>
        </p:nvSpPr>
        <p:spPr>
          <a:xfrm>
            <a:off x="374650" y="190944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结合临床实践与研究成果，精准评估、微创技术、术中监测与围术期管理构成了高颈段髓内肿瘤手术成功的关键闭环，四者环环相扣，共同构筑了治疗成功的坚实基础。</a:t>
            </a:r>
            <a:endParaRPr lang="en-US" sz="1100"/>
          </a:p>
        </p:txBody>
      </p:sp>
      <p:sp>
        <p:nvSpPr>
          <p:cNvPr id="369" name="AutoShape 7"/>
          <p:cNvSpPr/>
          <p:nvPr/>
        </p:nvSpPr>
        <p:spPr>
          <a:xfrm>
            <a:off x="374650" y="27349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70" name="AutoShape 8"/>
          <p:cNvSpPr/>
          <p:nvPr/>
        </p:nvSpPr>
        <p:spPr>
          <a:xfrm>
            <a:off x="374650" y="27349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71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2925445"/>
            <a:ext cx="406400" cy="406400"/>
          </a:xfrm>
          <a:prstGeom prst="rect">
            <a:avLst/>
          </a:prstGeom>
        </p:spPr>
      </p:pic>
      <p:sp>
        <p:nvSpPr>
          <p:cNvPr id="372" name="AutoShape 10"/>
          <p:cNvSpPr/>
          <p:nvPr/>
        </p:nvSpPr>
        <p:spPr>
          <a:xfrm>
            <a:off x="1238250" y="29254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01 精准的术前评估</a:t>
            </a:r>
            <a:endParaRPr lang="en-US" sz="1100"/>
          </a:p>
        </p:txBody>
      </p:sp>
      <p:sp>
        <p:nvSpPr>
          <p:cNvPr id="373" name="AutoShape 11"/>
          <p:cNvSpPr/>
          <p:nvPr/>
        </p:nvSpPr>
        <p:spPr>
          <a:xfrm>
            <a:off x="1238250" y="33318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手术成功的前提与基石，通过影像学精准定位与神经功能全面评估，制定个体化手术方案，从源头预判并规避潜在风险。</a:t>
            </a:r>
            <a:endParaRPr lang="en-US" sz="1100"/>
          </a:p>
        </p:txBody>
      </p:sp>
      <p:sp>
        <p:nvSpPr>
          <p:cNvPr id="374" name="AutoShape 12"/>
          <p:cNvSpPr/>
          <p:nvPr/>
        </p:nvSpPr>
        <p:spPr>
          <a:xfrm>
            <a:off x="5835650" y="27349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75" name="AutoShape 13"/>
          <p:cNvSpPr/>
          <p:nvPr/>
        </p:nvSpPr>
        <p:spPr>
          <a:xfrm>
            <a:off x="5835650" y="27349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76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450" y="2925445"/>
            <a:ext cx="406400" cy="406400"/>
          </a:xfrm>
          <a:prstGeom prst="rect">
            <a:avLst/>
          </a:prstGeom>
        </p:spPr>
      </p:pic>
      <p:sp>
        <p:nvSpPr>
          <p:cNvPr id="377" name="AutoShape 15"/>
          <p:cNvSpPr/>
          <p:nvPr/>
        </p:nvSpPr>
        <p:spPr>
          <a:xfrm>
            <a:off x="6699250" y="29254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02 微创的显微手术技术</a:t>
            </a:r>
            <a:endParaRPr lang="en-US" sz="1100"/>
          </a:p>
        </p:txBody>
      </p:sp>
      <p:sp>
        <p:nvSpPr>
          <p:cNvPr id="378" name="AutoShape 16"/>
          <p:cNvSpPr/>
          <p:nvPr/>
        </p:nvSpPr>
        <p:spPr>
          <a:xfrm>
            <a:off x="6699250" y="33318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以最小创伤换取最大疗效，借助神经显微镜实现毫米级精准操作，最大限度保护脊髓与神经根，维持脊柱的解剖与功能稳定性。</a:t>
            </a:r>
            <a:endParaRPr lang="en-US" sz="1100"/>
          </a:p>
        </p:txBody>
      </p:sp>
      <p:sp>
        <p:nvSpPr>
          <p:cNvPr id="379" name="AutoShape 17"/>
          <p:cNvSpPr/>
          <p:nvPr/>
        </p:nvSpPr>
        <p:spPr>
          <a:xfrm>
            <a:off x="374650" y="44494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80" name="AutoShape 18"/>
          <p:cNvSpPr/>
          <p:nvPr/>
        </p:nvSpPr>
        <p:spPr>
          <a:xfrm>
            <a:off x="374650" y="44494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81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4639945"/>
            <a:ext cx="406400" cy="406400"/>
          </a:xfrm>
          <a:prstGeom prst="rect">
            <a:avLst/>
          </a:prstGeom>
        </p:spPr>
      </p:pic>
      <p:sp>
        <p:nvSpPr>
          <p:cNvPr id="382" name="AutoShape 20"/>
          <p:cNvSpPr/>
          <p:nvPr/>
        </p:nvSpPr>
        <p:spPr>
          <a:xfrm>
            <a:off x="1238250" y="46399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03 多模态术中监测</a:t>
            </a:r>
            <a:endParaRPr lang="en-US" sz="1100"/>
          </a:p>
        </p:txBody>
      </p:sp>
      <p:sp>
        <p:nvSpPr>
          <p:cNvPr id="383" name="AutoShape 21"/>
          <p:cNvSpPr/>
          <p:nvPr/>
        </p:nvSpPr>
        <p:spPr>
          <a:xfrm>
            <a:off x="1238250" y="50463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手术安全的“保护神”，通过体感诱发电位等技术实现神经功能的实时预警，避免不可逆的神经损伤，是提升手术安全性的核心保障。</a:t>
            </a:r>
            <a:endParaRPr lang="en-US" sz="1100"/>
          </a:p>
        </p:txBody>
      </p:sp>
      <p:sp>
        <p:nvSpPr>
          <p:cNvPr id="384" name="AutoShape 22"/>
          <p:cNvSpPr/>
          <p:nvPr/>
        </p:nvSpPr>
        <p:spPr>
          <a:xfrm>
            <a:off x="5835650" y="4449445"/>
            <a:ext cx="52070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85" name="AutoShape 23"/>
          <p:cNvSpPr/>
          <p:nvPr/>
        </p:nvSpPr>
        <p:spPr>
          <a:xfrm>
            <a:off x="5835650" y="4449445"/>
            <a:ext cx="50800" cy="146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86" name="Picture 2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0450" y="4639945"/>
            <a:ext cx="406400" cy="406400"/>
          </a:xfrm>
          <a:prstGeom prst="rect">
            <a:avLst/>
          </a:prstGeom>
        </p:spPr>
      </p:pic>
      <p:sp>
        <p:nvSpPr>
          <p:cNvPr id="387" name="AutoShape 25"/>
          <p:cNvSpPr/>
          <p:nvPr/>
        </p:nvSpPr>
        <p:spPr>
          <a:xfrm>
            <a:off x="6699250" y="4639945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04 精细化围手术期管理</a:t>
            </a:r>
            <a:endParaRPr lang="en-US" sz="1100"/>
          </a:p>
        </p:txBody>
      </p:sp>
      <p:sp>
        <p:nvSpPr>
          <p:cNvPr id="388" name="AutoShape 26"/>
          <p:cNvSpPr/>
          <p:nvPr/>
        </p:nvSpPr>
        <p:spPr>
          <a:xfrm>
            <a:off x="6546850" y="5147945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贯穿治疗全程的保障体系，涵盖术前调理、术中生命支持及术后康复指导，有效减少并发症，加速神经功能恢复与患者康复进程。</a:t>
            </a:r>
            <a:endParaRPr lang="en-US" sz="1100"/>
          </a:p>
        </p:txBody>
      </p:sp>
      <p:sp>
        <p:nvSpPr>
          <p:cNvPr id="389" name="AutoShape 8"/>
          <p:cNvSpPr/>
          <p:nvPr/>
        </p:nvSpPr>
        <p:spPr>
          <a:xfrm>
            <a:off x="374650" y="27349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29254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1" name="AutoShape 13"/>
          <p:cNvSpPr/>
          <p:nvPr/>
        </p:nvSpPr>
        <p:spPr>
          <a:xfrm>
            <a:off x="5835650" y="27349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2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450" y="29254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3" name="AutoShape 18"/>
          <p:cNvSpPr/>
          <p:nvPr/>
        </p:nvSpPr>
        <p:spPr>
          <a:xfrm>
            <a:off x="374650" y="44494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4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" y="4639945"/>
            <a:ext cx="406400" cy="406400"/>
          </a:xfrm>
          <a:prstGeom prst="rect">
            <a:avLst/>
          </a:prstGeom>
          <a:solidFill>
            <a:schemeClr val="accent1">
              <a:lumMod val="60000"/>
              <a:lumOff val="40000"/>
              <a:alpha val="8000"/>
            </a:schemeClr>
          </a:solidFill>
        </p:spPr>
      </p:pic>
      <p:sp>
        <p:nvSpPr>
          <p:cNvPr id="395" name="AutoShape 23"/>
          <p:cNvSpPr/>
          <p:nvPr/>
        </p:nvSpPr>
        <p:spPr>
          <a:xfrm>
            <a:off x="5835650" y="4449445"/>
            <a:ext cx="50800" cy="1460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0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96" name="Picture 2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0450" y="4639945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19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20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21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22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23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24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讨论与分析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25" name="AutoShape 5"/>
          <p:cNvSpPr/>
          <p:nvPr/>
        </p:nvSpPr>
        <p:spPr>
          <a:xfrm>
            <a:off x="579120" y="121158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治疗理念的思考与未来展望</a:t>
            </a:r>
            <a:endParaRPr lang="en-US" sz="20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26" name="AutoShape 6"/>
          <p:cNvSpPr/>
          <p:nvPr/>
        </p:nvSpPr>
        <p:spPr>
          <a:xfrm>
            <a:off x="579120" y="2100580"/>
            <a:ext cx="5207000" cy="330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27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" y="2456180"/>
            <a:ext cx="406400" cy="406400"/>
          </a:xfrm>
          <a:prstGeom prst="rect">
            <a:avLst/>
          </a:prstGeom>
        </p:spPr>
      </p:pic>
      <p:sp>
        <p:nvSpPr>
          <p:cNvPr id="428" name="AutoShape 9"/>
          <p:cNvSpPr/>
          <p:nvPr/>
        </p:nvSpPr>
        <p:spPr>
          <a:xfrm>
            <a:off x="1391920" y="245618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功能优先，坚守治疗本质</a:t>
            </a:r>
            <a:endParaRPr lang="en-US" sz="1100"/>
          </a:p>
        </p:txBody>
      </p:sp>
      <p:sp>
        <p:nvSpPr>
          <p:cNvPr id="429" name="AutoShape 11"/>
          <p:cNvSpPr/>
          <p:nvPr/>
        </p:nvSpPr>
        <p:spPr>
          <a:xfrm>
            <a:off x="883920" y="324358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对于高颈段髓内肿瘤，尤其是浸润性生长的高度恶性肿瘤，需摒弃“全切至上”的执念。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核心是在</a:t>
            </a:r>
            <a:r>
              <a:rPr lang="en-US" sz="14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肿瘤切除与神经功能保护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之间寻找最佳平衡点，秉持“功能优先”理念，为患者量身定制个体化诊疗方案，最大化保留生活质量。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0" name="AutoShape 12"/>
          <p:cNvSpPr/>
          <p:nvPr/>
        </p:nvSpPr>
        <p:spPr>
          <a:xfrm>
            <a:off x="6040120" y="2100580"/>
            <a:ext cx="5207000" cy="3302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31" name="Picture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4920" y="2456180"/>
            <a:ext cx="406400" cy="406400"/>
          </a:xfrm>
          <a:prstGeom prst="rect">
            <a:avLst/>
          </a:prstGeom>
        </p:spPr>
      </p:pic>
      <p:sp>
        <p:nvSpPr>
          <p:cNvPr id="432" name="AutoShape 15"/>
          <p:cNvSpPr/>
          <p:nvPr/>
        </p:nvSpPr>
        <p:spPr>
          <a:xfrm>
            <a:off x="6852920" y="245618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技术赋能，开启精准时代</a:t>
            </a:r>
            <a:endParaRPr lang="en-US" sz="1100"/>
          </a:p>
        </p:txBody>
      </p:sp>
      <p:sp>
        <p:nvSpPr>
          <p:cNvPr id="433" name="AutoShape 17"/>
          <p:cNvSpPr/>
          <p:nvPr/>
        </p:nvSpPr>
        <p:spPr>
          <a:xfrm>
            <a:off x="6344920" y="324358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随着</a:t>
            </a:r>
            <a:r>
              <a:rPr lang="en-US" sz="1400" b="1" i="0" u="none" strike="noStrike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神经导航、术中荧光显影、机器人辅助</a:t>
            </a: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等前沿技术的迭代，将打破传统手术的视野与精度限制。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这些技术将进一步提升复杂髓内肿瘤的诊疗上限，实现更精准的病灶定位与更安全的手术操作，为患者带来更优的预后与康复希望。</a:t>
            </a:r>
            <a:endParaRPr lang="en-US" sz="1400" b="0" i="0" u="none" strike="noStrike">
              <a:solidFill>
                <a:srgbClr val="4A556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4" name="AutoShape 18"/>
          <p:cNvSpPr/>
          <p:nvPr/>
        </p:nvSpPr>
        <p:spPr>
          <a:xfrm>
            <a:off x="579120" y="5656580"/>
            <a:ext cx="10668000" cy="508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12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35" name="AutoShape 19"/>
          <p:cNvSpPr/>
          <p:nvPr/>
        </p:nvSpPr>
        <p:spPr>
          <a:xfrm>
            <a:off x="706120" y="575818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D374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核心宗旨：在技术创新与人文关怀之间寻找平衡，让每一位患者获得最适合的诊疗方案。</a:t>
            </a:r>
            <a:endParaRPr lang="en-US" sz="11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7" name="直接连接符 6"/>
          <p:cNvCxnSpPr/>
          <p:nvPr/>
        </p:nvCxnSpPr>
        <p:spPr>
          <a:xfrm>
            <a:off x="0" y="6361043"/>
            <a:ext cx="10465904" cy="0"/>
          </a:xfrm>
          <a:prstGeom prst="line">
            <a:avLst/>
          </a:prstGeom>
          <a:ln>
            <a:solidFill>
              <a:srgbClr val="1E3D7A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38" name="组合 7"/>
          <p:cNvGrpSpPr/>
          <p:nvPr/>
        </p:nvGrpSpPr>
        <p:grpSpPr>
          <a:xfrm>
            <a:off x="6549887" y="5794589"/>
            <a:ext cx="5136018" cy="1154447"/>
            <a:chOff x="6549887" y="5794589"/>
            <a:chExt cx="5136018" cy="1154447"/>
          </a:xfrm>
        </p:grpSpPr>
        <p:pic>
          <p:nvPicPr>
            <p:cNvPr id="43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695305" y="5794589"/>
              <a:ext cx="990600" cy="885825"/>
            </a:xfrm>
            <a:prstGeom prst="rect">
              <a:avLst/>
            </a:prstGeom>
          </p:spPr>
        </p:pic>
        <p:sp>
          <p:nvSpPr>
            <p:cNvPr id="440" name="文本框 9"/>
            <p:cNvSpPr txBox="1"/>
            <p:nvPr/>
          </p:nvSpPr>
          <p:spPr>
            <a:xfrm>
              <a:off x="6549887" y="6395038"/>
              <a:ext cx="391601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                 武汉脑科医院</a:t>
              </a:r>
              <a:r>
                <a:rPr lang="en-US" altLang="zh-CN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·</a:t>
              </a:r>
              <a:r>
                <a:rPr lang="zh-CN" altLang="en-US" sz="1200" dirty="0">
                  <a:solidFill>
                    <a:srgbClr val="2C719E"/>
                  </a:solidFill>
                  <a:highlight>
                    <a:srgbClr val="FFFFFF"/>
                  </a:highlight>
                </a:rPr>
                <a:t>长江航运总医院</a:t>
              </a:r>
              <a:endParaRPr lang="en-US" altLang="zh-CN" sz="1200" dirty="0">
                <a:solidFill>
                  <a:srgbClr val="1E3D7A"/>
                </a:solidFill>
                <a:highlight>
                  <a:srgbClr val="FFFFFF"/>
                </a:highlight>
              </a:endParaRPr>
            </a:p>
            <a:p>
              <a:r>
                <a:rPr lang="en-US" altLang="zh-CN" dirty="0">
                  <a:solidFill>
                    <a:schemeClr val="accent1"/>
                  </a:solidFill>
                </a:rPr>
                <a:t>             </a:t>
              </a:r>
              <a:r>
                <a:rPr lang="en-US" altLang="zh-CN" sz="1400" dirty="0">
                  <a:solidFill>
                    <a:schemeClr val="accent1"/>
                  </a:solidFill>
                </a:rPr>
                <a:t>Wuhan brain hospital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1" name="矩形 12"/>
          <p:cNvSpPr/>
          <p:nvPr/>
        </p:nvSpPr>
        <p:spPr>
          <a:xfrm>
            <a:off x="0" y="59635"/>
            <a:ext cx="12192000" cy="914400"/>
          </a:xfrm>
          <a:prstGeom prst="rect">
            <a:avLst/>
          </a:prstGeom>
          <a:solidFill>
            <a:srgbClr val="1E3D7A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442" name="图形 2" descr="大脑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2922" y="59635"/>
            <a:ext cx="914400" cy="914400"/>
          </a:xfrm>
          <a:prstGeom prst="rect">
            <a:avLst/>
          </a:prstGeom>
        </p:spPr>
      </p:pic>
      <p:sp>
        <p:nvSpPr>
          <p:cNvPr id="443" name="标题 1"/>
          <p:cNvSpPr txBox="1"/>
          <p:nvPr/>
        </p:nvSpPr>
        <p:spPr bwMode="auto">
          <a:xfrm>
            <a:off x="309101" y="190389"/>
            <a:ext cx="6913563" cy="5635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Arial" panose="020B0604020202020204" pitchFamily="34" charset="0"/>
                <a:ea typeface="隶书" pitchFamily="49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911D3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Noto Sans SC"/>
              </a:rPr>
              <a:t>结论</a:t>
            </a:r>
            <a:endParaRPr lang="zh-CN" altLang="en-US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44" name="AutoShape 9"/>
          <p:cNvSpPr/>
          <p:nvPr/>
        </p:nvSpPr>
        <p:spPr>
          <a:xfrm>
            <a:off x="6125210" y="14224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5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210" y="1676400"/>
            <a:ext cx="406400" cy="406400"/>
          </a:xfrm>
          <a:prstGeom prst="rect">
            <a:avLst/>
          </a:prstGeom>
        </p:spPr>
      </p:pic>
      <p:sp>
        <p:nvSpPr>
          <p:cNvPr id="446" name="AutoShape 13"/>
          <p:cNvSpPr/>
          <p:nvPr/>
        </p:nvSpPr>
        <p:spPr>
          <a:xfrm>
            <a:off x="600710" y="37719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7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" y="4025900"/>
            <a:ext cx="406400" cy="406400"/>
          </a:xfrm>
          <a:prstGeom prst="rect">
            <a:avLst/>
          </a:prstGeom>
        </p:spPr>
      </p:pic>
      <p:sp>
        <p:nvSpPr>
          <p:cNvPr id="448" name="AutoShape 17"/>
          <p:cNvSpPr/>
          <p:nvPr/>
        </p:nvSpPr>
        <p:spPr>
          <a:xfrm>
            <a:off x="6125210" y="37719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449" name="Picture 1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9210" y="4025900"/>
            <a:ext cx="406400" cy="406400"/>
          </a:xfrm>
          <a:prstGeom prst="rect">
            <a:avLst/>
          </a:prstGeom>
        </p:spPr>
      </p:pic>
      <p:sp>
        <p:nvSpPr>
          <p:cNvPr id="450" name="AutoShape 19"/>
          <p:cNvSpPr/>
          <p:nvPr/>
        </p:nvSpPr>
        <p:spPr>
          <a:xfrm>
            <a:off x="6950710" y="4025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04 突破禁区，守护希望</a:t>
            </a:r>
            <a:endParaRPr lang="en-US" sz="1100"/>
          </a:p>
        </p:txBody>
      </p:sp>
      <p:sp>
        <p:nvSpPr>
          <p:cNvPr id="451" name="AutoShape 20"/>
          <p:cNvSpPr/>
          <p:nvPr/>
        </p:nvSpPr>
        <p:spPr>
          <a:xfrm>
            <a:off x="6379210" y="4597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尽管手术风险极高，但高颈段髓内肿瘤并非绝对的手术禁区。随着神经外科技术的革新与临床经验的积累，手术安全性与肿瘤全切率稳步提升，为更多患者带来了康复的希望。</a:t>
            </a:r>
            <a:endParaRPr lang="en-US" sz="1100"/>
          </a:p>
        </p:txBody>
      </p:sp>
      <p:sp>
        <p:nvSpPr>
          <p:cNvPr id="452" name="AutoShape 5"/>
          <p:cNvSpPr/>
          <p:nvPr/>
        </p:nvSpPr>
        <p:spPr>
          <a:xfrm>
            <a:off x="600710" y="1422400"/>
            <a:ext cx="5270500" cy="19685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  <a:alpha val="8000"/>
            </a:schemeClr>
          </a:solidFill>
          <a:ln w="12700" cap="flat" cmpd="sng">
            <a:solidFill>
              <a:schemeClr val="accent1">
                <a:lumMod val="7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53" name="AutoShape 7"/>
          <p:cNvSpPr/>
          <p:nvPr/>
        </p:nvSpPr>
        <p:spPr>
          <a:xfrm>
            <a:off x="142621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01 有效治疗手段</a:t>
            </a:r>
            <a:endParaRPr lang="en-US" sz="1800" b="1" i="0" u="none" strike="noStrike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54" name="AutoShape 8"/>
          <p:cNvSpPr/>
          <p:nvPr/>
        </p:nvSpPr>
        <p:spPr>
          <a:xfrm>
            <a:off x="854710" y="22479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显微外科手术是治疗高颈段脊髓髓内肿瘤的核心手段，能显著改善患者的神经功能缺损症状，有效提升术后生存质量与生活自理能力，是目前临床首选的治疗方式。</a:t>
            </a:r>
            <a:endParaRPr lang="en-US" sz="1100"/>
          </a:p>
        </p:txBody>
      </p:sp>
      <p:sp>
        <p:nvSpPr>
          <p:cNvPr id="455" name="AutoShape 11"/>
          <p:cNvSpPr/>
          <p:nvPr/>
        </p:nvSpPr>
        <p:spPr>
          <a:xfrm>
            <a:off x="6950710" y="1676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02 围术期多维保障</a:t>
            </a:r>
            <a:endParaRPr lang="en-US" sz="1100"/>
          </a:p>
        </p:txBody>
      </p:sp>
      <p:sp>
        <p:nvSpPr>
          <p:cNvPr id="456" name="AutoShape 12"/>
          <p:cNvSpPr/>
          <p:nvPr/>
        </p:nvSpPr>
        <p:spPr>
          <a:xfrm>
            <a:off x="6379210" y="22479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术前精准评估、术中精细化显微操作，配合体感诱发电位等多模态监测技术，可最大限度保护脊髓功能完整性，显著降低术后并发症，为良好预后奠定坚实基础。</a:t>
            </a:r>
            <a:endParaRPr lang="en-US" sz="1100"/>
          </a:p>
        </p:txBody>
      </p:sp>
      <p:sp>
        <p:nvSpPr>
          <p:cNvPr id="457" name="AutoShape 15"/>
          <p:cNvSpPr/>
          <p:nvPr/>
        </p:nvSpPr>
        <p:spPr>
          <a:xfrm>
            <a:off x="1426210" y="40259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03 预后核心影响因素</a:t>
            </a:r>
            <a:endParaRPr lang="en-US" sz="1800" b="1">
              <a:solidFill>
                <a:schemeClr val="accent1">
                  <a:lumMod val="75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8" name="AutoShape 16"/>
          <p:cNvSpPr/>
          <p:nvPr/>
        </p:nvSpPr>
        <p:spPr>
          <a:xfrm>
            <a:off x="854710" y="4597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肿瘤的病理恶性程度是决定患者长期预后的关键。针对高度恶性肿瘤，需采取更谨慎的手术策略，并结合术后放化疗、靶向治疗等综合方案，以延缓复发、改善生存。</a:t>
            </a:r>
            <a:endParaRPr lang="en-US" sz="1100"/>
          </a:p>
        </p:txBody>
      </p:sp>
      <p:pic>
        <p:nvPicPr>
          <p:cNvPr id="459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710" y="1691005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标题 1"/>
          <p:cNvSpPr txBox="1"/>
          <p:nvPr/>
        </p:nvSpPr>
        <p:spPr>
          <a:xfrm>
            <a:off x="7101641" y="0"/>
            <a:ext cx="5577722" cy="6858000"/>
          </a:xfrm>
          <a:custGeom>
            <a:avLst/>
            <a:gdLst>
              <a:gd name="connsiteX0" fmla="*/ 0 w 5577722"/>
              <a:gd name="connsiteY0" fmla="*/ 0 h 6858000"/>
              <a:gd name="connsiteX1" fmla="*/ 5577722 w 5577722"/>
              <a:gd name="connsiteY1" fmla="*/ 0 h 6858000"/>
              <a:gd name="connsiteX2" fmla="*/ 5577722 w 5577722"/>
              <a:gd name="connsiteY2" fmla="*/ 6858000 h 6858000"/>
              <a:gd name="connsiteX3" fmla="*/ 534530 w 5577722"/>
              <a:gd name="connsiteY3" fmla="*/ 6858000 h 6858000"/>
              <a:gd name="connsiteX4" fmla="*/ 582579 w 5577722"/>
              <a:gd name="connsiteY4" fmla="*/ 6796857 h 6858000"/>
              <a:gd name="connsiteX5" fmla="*/ 1186864 w 5577722"/>
              <a:gd name="connsiteY5" fmla="*/ 5752132 h 6858000"/>
              <a:gd name="connsiteX6" fmla="*/ 1214201 w 5577722"/>
              <a:gd name="connsiteY6" fmla="*/ 5684928 h 6858000"/>
              <a:gd name="connsiteX7" fmla="*/ 1348501 w 5577722"/>
              <a:gd name="connsiteY7" fmla="*/ 5719460 h 6858000"/>
              <a:gd name="connsiteX8" fmla="*/ 1819681 w 5577722"/>
              <a:gd name="connsiteY8" fmla="*/ 5766959 h 6858000"/>
              <a:gd name="connsiteX9" fmla="*/ 4157640 w 5577722"/>
              <a:gd name="connsiteY9" fmla="*/ 3429000 h 6858000"/>
              <a:gd name="connsiteX10" fmla="*/ 1819681 w 5577722"/>
              <a:gd name="connsiteY10" fmla="*/ 1091041 h 6858000"/>
              <a:gd name="connsiteX11" fmla="*/ 1124444 w 5577722"/>
              <a:gd name="connsiteY11" fmla="*/ 1196151 h 6858000"/>
              <a:gd name="connsiteX12" fmla="*/ 968931 w 5577722"/>
              <a:gd name="connsiteY12" fmla="*/ 1253070 h 6858000"/>
              <a:gd name="connsiteX13" fmla="*/ 859284 w 5577722"/>
              <a:gd name="connsiteY13" fmla="*/ 1062376 h 6858000"/>
              <a:gd name="connsiteX14" fmla="*/ 98762 w 5577722"/>
              <a:gd name="connsiteY14" fmla="*/ 94161 h 6858000"/>
            </a:gdLst>
            <a:ahLst/>
            <a:cxnLst/>
            <a:rect l="l" t="t" r="r" b="b"/>
            <a:pathLst>
              <a:path w="5577722" h="6858000">
                <a:moveTo>
                  <a:pt x="0" y="0"/>
                </a:moveTo>
                <a:lnTo>
                  <a:pt x="5577722" y="0"/>
                </a:lnTo>
                <a:lnTo>
                  <a:pt x="5577722" y="6858000"/>
                </a:lnTo>
                <a:lnTo>
                  <a:pt x="534530" y="6858000"/>
                </a:lnTo>
                <a:lnTo>
                  <a:pt x="582579" y="6796857"/>
                </a:lnTo>
                <a:cubicBezTo>
                  <a:pt x="822824" y="6475612"/>
                  <a:pt x="1026329" y="6125294"/>
                  <a:pt x="1186864" y="5752132"/>
                </a:cubicBezTo>
                <a:lnTo>
                  <a:pt x="1214201" y="5684928"/>
                </a:lnTo>
                <a:lnTo>
                  <a:pt x="1348501" y="5719460"/>
                </a:lnTo>
                <a:cubicBezTo>
                  <a:pt x="1500696" y="5750604"/>
                  <a:pt x="1658279" y="5766959"/>
                  <a:pt x="1819681" y="5766959"/>
                </a:cubicBezTo>
                <a:cubicBezTo>
                  <a:pt x="3110900" y="5766959"/>
                  <a:pt x="4157640" y="4720219"/>
                  <a:pt x="4157640" y="3429000"/>
                </a:cubicBezTo>
                <a:cubicBezTo>
                  <a:pt x="4157640" y="2137781"/>
                  <a:pt x="3110900" y="1091041"/>
                  <a:pt x="1819681" y="1091041"/>
                </a:cubicBezTo>
                <a:cubicBezTo>
                  <a:pt x="1577578" y="1091041"/>
                  <a:pt x="1344069" y="1127841"/>
                  <a:pt x="1124444" y="1196151"/>
                </a:cubicBezTo>
                <a:lnTo>
                  <a:pt x="968931" y="1253070"/>
                </a:lnTo>
                <a:lnTo>
                  <a:pt x="859284" y="1062376"/>
                </a:lnTo>
                <a:cubicBezTo>
                  <a:pt x="644873" y="709503"/>
                  <a:pt x="389126" y="384524"/>
                  <a:pt x="98762" y="94161"/>
                </a:cubicBezTo>
                <a:close/>
              </a:path>
            </a:pathLst>
          </a:cu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62" name="图片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7101641" y="1"/>
            <a:ext cx="5537405" cy="686077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标题 1"/>
          <p:cNvSpPr txBox="1"/>
          <p:nvPr/>
        </p:nvSpPr>
        <p:spPr>
          <a:xfrm>
            <a:off x="6583363" y="1091042"/>
            <a:ext cx="4675917" cy="4675917"/>
          </a:xfrm>
          <a:prstGeom prst="donut">
            <a:avLst>
              <a:gd name="adj" fmla="val 8337"/>
            </a:avLst>
          </a:prstGeom>
          <a:solidFill>
            <a:schemeClr val="accent1">
              <a:alpha val="60000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64" name="图片 4" descr="C:/Users/Administrator/Desktop/f5d65bc45c1fd606c1ddddaf1028ada.jpgf5d65bc45c1fd606c1ddddaf1028ada"/>
          <p:cNvPicPr>
            <a:picLocks noChangeAspect="1"/>
          </p:cNvPicPr>
          <p:nvPr/>
        </p:nvPicPr>
        <p:blipFill>
          <a:blip r:embed="rId2">
            <a:alphaModFix amt="100000"/>
          </a:blip>
          <a:srcRect t="14412" b="14412"/>
          <a:stretch>
            <a:fillRect/>
          </a:stretch>
        </p:blipFill>
        <p:spPr>
          <a:xfrm>
            <a:off x="6986270" y="1460500"/>
            <a:ext cx="3928110" cy="3937000"/>
          </a:xfrm>
          <a:custGeom>
            <a:avLst/>
            <a:gdLst/>
            <a:ahLst/>
            <a:cxnLst/>
            <a:rect l="l" t="t" r="r" b="b"/>
            <a:pathLst>
              <a:path w="3937000" h="3937000">
                <a:moveTo>
                  <a:pt x="0" y="1968499"/>
                </a:moveTo>
                <a:cubicBezTo>
                  <a:pt x="0" y="881327"/>
                  <a:pt x="881327" y="0"/>
                  <a:pt x="1968499" y="0"/>
                </a:cubicBezTo>
                <a:cubicBezTo>
                  <a:pt x="3055671" y="0"/>
                  <a:pt x="3936998" y="881327"/>
                  <a:pt x="3936998" y="1968499"/>
                </a:cubicBezTo>
                <a:cubicBezTo>
                  <a:pt x="3936998" y="3055671"/>
                  <a:pt x="3055671" y="3936998"/>
                  <a:pt x="1968499" y="3936998"/>
                </a:cubicBezTo>
                <a:cubicBezTo>
                  <a:pt x="881327" y="3936998"/>
                  <a:pt x="0" y="3055671"/>
                  <a:pt x="0" y="1968499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465" name="标题 1"/>
          <p:cNvSpPr txBox="1"/>
          <p:nvPr/>
        </p:nvSpPr>
        <p:spPr>
          <a:xfrm>
            <a:off x="698500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6" name="标题 1"/>
          <p:cNvSpPr txBox="1"/>
          <p:nvPr/>
        </p:nvSpPr>
        <p:spPr>
          <a:xfrm>
            <a:off x="982133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7" name="标题 1"/>
          <p:cNvSpPr txBox="1"/>
          <p:nvPr/>
        </p:nvSpPr>
        <p:spPr>
          <a:xfrm>
            <a:off x="1265767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8" name="标题 1"/>
          <p:cNvSpPr txBox="1"/>
          <p:nvPr/>
        </p:nvSpPr>
        <p:spPr>
          <a:xfrm>
            <a:off x="1549400" y="5778500"/>
            <a:ext cx="177800" cy="177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69" name="矩形 40964"/>
          <p:cNvSpPr>
            <a:spLocks noTextEdit="1"/>
          </p:cNvSpPr>
          <p:nvPr/>
        </p:nvSpPr>
        <p:spPr>
          <a:xfrm>
            <a:off x="407035" y="2061210"/>
            <a:ext cx="5628005" cy="17729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fromWordArt="1">
            <a:prstTxWarp prst="textPlain">
              <a:avLst>
                <a:gd name="adj" fmla="val 50874"/>
              </a:avLst>
            </a:prstTxWarp>
            <a:normAutofit/>
          </a:bodyPr>
          <a:p>
            <a:pPr algn="ctr"/>
            <a:r>
              <a:rPr lang="zh-CN" altLang="en-US" sz="1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新宋体" panose="02010609030101010101" pitchFamily="49" charset="-122"/>
                <a:ea typeface="新宋体" panose="02010609030101010101" pitchFamily="49" charset="-122"/>
              </a:rPr>
              <a:t>感谢您的聆听！</a:t>
            </a:r>
            <a:endParaRPr lang="zh-CN" altLang="en-US" sz="9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14538</Words>
  <Application>WPS 演示</Application>
  <PresentationFormat/>
  <Paragraphs>887</Paragraphs>
  <Slides>79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79</vt:i4>
      </vt:variant>
    </vt:vector>
  </HeadingPairs>
  <TitlesOfParts>
    <vt:vector size="111" baseType="lpstr">
      <vt:lpstr>Arial</vt:lpstr>
      <vt:lpstr>宋体</vt:lpstr>
      <vt:lpstr>Wingdings</vt:lpstr>
      <vt:lpstr>Arial</vt:lpstr>
      <vt:lpstr>Source Han Sans CN Regular</vt:lpstr>
      <vt:lpstr>微软雅黑</vt:lpstr>
      <vt:lpstr>Noto Sans SC</vt:lpstr>
      <vt:lpstr>Source Han Sans CN Bold</vt:lpstr>
      <vt:lpstr>汉仪青云简</vt:lpstr>
      <vt:lpstr>OPPOSans H</vt:lpstr>
      <vt:lpstr>OPPOSans L</vt:lpstr>
      <vt:lpstr>Source Han Sans</vt:lpstr>
      <vt:lpstr>隶书</vt:lpstr>
      <vt:lpstr>黑体</vt:lpstr>
      <vt:lpstr>Segoe Print</vt:lpstr>
      <vt:lpstr>KSOFF1D7E4CE</vt:lpstr>
      <vt:lpstr>Arial Unicode MS</vt:lpstr>
      <vt:lpstr>Wingdings</vt:lpstr>
      <vt:lpstr>新宋体</vt:lpstr>
      <vt:lpstr>Noto Sans SC</vt:lpstr>
      <vt:lpstr>OPPOSans H</vt:lpstr>
      <vt:lpstr>OPPOSans L</vt:lpstr>
      <vt:lpstr>Source Han Sans</vt:lpstr>
      <vt:lpstr>Source Han Sans CN Bold</vt:lpstr>
      <vt:lpstr>Source Han Sans CN Regular</vt:lpstr>
      <vt:lpstr>汉仪青云简</vt:lpstr>
      <vt:lpstr>Saturday Sans Regular</vt:lpstr>
      <vt:lpstr>Wonder Sans Bold</vt:lpstr>
      <vt:lpstr>Love Letters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9</cp:revision>
  <dcterms:created xsi:type="dcterms:W3CDTF">2026-08-13T00:27:00Z</dcterms:created>
  <dcterms:modified xsi:type="dcterms:W3CDTF">2026-09-04T01:13:16Z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8542E7751CF34A74B7A99F5E1B0E2EA5_12</vt:lpwstr>
  </property>
</Properties>
</file>