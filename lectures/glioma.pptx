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60" r:id="rId3"/>
    <p:sldId id="506" r:id="rId4"/>
    <p:sldId id="509" r:id="rId5"/>
    <p:sldId id="505" r:id="rId6"/>
    <p:sldId id="543" r:id="rId7"/>
    <p:sldId id="544" r:id="rId9"/>
    <p:sldId id="545" r:id="rId10"/>
    <p:sldId id="546" r:id="rId11"/>
    <p:sldId id="547" r:id="rId12"/>
    <p:sldId id="548" r:id="rId13"/>
    <p:sldId id="549" r:id="rId14"/>
    <p:sldId id="551" r:id="rId15"/>
    <p:sldId id="552" r:id="rId16"/>
    <p:sldId id="554" r:id="rId17"/>
    <p:sldId id="555" r:id="rId18"/>
    <p:sldId id="556" r:id="rId19"/>
    <p:sldId id="557" r:id="rId20"/>
    <p:sldId id="553" r:id="rId21"/>
    <p:sldId id="558" r:id="rId22"/>
    <p:sldId id="559" r:id="rId23"/>
    <p:sldId id="560" r:id="rId24"/>
    <p:sldId id="561" r:id="rId25"/>
    <p:sldId id="563" r:id="rId26"/>
    <p:sldId id="564" r:id="rId27"/>
    <p:sldId id="565" r:id="rId28"/>
    <p:sldId id="566" r:id="rId29"/>
    <p:sldId id="567" r:id="rId30"/>
    <p:sldId id="568" r:id="rId31"/>
    <p:sldId id="569" r:id="rId32"/>
    <p:sldId id="570" r:id="rId33"/>
    <p:sldId id="571" r:id="rId34"/>
    <p:sldId id="572" r:id="rId35"/>
    <p:sldId id="573" r:id="rId36"/>
    <p:sldId id="574" r:id="rId37"/>
    <p:sldId id="575" r:id="rId38"/>
    <p:sldId id="576" r:id="rId39"/>
    <p:sldId id="577" r:id="rId40"/>
    <p:sldId id="578" r:id="rId41"/>
    <p:sldId id="579" r:id="rId42"/>
    <p:sldId id="580" r:id="rId43"/>
    <p:sldId id="581" r:id="rId44"/>
    <p:sldId id="582" r:id="rId45"/>
    <p:sldId id="583" r:id="rId46"/>
    <p:sldId id="584" r:id="rId47"/>
    <p:sldId id="600" r:id="rId48"/>
    <p:sldId id="585" r:id="rId49"/>
    <p:sldId id="586" r:id="rId50"/>
    <p:sldId id="587" r:id="rId51"/>
    <p:sldId id="588" r:id="rId52"/>
    <p:sldId id="589" r:id="rId53"/>
    <p:sldId id="590" r:id="rId54"/>
    <p:sldId id="591" r:id="rId55"/>
    <p:sldId id="592" r:id="rId56"/>
    <p:sldId id="593" r:id="rId57"/>
    <p:sldId id="594" r:id="rId58"/>
    <p:sldId id="595" r:id="rId59"/>
    <p:sldId id="596" r:id="rId60"/>
    <p:sldId id="597" r:id="rId61"/>
    <p:sldId id="601" r:id="rId62"/>
    <p:sldId id="602" r:id="rId63"/>
    <p:sldId id="603" r:id="rId64"/>
    <p:sldId id="606" r:id="rId65"/>
    <p:sldId id="607" r:id="rId66"/>
    <p:sldId id="604" r:id="rId67"/>
    <p:sldId id="605" r:id="rId68"/>
    <p:sldId id="608" r:id="rId69"/>
    <p:sldId id="598" r:id="rId70"/>
    <p:sldId id="266" r:id="rId71"/>
  </p:sldIdLst>
  <p:sldSz cx="12192000" cy="6858000"/>
  <p:notesSz cx="6858000" cy="9144000"/>
  <p:custDataLst>
    <p:tags r:id="rId75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Roboto Light"/>
        <a:ea typeface="微软雅黑 Light" panose="020B0502040204020203" pitchFamily="3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Roboto Light"/>
        <a:ea typeface="微软雅黑 Light" panose="020B0502040204020203" pitchFamily="3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Roboto Light"/>
        <a:ea typeface="微软雅黑 Light" panose="020B0502040204020203" pitchFamily="3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Roboto Light"/>
        <a:ea typeface="微软雅黑 Light" panose="020B0502040204020203" pitchFamily="3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Roboto Light"/>
        <a:ea typeface="微软雅黑 Light" panose="020B0502040204020203" pitchFamily="3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Roboto Light"/>
        <a:ea typeface="微软雅黑 Light" panose="020B0502040204020203" pitchFamily="3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Roboto Light"/>
        <a:ea typeface="微软雅黑 Light" panose="020B0502040204020203" pitchFamily="3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Roboto Light"/>
        <a:ea typeface="微软雅黑 Light" panose="020B0502040204020203" pitchFamily="3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Roboto Light"/>
        <a:ea typeface="微软雅黑 Light" panose="020B0502040204020203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78" userDrawn="1">
          <p15:clr>
            <a:srgbClr val="A4A3A4"/>
          </p15:clr>
        </p15:guide>
        <p15:guide id="2" orient="horz" pos="907" userDrawn="1">
          <p15:clr>
            <a:srgbClr val="A4A3A4"/>
          </p15:clr>
        </p15:guide>
        <p15:guide id="3" orient="horz" pos="398" userDrawn="1">
          <p15:clr>
            <a:srgbClr val="A4A3A4"/>
          </p15:clr>
        </p15:guide>
        <p15:guide id="4" orient="horz" pos="2219" userDrawn="1">
          <p15:clr>
            <a:srgbClr val="A4A3A4"/>
          </p15:clr>
        </p15:guide>
        <p15:guide id="5" pos="337" userDrawn="1">
          <p15:clr>
            <a:srgbClr val="A4A3A4"/>
          </p15:clr>
        </p15:guide>
        <p15:guide id="6" pos="7325" userDrawn="1">
          <p15:clr>
            <a:srgbClr val="A4A3A4"/>
          </p15:clr>
        </p15:guide>
        <p15:guide id="7" pos="3854" userDrawn="1">
          <p15:clr>
            <a:srgbClr val="A4A3A4"/>
          </p15:clr>
        </p15:guide>
        <p15:guide id="8" pos="35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66FF66"/>
    <a:srgbClr val="FF0000"/>
    <a:srgbClr val="3366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aximized">
    <p:restoredLeft sz="34588"/>
    <p:restoredTop sz="86438"/>
  </p:normalViewPr>
  <p:slideViewPr>
    <p:cSldViewPr snapToGrid="0" showGuides="1">
      <p:cViewPr varScale="1">
        <p:scale>
          <a:sx n="76" d="100"/>
          <a:sy n="76" d="100"/>
        </p:scale>
        <p:origin x="-228" y="-96"/>
      </p:cViewPr>
      <p:guideLst>
        <p:guide orient="horz" pos="4078"/>
        <p:guide orient="horz" pos="907"/>
        <p:guide orient="horz" pos="398"/>
        <p:guide orient="horz" pos="2219"/>
        <p:guide pos="337"/>
        <p:guide pos="7325"/>
        <p:guide pos="3854"/>
        <p:guide pos="3501"/>
      </p:guideLst>
    </p:cSldViewPr>
  </p:slideViewPr>
  <p:outlineViewPr>
    <p:cViewPr>
      <p:scale>
        <a:sx n="33" d="100"/>
        <a:sy n="33" d="100"/>
      </p:scale>
      <p:origin x="234" y="6053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5" Type="http://schemas.openxmlformats.org/officeDocument/2006/relationships/tags" Target="tags/tag35.xml"/><Relationship Id="rId74" Type="http://schemas.openxmlformats.org/officeDocument/2006/relationships/tableStyles" Target="tableStyles.xml"/><Relationship Id="rId73" Type="http://schemas.openxmlformats.org/officeDocument/2006/relationships/viewProps" Target="viewProps.xml"/><Relationship Id="rId72" Type="http://schemas.openxmlformats.org/officeDocument/2006/relationships/presProps" Target="presProps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D553833-79D1-4EC1-8926-2719D77D5DD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292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noFill/>
          </a:ln>
        </p:spPr>
      </p:sp>
      <p:sp>
        <p:nvSpPr>
          <p:cNvPr id="205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 w="12700" cmpd="sng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Light"/>
                <a:ea typeface="微软雅黑 Light" panose="020B0502040204020203" pitchFamily="34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Light"/>
              <a:ea typeface="微软雅黑 Light" panose="020B0502040204020203" pitchFamily="34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Light"/>
                <a:ea typeface="微软雅黑 Light" panose="020B0502040204020203" pitchFamily="34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Light"/>
              <a:ea typeface="微软雅黑 Light" panose="020B0502040204020203" pitchFamily="34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Light"/>
                <a:ea typeface="微软雅黑 Light" panose="020B0502040204020203" pitchFamily="34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Light"/>
              <a:ea typeface="微软雅黑 Light" panose="020B0502040204020203" pitchFamily="34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Light"/>
                <a:ea typeface="微软雅黑 Light" panose="020B0502040204020203" pitchFamily="34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Light"/>
              <a:ea typeface="微软雅黑 Light" panose="020B0502040204020203" pitchFamily="34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Light"/>
                <a:ea typeface="微软雅黑 Light" panose="020B0502040204020203" pitchFamily="34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Light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8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>
              <a:buNone/>
            </a:pPr>
            <a:fld id="{9A0DB2DC-4C9A-4742-B13C-FB6460FD3503}" type="slidenum">
              <a:rPr lang="zh-CN" altLang="en-US" sz="1200" strike="noStrike" noProof="1" dirty="0">
                <a:latin typeface="Calibri" panose="020F0502020204030204" pitchFamily="34" charset="0"/>
                <a:ea typeface="微软雅黑" panose="020B0503020204020204" pitchFamily="34" charset="-122"/>
                <a:cs typeface="+mn-cs"/>
              </a:rPr>
            </a:fld>
            <a:endParaRPr lang="zh-CN" altLang="en-US" sz="1200" strike="noStrike" noProof="1" dirty="0"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oboto Light"/>
        <a:ea typeface="微软雅黑 Light" panose="020B0502040204020203" pitchFamily="34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oboto Light"/>
        <a:ea typeface="微软雅黑 Light" panose="020B0502040204020203" pitchFamily="34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oboto Light"/>
        <a:ea typeface="微软雅黑 Light" panose="020B0502040204020203" pitchFamily="34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oboto Light"/>
        <a:ea typeface="微软雅黑 Light" panose="020B0502040204020203" pitchFamily="34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oboto Light"/>
        <a:ea typeface="微软雅黑 Light" panose="020B0502040204020203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4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ctr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2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ctr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0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ctr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8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ctr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6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ctr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4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ctr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2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ctr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0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ctr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8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ctr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6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ctr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4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ctr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2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ctr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0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ctr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8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ctr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6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ctr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4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ctr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2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ctr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4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0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ctr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8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ctr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6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ctr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4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ctr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6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ctr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7" name="幻灯片图像占位符 1"/>
          <p:cNvSpPr>
            <a:spLocks noGrp="1" noRot="1" noTextEdit="1"/>
          </p:cNvSpPr>
          <p:nvPr>
            <p:ph type="sldImg"/>
          </p:nvPr>
        </p:nvSpPr>
        <p:spPr>
          <a:ln/>
        </p:spPr>
      </p:sp>
      <p:sp>
        <p:nvSpPr>
          <p:cNvPr id="70658" name="文本占位符 2"/>
          <p:cNvSpPr/>
          <p:nvPr>
            <p:ph type="body"/>
          </p:nvPr>
        </p:nvSpPr>
        <p:spPr>
          <a:ln/>
        </p:spPr>
        <p:txBody>
          <a:bodyPr wrap="square" lIns="91440" tIns="45720" rIns="91440" bIns="45720" anchor="ctr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6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ctr" anchorCtr="0"/>
          <a:p>
            <a:pPr lvl="0"/>
            <a:r>
              <a:rPr lang="zh-CN" altLang="en-US" dirty="0"/>
              <a:t>而</a:t>
            </a:r>
            <a:r>
              <a:rPr lang="en-US" altLang="zh-CN" dirty="0"/>
              <a:t>IDH</a:t>
            </a:r>
            <a:r>
              <a:rPr lang="zh-CN" altLang="en-US" dirty="0"/>
              <a:t>野生型的胶质瘤</a:t>
            </a:r>
            <a:r>
              <a:rPr lang="en-US" altLang="zh-CN" dirty="0"/>
              <a:t>(</a:t>
            </a:r>
            <a:r>
              <a:rPr lang="zh-CN" altLang="en-US" dirty="0"/>
              <a:t>包括原发性胶质母细胞</a:t>
            </a:r>
            <a:endParaRPr lang="zh-CN" altLang="en-US" dirty="0"/>
          </a:p>
          <a:p>
            <a:pPr lvl="0"/>
            <a:r>
              <a:rPr lang="zh-CN" altLang="en-US" dirty="0"/>
              <a:t>瘤</a:t>
            </a:r>
            <a:r>
              <a:rPr lang="en-US" altLang="zh-CN" dirty="0"/>
              <a:t>)</a:t>
            </a:r>
            <a:r>
              <a:rPr lang="zh-CN" altLang="en-US" dirty="0"/>
              <a:t>中存在</a:t>
            </a:r>
            <a:r>
              <a:rPr lang="en-US" altLang="zh-CN" dirty="0"/>
              <a:t>TERT</a:t>
            </a:r>
            <a:r>
              <a:rPr lang="zh-CN" altLang="en-US" dirty="0"/>
              <a:t>启动子突变则预后较差</a:t>
            </a:r>
            <a:r>
              <a:rPr lang="en-US" altLang="zh-CN" dirty="0"/>
              <a:t>l1 </a:t>
            </a:r>
            <a:r>
              <a:rPr lang="zh-CN" altLang="en-US" dirty="0"/>
              <a:t>。 </a:t>
            </a:r>
            <a:endParaRPr lang="en-US" altLang="zh-CN" dirty="0"/>
          </a:p>
          <a:p>
            <a:pPr lvl="0"/>
            <a:r>
              <a:rPr lang="zh-CN" altLang="en-US" dirty="0"/>
              <a:t>。研究发现相同</a:t>
            </a:r>
            <a:endParaRPr lang="zh-CN" altLang="en-US" dirty="0"/>
          </a:p>
          <a:p>
            <a:pPr lvl="0"/>
            <a:r>
              <a:rPr lang="zh-CN" altLang="en-US" dirty="0"/>
              <a:t>类型和级别的弥漫性星形细胞及少突胶质细胞起源</a:t>
            </a:r>
            <a:endParaRPr lang="zh-CN" altLang="en-US" dirty="0"/>
          </a:p>
          <a:p>
            <a:pPr lvl="0"/>
            <a:r>
              <a:rPr lang="zh-CN" altLang="en-US" dirty="0"/>
              <a:t>肿瘤</a:t>
            </a:r>
            <a:r>
              <a:rPr lang="en-US" altLang="zh-CN" dirty="0"/>
              <a:t>(</a:t>
            </a:r>
            <a:r>
              <a:rPr lang="zh-CN" altLang="en-US" dirty="0"/>
              <a:t>包括胶质母细胞瘤</a:t>
            </a:r>
            <a:r>
              <a:rPr lang="en-US" altLang="zh-CN" dirty="0"/>
              <a:t>)</a:t>
            </a:r>
            <a:r>
              <a:rPr lang="zh-CN" altLang="en-US" dirty="0"/>
              <a:t>，有</a:t>
            </a:r>
            <a:r>
              <a:rPr lang="en-US" altLang="zh-CN" dirty="0"/>
              <a:t>IDH</a:t>
            </a:r>
            <a:r>
              <a:rPr lang="zh-CN" altLang="en-US" dirty="0"/>
              <a:t>突变的患者预后</a:t>
            </a:r>
            <a:endParaRPr lang="zh-CN" altLang="en-US" dirty="0"/>
          </a:p>
          <a:p>
            <a:pPr lvl="0"/>
            <a:r>
              <a:rPr lang="zh-CN" altLang="en-US" dirty="0"/>
              <a:t>明显好于</a:t>
            </a:r>
            <a:r>
              <a:rPr lang="en-US" altLang="zh-CN" dirty="0"/>
              <a:t>IDH</a:t>
            </a:r>
            <a:r>
              <a:rPr lang="zh-CN" altLang="en-US" dirty="0"/>
              <a:t>野生型患者</a:t>
            </a:r>
            <a:endParaRPr lang="zh-CN" altLang="en-US" dirty="0"/>
          </a:p>
        </p:txBody>
      </p:sp>
      <p:sp>
        <p:nvSpPr>
          <p:cNvPr id="7782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/>
            <a:fld id="{9A0DB2DC-4C9A-4742-B13C-FB6460FD3503}" type="slidenum">
              <a:rPr lang="zh-CN" altLang="en-US" sz="1800" dirty="0">
                <a:latin typeface="Roboto Light"/>
                <a:ea typeface="微软雅黑 Light" panose="020B0502040204020203" pitchFamily="34" charset="-122"/>
              </a:rPr>
            </a:fld>
            <a:endParaRPr lang="zh-CN" altLang="en-US" sz="1800" dirty="0">
              <a:latin typeface="Roboto Light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image" Target="../media/image1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image" Target="../media/image1.emf"/><Relationship Id="rId2" Type="http://schemas.openxmlformats.org/officeDocument/2006/relationships/oleObject" Target="../embeddings/oleObject4.bin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image" Target="../media/image1.emf"/><Relationship Id="rId2" Type="http://schemas.openxmlformats.org/officeDocument/2006/relationships/oleObject" Target="../embeddings/oleObject5.bin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image" Target="../media/image1.emf"/><Relationship Id="rId2" Type="http://schemas.openxmlformats.org/officeDocument/2006/relationships/oleObject" Target="../embeddings/oleObject6.bin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7.vml"/><Relationship Id="rId4" Type="http://schemas.openxmlformats.org/officeDocument/2006/relationships/image" Target="../media/image2.png"/><Relationship Id="rId3" Type="http://schemas.openxmlformats.org/officeDocument/2006/relationships/image" Target="../media/image1.emf"/><Relationship Id="rId2" Type="http://schemas.openxmlformats.org/officeDocument/2006/relationships/oleObject" Target="../embeddings/oleObject7.bin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8.vml"/><Relationship Id="rId4" Type="http://schemas.openxmlformats.org/officeDocument/2006/relationships/image" Target="../media/image2.png"/><Relationship Id="rId3" Type="http://schemas.openxmlformats.org/officeDocument/2006/relationships/image" Target="../media/image1.emf"/><Relationship Id="rId2" Type="http://schemas.openxmlformats.org/officeDocument/2006/relationships/oleObject" Target="../embeddings/oleObject8.bin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9.vml"/><Relationship Id="rId4" Type="http://schemas.openxmlformats.org/officeDocument/2006/relationships/image" Target="../media/image2.png"/><Relationship Id="rId3" Type="http://schemas.openxmlformats.org/officeDocument/2006/relationships/image" Target="../media/image1.emf"/><Relationship Id="rId2" Type="http://schemas.openxmlformats.org/officeDocument/2006/relationships/oleObject" Target="../embeddings/oleObject9.bin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0.vml"/><Relationship Id="rId4" Type="http://schemas.openxmlformats.org/officeDocument/2006/relationships/image" Target="../media/image2.png"/><Relationship Id="rId3" Type="http://schemas.openxmlformats.org/officeDocument/2006/relationships/image" Target="../media/image1.emf"/><Relationship Id="rId2" Type="http://schemas.openxmlformats.org/officeDocument/2006/relationships/oleObject" Target="../embeddings/oleObject10.bin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D06FA26-FFFB-46B1-B141-317917DC7DB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bg>
      <p:bgPr>
        <a:gradFill rotWithShape="0">
          <a:gsLst>
            <a:gs pos="0">
              <a:srgbClr val="FFFFFF">
                <a:alpha val="100000"/>
              </a:srgbClr>
            </a:gs>
            <a:gs pos="50000">
              <a:srgbClr val="FBFBFB">
                <a:alpha val="100000"/>
              </a:srgbClr>
            </a:gs>
            <a:gs pos="100000">
              <a:srgbClr val="D0D0D0">
                <a:alpha val="100000"/>
              </a:srgbClr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11"/>
          <p:cNvGraphicFramePr/>
          <p:nvPr userDrawn="1"/>
        </p:nvGraphicFramePr>
        <p:xfrm>
          <a:off x="8220075" y="26988"/>
          <a:ext cx="393065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2" imgW="5002530" imgH="602615" progId="">
                  <p:embed/>
                </p:oleObj>
              </mc:Choice>
              <mc:Fallback>
                <p:oleObj name="" r:id="rId2" imgW="5002530" imgH="602615" progId="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220075" y="26988"/>
                        <a:ext cx="3930650" cy="519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圆角矩形 9"/>
          <p:cNvSpPr/>
          <p:nvPr/>
        </p:nvSpPr>
        <p:spPr bwMode="auto">
          <a:xfrm>
            <a:off x="614363" y="192088"/>
            <a:ext cx="750888" cy="638175"/>
          </a:xfrm>
          <a:prstGeom prst="roundRect">
            <a:avLst/>
          </a:prstGeom>
          <a:solidFill>
            <a:srgbClr val="3366FF">
              <a:alpha val="91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Light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11" name="圆角矩形 10"/>
          <p:cNvSpPr/>
          <p:nvPr/>
        </p:nvSpPr>
        <p:spPr bwMode="auto">
          <a:xfrm>
            <a:off x="989013" y="496888"/>
            <a:ext cx="600075" cy="512763"/>
          </a:xfrm>
          <a:prstGeom prst="roundRect">
            <a:avLst/>
          </a:prstGeom>
          <a:solidFill>
            <a:srgbClr val="FFFF00">
              <a:alpha val="91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Light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2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E9E78C8-280F-43C7-A980-6A486170811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p>
            <a:pPr algn="r" fontAlgn="base">
              <a:buNone/>
            </a:pPr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gradFill rotWithShape="0">
          <a:gsLst>
            <a:gs pos="0">
              <a:srgbClr val="FFFFFF">
                <a:alpha val="100000"/>
              </a:srgbClr>
            </a:gs>
            <a:gs pos="50000">
              <a:srgbClr val="FBFBFB">
                <a:alpha val="100000"/>
              </a:srgbClr>
            </a:gs>
            <a:gs pos="100000">
              <a:srgbClr val="D0D0D0">
                <a:alpha val="100000"/>
              </a:srgbClr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11"/>
          <p:cNvGraphicFramePr/>
          <p:nvPr userDrawn="1"/>
        </p:nvGraphicFramePr>
        <p:xfrm>
          <a:off x="8220075" y="26988"/>
          <a:ext cx="393065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2" imgW="5002530" imgH="602615" progId="">
                  <p:embed/>
                </p:oleObj>
              </mc:Choice>
              <mc:Fallback>
                <p:oleObj name="" r:id="rId2" imgW="5002530" imgH="602615" progId="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220075" y="26988"/>
                        <a:ext cx="3930650" cy="519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0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27C6EF0-60EC-42DA-9B28-816EA137730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p>
            <a:pPr algn="r" fontAlgn="base">
              <a:buNone/>
            </a:pPr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bg>
      <p:bgPr>
        <a:gradFill rotWithShape="0">
          <a:gsLst>
            <a:gs pos="0">
              <a:srgbClr val="FFFFFF">
                <a:alpha val="100000"/>
              </a:srgbClr>
            </a:gs>
            <a:gs pos="50000">
              <a:srgbClr val="FBFBFB">
                <a:alpha val="100000"/>
              </a:srgbClr>
            </a:gs>
            <a:gs pos="100000">
              <a:srgbClr val="D0D0D0">
                <a:alpha val="100000"/>
              </a:srgbClr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11"/>
          <p:cNvGraphicFramePr/>
          <p:nvPr userDrawn="1"/>
        </p:nvGraphicFramePr>
        <p:xfrm>
          <a:off x="8220075" y="26988"/>
          <a:ext cx="393065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2" imgW="5002530" imgH="602615" progId="">
                  <p:embed/>
                </p:oleObj>
              </mc:Choice>
              <mc:Fallback>
                <p:oleObj name="" r:id="rId2" imgW="5002530" imgH="602615" progId="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220075" y="26988"/>
                        <a:ext cx="3930650" cy="519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圆角矩形 9"/>
          <p:cNvSpPr/>
          <p:nvPr/>
        </p:nvSpPr>
        <p:spPr bwMode="auto">
          <a:xfrm>
            <a:off x="614363" y="192088"/>
            <a:ext cx="750888" cy="638175"/>
          </a:xfrm>
          <a:prstGeom prst="roundRect">
            <a:avLst/>
          </a:prstGeom>
          <a:solidFill>
            <a:srgbClr val="3366FF">
              <a:alpha val="91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Light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11" name="圆角矩形 10"/>
          <p:cNvSpPr/>
          <p:nvPr/>
        </p:nvSpPr>
        <p:spPr bwMode="auto">
          <a:xfrm>
            <a:off x="989013" y="496888"/>
            <a:ext cx="600075" cy="512763"/>
          </a:xfrm>
          <a:prstGeom prst="roundRect">
            <a:avLst/>
          </a:prstGeom>
          <a:solidFill>
            <a:srgbClr val="FFFF00">
              <a:alpha val="91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Light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12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660F76D-E36D-4690-80AE-48116ED37805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p>
            <a:pPr algn="r" fontAlgn="base">
              <a:buNone/>
            </a:pPr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D06FA26-FFFB-46B1-B141-317917DC7DB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bg>
      <p:bgPr>
        <a:gradFill rotWithShape="0">
          <a:gsLst>
            <a:gs pos="0">
              <a:srgbClr val="FFFFFF">
                <a:alpha val="100000"/>
              </a:srgbClr>
            </a:gs>
            <a:gs pos="50000">
              <a:srgbClr val="FBFBFB">
                <a:alpha val="100000"/>
              </a:srgbClr>
            </a:gs>
            <a:gs pos="100000">
              <a:srgbClr val="D0D0D0">
                <a:alpha val="100000"/>
              </a:srgbClr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11"/>
          <p:cNvGraphicFramePr/>
          <p:nvPr userDrawn="1"/>
        </p:nvGraphicFramePr>
        <p:xfrm>
          <a:off x="8220075" y="26988"/>
          <a:ext cx="393065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2" imgW="5002530" imgH="602615" progId="">
                  <p:embed/>
                </p:oleObj>
              </mc:Choice>
              <mc:Fallback>
                <p:oleObj name="" r:id="rId2" imgW="5002530" imgH="602615" progId="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220075" y="26988"/>
                        <a:ext cx="3930650" cy="519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圆角矩形 9"/>
          <p:cNvSpPr/>
          <p:nvPr/>
        </p:nvSpPr>
        <p:spPr bwMode="auto">
          <a:xfrm>
            <a:off x="614363" y="192088"/>
            <a:ext cx="750888" cy="638175"/>
          </a:xfrm>
          <a:prstGeom prst="roundRect">
            <a:avLst/>
          </a:prstGeom>
          <a:solidFill>
            <a:srgbClr val="3366FF">
              <a:alpha val="91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Light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11" name="圆角矩形 10"/>
          <p:cNvSpPr/>
          <p:nvPr/>
        </p:nvSpPr>
        <p:spPr bwMode="auto">
          <a:xfrm>
            <a:off x="989013" y="496888"/>
            <a:ext cx="600075" cy="512763"/>
          </a:xfrm>
          <a:prstGeom prst="roundRect">
            <a:avLst/>
          </a:prstGeom>
          <a:solidFill>
            <a:srgbClr val="FFFF00">
              <a:alpha val="91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Light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2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A817472-0D0C-48E7-B9EB-AFD6AB4F9706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p>
            <a:pPr algn="r" fontAlgn="base">
              <a:buNone/>
            </a:pPr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gradFill rotWithShape="0">
          <a:gsLst>
            <a:gs pos="0">
              <a:srgbClr val="FFFFFF">
                <a:alpha val="100000"/>
              </a:srgbClr>
            </a:gs>
            <a:gs pos="50000">
              <a:srgbClr val="FBFBFB">
                <a:alpha val="100000"/>
              </a:srgbClr>
            </a:gs>
            <a:gs pos="100000">
              <a:srgbClr val="D0D0D0">
                <a:alpha val="100000"/>
              </a:srgbClr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11"/>
          <p:cNvGraphicFramePr/>
          <p:nvPr userDrawn="1"/>
        </p:nvGraphicFramePr>
        <p:xfrm>
          <a:off x="8220075" y="26988"/>
          <a:ext cx="393065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2" imgW="5002530" imgH="602615" progId="">
                  <p:embed/>
                </p:oleObj>
              </mc:Choice>
              <mc:Fallback>
                <p:oleObj name="" r:id="rId2" imgW="5002530" imgH="602615" progId="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220075" y="26988"/>
                        <a:ext cx="3930650" cy="519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141D2A6-1DE6-4C13-938C-7F3E9A12849D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p>
            <a:pPr algn="r" fontAlgn="base">
              <a:buNone/>
            </a:pPr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D06FA26-FFFB-46B1-B141-317917DC7DB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Pr>
        <a:gradFill rotWithShape="0">
          <a:gsLst>
            <a:gs pos="0">
              <a:srgbClr val="FFFFFF">
                <a:alpha val="100000"/>
              </a:srgbClr>
            </a:gs>
            <a:gs pos="50000">
              <a:srgbClr val="FBFBFB">
                <a:alpha val="100000"/>
              </a:srgbClr>
            </a:gs>
            <a:gs pos="100000">
              <a:srgbClr val="D0D0D0">
                <a:alpha val="100000"/>
              </a:srgbClr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11"/>
          <p:cNvGraphicFramePr/>
          <p:nvPr userDrawn="1"/>
        </p:nvGraphicFramePr>
        <p:xfrm>
          <a:off x="8220075" y="26988"/>
          <a:ext cx="393065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2" imgW="5002530" imgH="602615" progId="">
                  <p:embed/>
                </p:oleObj>
              </mc:Choice>
              <mc:Fallback>
                <p:oleObj name="" r:id="rId2" imgW="5002530" imgH="602615" progId="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220075" y="26988"/>
                        <a:ext cx="3930650" cy="519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单击图标添加图片</a:t>
            </a: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10" name="日期占位符 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01C80D5-7190-41E2-B16A-28EC51C76935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p>
            <a:pPr algn="r" fontAlgn="base">
              <a:buNone/>
            </a:pPr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D06FA26-FFFB-46B1-B141-317917DC7DB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D06FA26-FFFB-46B1-B141-317917DC7DB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bg>
      <p:bgPr>
        <a:gradFill rotWithShape="0">
          <a:gsLst>
            <a:gs pos="0">
              <a:srgbClr val="FFFFFF">
                <a:alpha val="100000"/>
              </a:srgbClr>
            </a:gs>
            <a:gs pos="50000">
              <a:srgbClr val="FBFBFB">
                <a:alpha val="100000"/>
              </a:srgbClr>
            </a:gs>
            <a:gs pos="100000">
              <a:srgbClr val="D0D0D0">
                <a:alpha val="100000"/>
              </a:srgbClr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11"/>
          <p:cNvGraphicFramePr/>
          <p:nvPr userDrawn="1"/>
        </p:nvGraphicFramePr>
        <p:xfrm>
          <a:off x="8220075" y="26988"/>
          <a:ext cx="393065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2" imgW="5002530" imgH="602615" progId="">
                  <p:embed/>
                </p:oleObj>
              </mc:Choice>
              <mc:Fallback>
                <p:oleObj name="" r:id="rId2" imgW="5002530" imgH="602615" progId="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220075" y="26988"/>
                        <a:ext cx="3930650" cy="519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195" name="图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031288" y="0"/>
            <a:ext cx="3160712" cy="415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p>
            <a:pPr algn="r" fontAlgn="base">
              <a:buNone/>
            </a:pPr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幻灯片">
    <p:bg>
      <p:bgPr>
        <a:gradFill rotWithShape="0">
          <a:gsLst>
            <a:gs pos="0">
              <a:srgbClr val="FFFFFF">
                <a:alpha val="100000"/>
              </a:srgbClr>
            </a:gs>
            <a:gs pos="50000">
              <a:srgbClr val="FBFBFB">
                <a:alpha val="100000"/>
              </a:srgbClr>
            </a:gs>
            <a:gs pos="100000">
              <a:srgbClr val="D0D0D0">
                <a:alpha val="100000"/>
              </a:srgbClr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11"/>
          <p:cNvGraphicFramePr/>
          <p:nvPr userDrawn="1"/>
        </p:nvGraphicFramePr>
        <p:xfrm>
          <a:off x="8220075" y="26988"/>
          <a:ext cx="393065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2" imgW="5002530" imgH="602615" progId="">
                  <p:embed/>
                </p:oleObj>
              </mc:Choice>
              <mc:Fallback>
                <p:oleObj name="" r:id="rId2" imgW="5002530" imgH="602615" progId="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220075" y="26988"/>
                        <a:ext cx="3930650" cy="519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219" name="图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031288" y="0"/>
            <a:ext cx="3160712" cy="415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p>
            <a:pPr algn="r" fontAlgn="base">
              <a:buNone/>
            </a:pPr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bg>
      <p:bgPr>
        <a:gradFill rotWithShape="0">
          <a:gsLst>
            <a:gs pos="0">
              <a:srgbClr val="FFFFFF">
                <a:alpha val="100000"/>
              </a:srgbClr>
            </a:gs>
            <a:gs pos="50000">
              <a:srgbClr val="FBFBFB">
                <a:alpha val="100000"/>
              </a:srgbClr>
            </a:gs>
            <a:gs pos="100000">
              <a:srgbClr val="D0D0D0">
                <a:alpha val="100000"/>
              </a:srgbClr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11"/>
          <p:cNvGraphicFramePr/>
          <p:nvPr userDrawn="1"/>
        </p:nvGraphicFramePr>
        <p:xfrm>
          <a:off x="8220075" y="26988"/>
          <a:ext cx="393065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2" imgW="5002530" imgH="602615" progId="">
                  <p:embed/>
                </p:oleObj>
              </mc:Choice>
              <mc:Fallback>
                <p:oleObj name="" r:id="rId2" imgW="5002530" imgH="602615" progId="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220075" y="26988"/>
                        <a:ext cx="3930650" cy="519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43" name="图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031288" y="0"/>
            <a:ext cx="3160712" cy="415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p>
            <a:pPr algn="r" fontAlgn="base">
              <a:buNone/>
            </a:pPr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标题和内容">
    <p:bg>
      <p:bgPr>
        <a:gradFill rotWithShape="0">
          <a:gsLst>
            <a:gs pos="0">
              <a:srgbClr val="FFFFFF">
                <a:alpha val="100000"/>
              </a:srgbClr>
            </a:gs>
            <a:gs pos="50000">
              <a:srgbClr val="FBFBFB">
                <a:alpha val="100000"/>
              </a:srgbClr>
            </a:gs>
            <a:gs pos="100000">
              <a:srgbClr val="D0D0D0">
                <a:alpha val="100000"/>
              </a:srgbClr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11"/>
          <p:cNvGraphicFramePr/>
          <p:nvPr userDrawn="1"/>
        </p:nvGraphicFramePr>
        <p:xfrm>
          <a:off x="8220075" y="26988"/>
          <a:ext cx="393065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2" imgW="5002530" imgH="602615" progId="">
                  <p:embed/>
                </p:oleObj>
              </mc:Choice>
              <mc:Fallback>
                <p:oleObj name="" r:id="rId2" imgW="5002530" imgH="602615" progId="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220075" y="26988"/>
                        <a:ext cx="3930650" cy="519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267" name="图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031288" y="0"/>
            <a:ext cx="3160712" cy="415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p>
            <a:pPr algn="r" fontAlgn="base">
              <a:buNone/>
            </a:pPr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vmlDrawing" Target="../drawings/vmlDrawing11.vml"/><Relationship Id="rId18" Type="http://schemas.openxmlformats.org/officeDocument/2006/relationships/image" Target="../media/image3.png"/><Relationship Id="rId17" Type="http://schemas.openxmlformats.org/officeDocument/2006/relationships/image" Target="../media/image1.emf"/><Relationship Id="rId16" Type="http://schemas.openxmlformats.org/officeDocument/2006/relationships/oleObject" Target="../embeddings/oleObject11.bin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>
                <a:alpha val="100000"/>
              </a:srgbClr>
            </a:gs>
            <a:gs pos="50000">
              <a:srgbClr val="FBFBFB">
                <a:alpha val="100000"/>
              </a:srgbClr>
            </a:gs>
            <a:gs pos="100000">
              <a:srgbClr val="D0D0D0">
                <a:alpha val="100000"/>
              </a:srgbClr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D06FA26-FFFB-46B1-B141-317917DC7DB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lang="zh-CN" altLang="en-US" strike="noStrike" noProof="1" dirty="0"/>
          </a:p>
        </p:txBody>
      </p:sp>
      <p:graphicFrame>
        <p:nvGraphicFramePr>
          <p:cNvPr id="1031" name="Object 11"/>
          <p:cNvGraphicFramePr/>
          <p:nvPr userDrawn="1"/>
        </p:nvGraphicFramePr>
        <p:xfrm>
          <a:off x="8220075" y="26988"/>
          <a:ext cx="393065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6" imgW="5002530" imgH="602615" progId="">
                  <p:embed/>
                </p:oleObj>
              </mc:Choice>
              <mc:Fallback>
                <p:oleObj name="" r:id="rId16" imgW="5002530" imgH="602615" progId="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220075" y="26988"/>
                        <a:ext cx="3930650" cy="519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2" name="图片 1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黑体" panose="02010609060101010101" charset="-122"/>
          <a:ea typeface="黑体" panose="02010609060101010101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黑体" panose="02010609060101010101" charset="-122"/>
          <a:ea typeface="黑体" panose="02010609060101010101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黑体" panose="02010609060101010101" charset="-122"/>
          <a:ea typeface="黑体" panose="02010609060101010101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黑体" panose="02010609060101010101" charset="-122"/>
          <a:ea typeface="黑体" panose="02010609060101010101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黑体" panose="02010609060101010101" charset="-122"/>
          <a:ea typeface="黑体" panose="02010609060101010101" charset="-122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黑体" panose="02010609060101010101" charset="-122"/>
          <a:ea typeface="黑体" panose="02010609060101010101" charset="-122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黑体" panose="02010609060101010101" charset="-122"/>
          <a:ea typeface="黑体" panose="02010609060101010101" charset="-122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黑体" panose="02010609060101010101" charset="-122"/>
          <a:ea typeface="黑体" panose="02010609060101010101" charset="-122"/>
        </a:defRPr>
      </a:lvl5pPr>
      <a:lvl6pPr marL="25146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jpe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image" Target="../media/image34.png"/><Relationship Id="rId7" Type="http://schemas.openxmlformats.org/officeDocument/2006/relationships/image" Target="../media/image33.png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39.png"/><Relationship Id="rId1" Type="http://schemas.openxmlformats.org/officeDocument/2006/relationships/image" Target="../media/image38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41.jpeg"/><Relationship Id="rId1" Type="http://schemas.openxmlformats.org/officeDocument/2006/relationships/image" Target="../media/image40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43.jpeg"/><Relationship Id="rId1" Type="http://schemas.openxmlformats.org/officeDocument/2006/relationships/image" Target="../media/image42.jpe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46.png"/><Relationship Id="rId2" Type="http://schemas.openxmlformats.org/officeDocument/2006/relationships/image" Target="../media/image45.jpeg"/><Relationship Id="rId1" Type="http://schemas.openxmlformats.org/officeDocument/2006/relationships/image" Target="../media/image44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47.jpe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8.jpeg"/><Relationship Id="rId2" Type="http://schemas.openxmlformats.org/officeDocument/2006/relationships/tags" Target="../tags/tag1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51.png"/><Relationship Id="rId1" Type="http://schemas.openxmlformats.org/officeDocument/2006/relationships/image" Target="../media/image50.jpe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54.jpeg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57.png"/><Relationship Id="rId2" Type="http://schemas.openxmlformats.org/officeDocument/2006/relationships/image" Target="../media/image56.jpeg"/><Relationship Id="rId1" Type="http://schemas.openxmlformats.org/officeDocument/2006/relationships/image" Target="../media/image55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61.png"/><Relationship Id="rId1" Type="http://schemas.openxmlformats.org/officeDocument/2006/relationships/image" Target="../media/image60.jpe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64.png"/><Relationship Id="rId2" Type="http://schemas.openxmlformats.org/officeDocument/2006/relationships/image" Target="../media/image63.jpeg"/><Relationship Id="rId1" Type="http://schemas.openxmlformats.org/officeDocument/2006/relationships/image" Target="../media/image6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65.jpe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6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2.xml"/><Relationship Id="rId1" Type="http://schemas.openxmlformats.org/officeDocument/2006/relationships/image" Target="../media/image67.png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tags" Target="../tags/tag4.xml"/><Relationship Id="rId4" Type="http://schemas.openxmlformats.org/officeDocument/2006/relationships/image" Target="../media/image70.png"/><Relationship Id="rId3" Type="http://schemas.openxmlformats.org/officeDocument/2006/relationships/image" Target="../media/image69.jpeg"/><Relationship Id="rId2" Type="http://schemas.openxmlformats.org/officeDocument/2006/relationships/image" Target="../media/image68.png"/><Relationship Id="rId1" Type="http://schemas.openxmlformats.org/officeDocument/2006/relationships/tags" Target="../tags/tag3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tags" Target="../tags/tag6.xml"/><Relationship Id="rId7" Type="http://schemas.openxmlformats.org/officeDocument/2006/relationships/image" Target="../media/image76.png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jpeg"/><Relationship Id="rId3" Type="http://schemas.openxmlformats.org/officeDocument/2006/relationships/image" Target="../media/image72.jpeg"/><Relationship Id="rId2" Type="http://schemas.openxmlformats.org/officeDocument/2006/relationships/image" Target="../media/image71.jpeg"/><Relationship Id="rId1" Type="http://schemas.openxmlformats.org/officeDocument/2006/relationships/tags" Target="../tags/tag5.xml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tags" Target="../tags/tag7.xml"/><Relationship Id="rId4" Type="http://schemas.openxmlformats.org/officeDocument/2006/relationships/image" Target="../media/image80.png"/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image" Target="../media/image77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9.xml"/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tags" Target="../tags/tag8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1.xml"/><Relationship Id="rId2" Type="http://schemas.openxmlformats.org/officeDocument/2006/relationships/image" Target="../media/image83.png"/><Relationship Id="rId1" Type="http://schemas.openxmlformats.org/officeDocument/2006/relationships/tags" Target="../tags/tag10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2.xml"/><Relationship Id="rId2" Type="http://schemas.openxmlformats.org/officeDocument/2006/relationships/image" Target="../media/image3.png"/><Relationship Id="rId1" Type="http://schemas.openxmlformats.org/officeDocument/2006/relationships/image" Target="../media/image66.pn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3.xml"/><Relationship Id="rId3" Type="http://schemas.openxmlformats.org/officeDocument/2006/relationships/image" Target="../media/image86.jpeg"/><Relationship Id="rId2" Type="http://schemas.openxmlformats.org/officeDocument/2006/relationships/image" Target="../media/image85.png"/><Relationship Id="rId1" Type="http://schemas.openxmlformats.org/officeDocument/2006/relationships/image" Target="../media/image8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4.xml"/><Relationship Id="rId1" Type="http://schemas.openxmlformats.org/officeDocument/2006/relationships/image" Target="../media/image8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5.xml"/><Relationship Id="rId1" Type="http://schemas.openxmlformats.org/officeDocument/2006/relationships/image" Target="../media/image88.png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tags" Target="../tags/tag16.xml"/><Relationship Id="rId4" Type="http://schemas.openxmlformats.org/officeDocument/2006/relationships/image" Target="../media/image92.png"/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image" Target="../media/image89.png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tags" Target="../tags/tag17.xml"/><Relationship Id="rId4" Type="http://schemas.openxmlformats.org/officeDocument/2006/relationships/image" Target="../media/image96.jpeg"/><Relationship Id="rId3" Type="http://schemas.openxmlformats.org/officeDocument/2006/relationships/image" Target="../media/image95.jpeg"/><Relationship Id="rId2" Type="http://schemas.openxmlformats.org/officeDocument/2006/relationships/image" Target="../media/image94.jpeg"/><Relationship Id="rId1" Type="http://schemas.openxmlformats.org/officeDocument/2006/relationships/image" Target="../media/image93.jpeg"/></Relationships>
</file>

<file path=ppt/slides/_rels/slide4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8.xml"/><Relationship Id="rId4" Type="http://schemas.openxmlformats.org/officeDocument/2006/relationships/image" Target="../media/image100.png"/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image" Target="../media/image97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9.xml"/><Relationship Id="rId2" Type="http://schemas.openxmlformats.org/officeDocument/2006/relationships/image" Target="../media/image3.png"/><Relationship Id="rId1" Type="http://schemas.openxmlformats.org/officeDocument/2006/relationships/image" Target="../media/image10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7" Type="http://schemas.openxmlformats.org/officeDocument/2006/relationships/tags" Target="../tags/tag20.xml"/><Relationship Id="rId6" Type="http://schemas.openxmlformats.org/officeDocument/2006/relationships/image" Target="../media/image107.png"/><Relationship Id="rId5" Type="http://schemas.openxmlformats.org/officeDocument/2006/relationships/image" Target="../media/image106.jpeg"/><Relationship Id="rId4" Type="http://schemas.openxmlformats.org/officeDocument/2006/relationships/image" Target="../media/image105.png"/><Relationship Id="rId3" Type="http://schemas.openxmlformats.org/officeDocument/2006/relationships/image" Target="../media/image104.jpeg"/><Relationship Id="rId2" Type="http://schemas.openxmlformats.org/officeDocument/2006/relationships/image" Target="../media/image103.png"/><Relationship Id="rId1" Type="http://schemas.openxmlformats.org/officeDocument/2006/relationships/image" Target="../media/image102.jpeg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21.xml"/><Relationship Id="rId3" Type="http://schemas.openxmlformats.org/officeDocument/2006/relationships/image" Target="../media/image110.jpeg"/><Relationship Id="rId2" Type="http://schemas.openxmlformats.org/officeDocument/2006/relationships/image" Target="../media/image109.png"/><Relationship Id="rId1" Type="http://schemas.openxmlformats.org/officeDocument/2006/relationships/image" Target="../media/image108.png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22.xml"/><Relationship Id="rId3" Type="http://schemas.openxmlformats.org/officeDocument/2006/relationships/image" Target="../media/image113.jpeg"/><Relationship Id="rId2" Type="http://schemas.openxmlformats.org/officeDocument/2006/relationships/image" Target="../media/image112.jpeg"/><Relationship Id="rId1" Type="http://schemas.openxmlformats.org/officeDocument/2006/relationships/image" Target="../media/image111.jpeg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24.xml"/><Relationship Id="rId3" Type="http://schemas.openxmlformats.org/officeDocument/2006/relationships/image" Target="../media/image115.jpeg"/><Relationship Id="rId2" Type="http://schemas.openxmlformats.org/officeDocument/2006/relationships/tags" Target="../tags/tag23.xml"/><Relationship Id="rId1" Type="http://schemas.openxmlformats.org/officeDocument/2006/relationships/image" Target="../media/image114.png"/></Relationships>
</file>

<file path=ppt/slides/_rels/slide4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25.xml"/><Relationship Id="rId5" Type="http://schemas.openxmlformats.org/officeDocument/2006/relationships/image" Target="../media/image3.png"/><Relationship Id="rId4" Type="http://schemas.openxmlformats.org/officeDocument/2006/relationships/image" Target="../media/image119.png"/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image" Target="../media/image116.png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26.xml"/><Relationship Id="rId3" Type="http://schemas.openxmlformats.org/officeDocument/2006/relationships/image" Target="../media/image3.png"/><Relationship Id="rId2" Type="http://schemas.openxmlformats.org/officeDocument/2006/relationships/image" Target="../media/image121.png"/><Relationship Id="rId1" Type="http://schemas.openxmlformats.org/officeDocument/2006/relationships/image" Target="../media/image120.jpeg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27.xml"/><Relationship Id="rId3" Type="http://schemas.openxmlformats.org/officeDocument/2006/relationships/image" Target="../media/image3.png"/><Relationship Id="rId2" Type="http://schemas.openxmlformats.org/officeDocument/2006/relationships/image" Target="../media/image123.jpeg"/><Relationship Id="rId1" Type="http://schemas.openxmlformats.org/officeDocument/2006/relationships/image" Target="../media/image122.jpeg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28.xml"/><Relationship Id="rId2" Type="http://schemas.openxmlformats.org/officeDocument/2006/relationships/image" Target="../media/image3.png"/><Relationship Id="rId1" Type="http://schemas.openxmlformats.org/officeDocument/2006/relationships/image" Target="../media/image124.png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tags" Target="../tags/tag29.xml"/><Relationship Id="rId7" Type="http://schemas.openxmlformats.org/officeDocument/2006/relationships/image" Target="../media/image3.png"/><Relationship Id="rId6" Type="http://schemas.openxmlformats.org/officeDocument/2006/relationships/image" Target="../media/image130.jpeg"/><Relationship Id="rId5" Type="http://schemas.openxmlformats.org/officeDocument/2006/relationships/image" Target="../media/image129.jpeg"/><Relationship Id="rId4" Type="http://schemas.openxmlformats.org/officeDocument/2006/relationships/image" Target="../media/image128.jpeg"/><Relationship Id="rId3" Type="http://schemas.openxmlformats.org/officeDocument/2006/relationships/image" Target="../media/image127.jpeg"/><Relationship Id="rId2" Type="http://schemas.openxmlformats.org/officeDocument/2006/relationships/image" Target="../media/image126.jpeg"/><Relationship Id="rId1" Type="http://schemas.openxmlformats.org/officeDocument/2006/relationships/image" Target="../media/image125.jpeg"/></Relationships>
</file>

<file path=ppt/slides/_rels/slide5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tags" Target="../tags/tag30.xml"/><Relationship Id="rId4" Type="http://schemas.openxmlformats.org/officeDocument/2006/relationships/image" Target="../media/image3.png"/><Relationship Id="rId3" Type="http://schemas.openxmlformats.org/officeDocument/2006/relationships/image" Target="../media/image133.jpeg"/><Relationship Id="rId2" Type="http://schemas.openxmlformats.org/officeDocument/2006/relationships/image" Target="../media/image132.jpeg"/><Relationship Id="rId1" Type="http://schemas.openxmlformats.org/officeDocument/2006/relationships/image" Target="../media/image131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31.xml"/><Relationship Id="rId1" Type="http://schemas.openxmlformats.org/officeDocument/2006/relationships/image" Target="../media/image13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135.png"/></Relationships>
</file>

<file path=ppt/slides/_rels/slide5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9.jpeg"/><Relationship Id="rId3" Type="http://schemas.openxmlformats.org/officeDocument/2006/relationships/image" Target="../media/image138.jpeg"/><Relationship Id="rId2" Type="http://schemas.openxmlformats.org/officeDocument/2006/relationships/image" Target="../media/image137.jpeg"/><Relationship Id="rId1" Type="http://schemas.openxmlformats.org/officeDocument/2006/relationships/image" Target="../media/image136.jpeg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2.jpeg"/><Relationship Id="rId2" Type="http://schemas.openxmlformats.org/officeDocument/2006/relationships/image" Target="../media/image141.jpeg"/><Relationship Id="rId1" Type="http://schemas.openxmlformats.org/officeDocument/2006/relationships/image" Target="../media/image140.jpeg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32.xml"/><Relationship Id="rId2" Type="http://schemas.openxmlformats.org/officeDocument/2006/relationships/image" Target="../media/image3.png"/><Relationship Id="rId1" Type="http://schemas.openxmlformats.org/officeDocument/2006/relationships/image" Target="../media/image143.jpeg"/></Relationships>
</file>

<file path=ppt/slides/_rels/slide5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tags" Target="../tags/tag33.xml"/><Relationship Id="rId4" Type="http://schemas.openxmlformats.org/officeDocument/2006/relationships/image" Target="../media/image3.png"/><Relationship Id="rId3" Type="http://schemas.openxmlformats.org/officeDocument/2006/relationships/image" Target="../media/image146.jpeg"/><Relationship Id="rId2" Type="http://schemas.openxmlformats.org/officeDocument/2006/relationships/image" Target="../media/image145.jpeg"/><Relationship Id="rId1" Type="http://schemas.openxmlformats.org/officeDocument/2006/relationships/image" Target="../media/image144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34.xml"/><Relationship Id="rId1" Type="http://schemas.openxmlformats.org/officeDocument/2006/relationships/image" Target="../media/image147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49.png"/><Relationship Id="rId1" Type="http://schemas.openxmlformats.org/officeDocument/2006/relationships/image" Target="../media/image14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51.png"/><Relationship Id="rId1" Type="http://schemas.openxmlformats.org/officeDocument/2006/relationships/image" Target="../media/image150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2.jpe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3.jpe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55.png"/><Relationship Id="rId1" Type="http://schemas.openxmlformats.org/officeDocument/2006/relationships/image" Target="../media/image154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6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7.jpe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8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文本框 10"/>
          <p:cNvSpPr txBox="1"/>
          <p:nvPr/>
        </p:nvSpPr>
        <p:spPr>
          <a:xfrm>
            <a:off x="4049713" y="2195513"/>
            <a:ext cx="8142287" cy="8302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sz="4800" b="1" dirty="0">
                <a:latin typeface="Roboto Light"/>
                <a:ea typeface="黑体" panose="02010609060101010101" charset="-122"/>
              </a:rPr>
              <a:t>多模态技术辅助脑胶质瘤切除</a:t>
            </a:r>
            <a:endParaRPr lang="zh-CN" altLang="en-US" sz="48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075" name="文本框 11"/>
          <p:cNvSpPr txBox="1">
            <a:spLocks noChangeArrowheads="1"/>
          </p:cNvSpPr>
          <p:nvPr/>
        </p:nvSpPr>
        <p:spPr bwMode="auto">
          <a:xfrm flipH="1">
            <a:off x="4741863" y="4916488"/>
            <a:ext cx="6453188" cy="5826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Roboto Light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Roboto Light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Roboto Light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Roboto Light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Roboto Light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Roboto Light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Roboto Light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Roboto Light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Roboto Light"/>
                <a:ea typeface="微软雅黑 Light" panose="020B0502040204020203" pitchFamily="34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C984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岑</a:t>
            </a: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C984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 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C984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charset="-122"/>
                <a:ea typeface="黑体" panose="02010609060101010101" charset="-122"/>
                <a:cs typeface="+mn-cs"/>
              </a:rPr>
              <a:t>波 </a:t>
            </a:r>
            <a:endParaRPr kumimoji="0" lang="zh-CN" altLang="en-US" sz="3200" b="1" i="0" u="none" strike="noStrike" kern="1200" cap="none" spc="0" normalizeH="0" baseline="0" noProof="0" dirty="0" smtClean="0">
              <a:ln>
                <a:noFill/>
              </a:ln>
              <a:solidFill>
                <a:srgbClr val="7C984A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charset="-122"/>
              <a:ea typeface="黑体" panose="02010609060101010101" charset="-122"/>
              <a:cs typeface="+mn-cs"/>
            </a:endParaRPr>
          </a:p>
        </p:txBody>
      </p:sp>
      <p:sp>
        <p:nvSpPr>
          <p:cNvPr id="13315" name="矩形 14"/>
          <p:cNvSpPr/>
          <p:nvPr/>
        </p:nvSpPr>
        <p:spPr>
          <a:xfrm>
            <a:off x="6310313" y="4340225"/>
            <a:ext cx="3344862" cy="579438"/>
          </a:xfrm>
          <a:prstGeom prst="rect">
            <a:avLst/>
          </a:prstGeom>
          <a:solidFill>
            <a:srgbClr val="C2AD8D"/>
          </a:solidFill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ts val="1200"/>
              </a:spcBef>
            </a:pPr>
            <a:r>
              <a:rPr lang="zh-CN" altLang="en-US" sz="32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武汉脑科医院</a:t>
            </a:r>
            <a:endParaRPr lang="zh-CN" altLang="en-US" sz="3200" b="1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13316" name="组合 8"/>
          <p:cNvGrpSpPr/>
          <p:nvPr/>
        </p:nvGrpSpPr>
        <p:grpSpPr>
          <a:xfrm>
            <a:off x="0" y="0"/>
            <a:ext cx="4822825" cy="3502025"/>
            <a:chOff x="0" y="0"/>
            <a:chExt cx="4823439" cy="3501288"/>
          </a:xfrm>
        </p:grpSpPr>
        <p:sp>
          <p:nvSpPr>
            <p:cNvPr id="13317" name="等腰三角形 3"/>
            <p:cNvSpPr/>
            <p:nvPr/>
          </p:nvSpPr>
          <p:spPr>
            <a:xfrm rot="5400000">
              <a:off x="-95029" y="95020"/>
              <a:ext cx="1379248" cy="1189189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18" name="等腰三角形 24"/>
            <p:cNvSpPr/>
            <p:nvPr/>
          </p:nvSpPr>
          <p:spPr>
            <a:xfrm rot="-5400000">
              <a:off x="-94235" y="802102"/>
              <a:ext cx="1377660" cy="1189189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19" name="等腰三角形 25"/>
            <p:cNvSpPr/>
            <p:nvPr/>
          </p:nvSpPr>
          <p:spPr>
            <a:xfrm rot="5400000">
              <a:off x="-94235" y="1509978"/>
              <a:ext cx="1377660" cy="1189189"/>
            </a:xfrm>
            <a:prstGeom prst="triangle">
              <a:avLst>
                <a:gd name="adj" fmla="val 50000"/>
              </a:avLst>
            </a:prstGeom>
            <a:solidFill>
              <a:srgbClr val="08A1D9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20" name="等腰三角形 26"/>
            <p:cNvSpPr/>
            <p:nvPr/>
          </p:nvSpPr>
          <p:spPr>
            <a:xfrm rot="-5400000">
              <a:off x="1117171" y="95814"/>
              <a:ext cx="1379248" cy="1187601"/>
            </a:xfrm>
            <a:prstGeom prst="triangle">
              <a:avLst>
                <a:gd name="adj" fmla="val 50000"/>
              </a:avLst>
            </a:prstGeom>
            <a:solidFill>
              <a:srgbClr val="C2AD8D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21" name="等腰三角形 27"/>
            <p:cNvSpPr/>
            <p:nvPr/>
          </p:nvSpPr>
          <p:spPr>
            <a:xfrm rot="5400000">
              <a:off x="1110831" y="802111"/>
              <a:ext cx="1377660" cy="1189188"/>
            </a:xfrm>
            <a:prstGeom prst="triangle">
              <a:avLst>
                <a:gd name="adj" fmla="val 50000"/>
              </a:avLst>
            </a:prstGeom>
            <a:solidFill>
              <a:srgbClr val="7C984A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22" name="等腰三角形 28"/>
            <p:cNvSpPr/>
            <p:nvPr/>
          </p:nvSpPr>
          <p:spPr>
            <a:xfrm rot="-5400000">
              <a:off x="1112408" y="1509978"/>
              <a:ext cx="1377660" cy="1189189"/>
            </a:xfrm>
            <a:prstGeom prst="triangle">
              <a:avLst>
                <a:gd name="adj" fmla="val 50000"/>
              </a:avLst>
            </a:prstGeom>
            <a:solidFill>
              <a:srgbClr val="506E94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23" name="等腰三角形 29"/>
            <p:cNvSpPr/>
            <p:nvPr/>
          </p:nvSpPr>
          <p:spPr>
            <a:xfrm rot="5400000">
              <a:off x="2334145" y="95020"/>
              <a:ext cx="1379248" cy="1189189"/>
            </a:xfrm>
            <a:prstGeom prst="triangle">
              <a:avLst>
                <a:gd name="adj" fmla="val 50000"/>
              </a:avLst>
            </a:prstGeom>
            <a:solidFill>
              <a:srgbClr val="08A1D9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24" name="等腰三角形 30"/>
            <p:cNvSpPr/>
            <p:nvPr/>
          </p:nvSpPr>
          <p:spPr>
            <a:xfrm rot="5400000">
              <a:off x="1110028" y="2217060"/>
              <a:ext cx="1379247" cy="1189188"/>
            </a:xfrm>
            <a:prstGeom prst="triangle">
              <a:avLst>
                <a:gd name="adj" fmla="val 50000"/>
              </a:avLst>
            </a:prstGeom>
            <a:solidFill>
              <a:srgbClr val="BFBFBF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25" name="等腰三角形 31"/>
            <p:cNvSpPr/>
            <p:nvPr/>
          </p:nvSpPr>
          <p:spPr>
            <a:xfrm rot="-5400000">
              <a:off x="2334939" y="802102"/>
              <a:ext cx="1377660" cy="1189189"/>
            </a:xfrm>
            <a:prstGeom prst="triangle">
              <a:avLst>
                <a:gd name="adj" fmla="val 50000"/>
              </a:avLst>
            </a:prstGeom>
            <a:solidFill>
              <a:srgbClr val="BFBFBF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26" name="等腰三角形 32"/>
            <p:cNvSpPr/>
            <p:nvPr/>
          </p:nvSpPr>
          <p:spPr>
            <a:xfrm rot="5400000">
              <a:off x="3540015" y="802111"/>
              <a:ext cx="1377660" cy="1189188"/>
            </a:xfrm>
            <a:prstGeom prst="triangle">
              <a:avLst>
                <a:gd name="adj" fmla="val 50000"/>
              </a:avLst>
            </a:prstGeom>
            <a:solidFill>
              <a:srgbClr val="C2AD8D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327" name="组合 40"/>
          <p:cNvGrpSpPr/>
          <p:nvPr/>
        </p:nvGrpSpPr>
        <p:grpSpPr>
          <a:xfrm>
            <a:off x="0" y="6718300"/>
            <a:ext cx="12199938" cy="139700"/>
            <a:chOff x="0" y="0"/>
            <a:chExt cx="13144500" cy="404812"/>
          </a:xfrm>
        </p:grpSpPr>
        <p:sp>
          <p:nvSpPr>
            <p:cNvPr id="13328" name="矩形 34"/>
            <p:cNvSpPr/>
            <p:nvPr/>
          </p:nvSpPr>
          <p:spPr>
            <a:xfrm>
              <a:off x="0" y="0"/>
              <a:ext cx="2191036" cy="404812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29" name="矩形 35"/>
            <p:cNvSpPr/>
            <p:nvPr/>
          </p:nvSpPr>
          <p:spPr>
            <a:xfrm>
              <a:off x="2191036" y="0"/>
              <a:ext cx="2191034" cy="404812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30" name="矩形 36"/>
            <p:cNvSpPr/>
            <p:nvPr/>
          </p:nvSpPr>
          <p:spPr>
            <a:xfrm>
              <a:off x="4382070" y="0"/>
              <a:ext cx="2191036" cy="404812"/>
            </a:xfrm>
            <a:prstGeom prst="rect">
              <a:avLst/>
            </a:prstGeom>
            <a:solidFill>
              <a:srgbClr val="08A1D9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31" name="矩形 37"/>
            <p:cNvSpPr/>
            <p:nvPr/>
          </p:nvSpPr>
          <p:spPr>
            <a:xfrm>
              <a:off x="8762430" y="0"/>
              <a:ext cx="2191034" cy="404812"/>
            </a:xfrm>
            <a:prstGeom prst="rect">
              <a:avLst/>
            </a:prstGeom>
            <a:solidFill>
              <a:srgbClr val="C2AD8D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32" name="矩形 38"/>
            <p:cNvSpPr/>
            <p:nvPr/>
          </p:nvSpPr>
          <p:spPr>
            <a:xfrm>
              <a:off x="6573105" y="0"/>
              <a:ext cx="2189325" cy="404812"/>
            </a:xfrm>
            <a:prstGeom prst="rect">
              <a:avLst/>
            </a:prstGeom>
            <a:solidFill>
              <a:srgbClr val="7C984A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33" name="矩形 39"/>
            <p:cNvSpPr/>
            <p:nvPr/>
          </p:nvSpPr>
          <p:spPr>
            <a:xfrm>
              <a:off x="10953464" y="0"/>
              <a:ext cx="2191036" cy="404812"/>
            </a:xfrm>
            <a:prstGeom prst="rect">
              <a:avLst/>
            </a:prstGeom>
            <a:solidFill>
              <a:srgbClr val="506E94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337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39712" y="0"/>
            <a:ext cx="12309475" cy="68865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5361" name="组合 7"/>
          <p:cNvGrpSpPr/>
          <p:nvPr/>
        </p:nvGrpSpPr>
        <p:grpSpPr>
          <a:xfrm>
            <a:off x="0" y="2300288"/>
            <a:ext cx="3910013" cy="3335337"/>
            <a:chOff x="8493" y="1456085"/>
            <a:chExt cx="4188634" cy="3517900"/>
          </a:xfrm>
        </p:grpSpPr>
        <p:pic>
          <p:nvPicPr>
            <p:cNvPr id="15362" name="Picture 5" descr="QQ图片20160324120438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10081" y="1456085"/>
              <a:ext cx="4187046" cy="2806700"/>
            </a:xfrm>
            <a:prstGeom prst="rect">
              <a:avLst/>
            </a:prstGeom>
            <a:noFill/>
            <a:ln w="9525" cap="flat" cmpd="sng">
              <a:solidFill>
                <a:srgbClr val="00B0F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4" name="矩形 3"/>
            <p:cNvSpPr/>
            <p:nvPr/>
          </p:nvSpPr>
          <p:spPr>
            <a:xfrm>
              <a:off x="8493" y="4277437"/>
              <a:ext cx="4188634" cy="6965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55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+mn-lt"/>
                  <a:ea typeface="+mn-ea"/>
                  <a:cs typeface="微软雅黑" panose="020B0503020204020204" pitchFamily="34" charset="-122"/>
                </a:rPr>
                <a:t>神外一护士站</a:t>
              </a:r>
              <a:endParaRPr kumimoji="0" sz="2655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微软雅黑" panose="020B0503020204020204" pitchFamily="34" charset="-122"/>
              </a:endParaRPr>
            </a:p>
          </p:txBody>
        </p:sp>
      </p:grpSp>
      <p:grpSp>
        <p:nvGrpSpPr>
          <p:cNvPr id="15364" name="组合 8"/>
          <p:cNvGrpSpPr/>
          <p:nvPr/>
        </p:nvGrpSpPr>
        <p:grpSpPr>
          <a:xfrm>
            <a:off x="3935413" y="2298700"/>
            <a:ext cx="4138612" cy="3336925"/>
            <a:chOff x="4533418" y="1468786"/>
            <a:chExt cx="4397821" cy="3490912"/>
          </a:xfrm>
        </p:grpSpPr>
        <p:pic>
          <p:nvPicPr>
            <p:cNvPr id="15365" name="Picture 4" descr="IMG_1439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533418" y="1468786"/>
              <a:ext cx="4392488" cy="2808287"/>
            </a:xfrm>
            <a:prstGeom prst="rect">
              <a:avLst/>
            </a:prstGeom>
            <a:noFill/>
            <a:ln w="9525" cap="flat" cmpd="sng">
              <a:solidFill>
                <a:srgbClr val="00B0F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7" name="矩形 6"/>
            <p:cNvSpPr/>
            <p:nvPr/>
          </p:nvSpPr>
          <p:spPr>
            <a:xfrm>
              <a:off x="4538478" y="4262180"/>
              <a:ext cx="4392761" cy="69751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55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+mn-lt"/>
                  <a:ea typeface="+mn-ea"/>
                  <a:cs typeface="微软雅黑" panose="020B0503020204020204" pitchFamily="34" charset="-122"/>
                </a:rPr>
                <a:t>神外二护士站</a:t>
              </a:r>
              <a:endParaRPr kumimoji="0" sz="2655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微软雅黑" panose="020B0503020204020204" pitchFamily="34" charset="-122"/>
              </a:endParaRPr>
            </a:p>
          </p:txBody>
        </p:sp>
      </p:grpSp>
      <p:grpSp>
        <p:nvGrpSpPr>
          <p:cNvPr id="15367" name="组合 9"/>
          <p:cNvGrpSpPr/>
          <p:nvPr/>
        </p:nvGrpSpPr>
        <p:grpSpPr>
          <a:xfrm>
            <a:off x="8094663" y="2298700"/>
            <a:ext cx="4090987" cy="3336925"/>
            <a:chOff x="9096630" y="1454497"/>
            <a:chExt cx="3765079" cy="3446961"/>
          </a:xfrm>
        </p:grpSpPr>
        <p:pic>
          <p:nvPicPr>
            <p:cNvPr id="15368" name="Picture 10" descr="ICU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9107093" y="1454497"/>
              <a:ext cx="3751657" cy="2808288"/>
            </a:xfrm>
            <a:prstGeom prst="rect">
              <a:avLst/>
            </a:prstGeom>
            <a:noFill/>
            <a:ln w="9525" cap="flat" cmpd="sng">
              <a:solidFill>
                <a:srgbClr val="00B0F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0" name="矩形 9"/>
            <p:cNvSpPr/>
            <p:nvPr/>
          </p:nvSpPr>
          <p:spPr>
            <a:xfrm>
              <a:off x="9096630" y="4202883"/>
              <a:ext cx="3765079" cy="698575"/>
            </a:xfrm>
            <a:prstGeom prst="rect">
              <a:avLst/>
            </a:prstGeom>
            <a:solidFill>
              <a:srgbClr val="66FF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655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+mn-lt"/>
                  <a:ea typeface="+mn-ea"/>
                  <a:cs typeface="微软雅黑 Light" panose="020B0502040204020203" pitchFamily="34" charset="-122"/>
                </a:rPr>
                <a:t>NICU</a:t>
              </a:r>
              <a:endParaRPr kumimoji="0" lang="en-US" altLang="zh-CN" sz="2655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ea typeface="+mn-ea"/>
                <a:cs typeface="微软雅黑 Light" panose="020B0502040204020203" pitchFamily="34" charset="-122"/>
              </a:endParaRPr>
            </a:p>
          </p:txBody>
        </p:sp>
      </p:grpSp>
      <p:sp>
        <p:nvSpPr>
          <p:cNvPr id="11" name="标题 1"/>
          <p:cNvSpPr txBox="1"/>
          <p:nvPr/>
        </p:nvSpPr>
        <p:spPr>
          <a:xfrm>
            <a:off x="1865313" y="365125"/>
            <a:ext cx="9488488" cy="1325563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j-cs"/>
              </a:rPr>
              <a:t>神经外科概况</a:t>
            </a:r>
            <a:endParaRPr kumimoji="0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+mj-cs"/>
            </a:endParaRPr>
          </a:p>
        </p:txBody>
      </p:sp>
      <p:pic>
        <p:nvPicPr>
          <p:cNvPr id="15371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385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705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内容占位符 2" descr="7b0a202020202262756c6c6574223a20227b5c2263617465676f727949645c223a31303031322c5c2274656d706c61746549645c223a32303233313237347d220a7d0a"/>
          <p:cNvSpPr txBox="1"/>
          <p:nvPr/>
        </p:nvSpPr>
        <p:spPr>
          <a:xfrm>
            <a:off x="1301750" y="1949450"/>
            <a:ext cx="1040765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lnSpc>
                <a:spcPct val="150000"/>
              </a:lnSpc>
              <a:spcBef>
                <a:spcPct val="20000"/>
              </a:spcBef>
              <a:buSzPct val="168000"/>
              <a:buBlip>
                <a:blip r:embed="rId1"/>
              </a:buBlip>
            </a:pP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患者，喻**，男，</a:t>
            </a: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62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岁</a:t>
            </a:r>
            <a:endParaRPr lang="en-US" altLang="zh-CN" sz="2800" dirty="0">
              <a:latin typeface="黑体" panose="02010609060101010101" charset="-122"/>
              <a:ea typeface="黑体" panose="02010609060101010101" charset="-12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SzPct val="168000"/>
              <a:buBlip>
                <a:blip r:embed="rId1"/>
              </a:buBlip>
            </a:pP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主诉：吐词不清一周</a:t>
            </a:r>
            <a:endParaRPr lang="en-US" altLang="zh-CN" sz="2800" dirty="0">
              <a:latin typeface="黑体" panose="02010609060101010101" charset="-122"/>
              <a:ea typeface="黑体" panose="02010609060101010101" charset="-12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SzPct val="168000"/>
              <a:buBlip>
                <a:blip r:embed="rId1"/>
              </a:buBlip>
            </a:pP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既往：体健</a:t>
            </a:r>
            <a:endParaRPr lang="en-US" altLang="zh-CN" sz="2800" dirty="0">
              <a:latin typeface="黑体" panose="02010609060101010101" charset="-122"/>
              <a:ea typeface="黑体" panose="02010609060101010101" charset="-12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SzPct val="168000"/>
              <a:buBlip>
                <a:blip r:embed="rId1"/>
              </a:buBlip>
            </a:pP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体格检查：神志清楚，双瞳</a:t>
            </a: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3mm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，光发射灵敏，伸舌居中，吐词欠清，可正确理解、书写，四肢肌力</a:t>
            </a: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5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级</a:t>
            </a:r>
            <a:endParaRPr lang="en-US" altLang="zh-CN" sz="2800" dirty="0">
              <a:latin typeface="黑体" panose="02010609060101010101" charset="-122"/>
              <a:ea typeface="黑体" panose="02010609060101010101" charset="-122"/>
            </a:endParaRPr>
          </a:p>
          <a:p>
            <a:pPr marL="342900" indent="-342900">
              <a:spcBef>
                <a:spcPct val="20000"/>
              </a:spcBef>
              <a:buBlip>
                <a:blip r:embed="rId1"/>
              </a:buBlip>
            </a:pPr>
            <a:endParaRPr lang="en-US" altLang="zh-CN" sz="28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410" name="矩形 4"/>
          <p:cNvSpPr/>
          <p:nvPr/>
        </p:nvSpPr>
        <p:spPr>
          <a:xfrm>
            <a:off x="1585913" y="592138"/>
            <a:ext cx="3857625" cy="7080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</a:rPr>
              <a:t>病例</a:t>
            </a:r>
            <a:r>
              <a:rPr lang="en-US" altLang="zh-CN" sz="4000" dirty="0">
                <a:latin typeface="黑体" panose="02010609060101010101" charset="-122"/>
                <a:ea typeface="黑体" panose="02010609060101010101" charset="-122"/>
              </a:rPr>
              <a:t>1</a:t>
            </a:r>
            <a:endParaRPr lang="en-US" altLang="zh-CN" sz="4000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17411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内容占位符 2"/>
          <p:cNvSpPr txBox="1"/>
          <p:nvPr/>
        </p:nvSpPr>
        <p:spPr>
          <a:xfrm>
            <a:off x="2024063" y="2143125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  <a:buChar char="•"/>
            </a:pPr>
            <a:endParaRPr lang="zh-CN" altLang="en-US" sz="32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19458" name="矩形 4"/>
          <p:cNvSpPr/>
          <p:nvPr/>
        </p:nvSpPr>
        <p:spPr>
          <a:xfrm>
            <a:off x="4810125" y="1071563"/>
            <a:ext cx="3857625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dirty="0">
                <a:latin typeface="Roboto Light"/>
                <a:ea typeface="宋体" panose="02010600030101010101" pitchFamily="2" charset="-122"/>
              </a:rPr>
              <a:t>      </a:t>
            </a:r>
            <a:endParaRPr lang="zh-CN" altLang="en-US" dirty="0">
              <a:latin typeface="Roboto Light"/>
              <a:ea typeface="微软雅黑 Light" panose="020B0502040204020203" pitchFamily="34" charset="-122"/>
            </a:endParaRPr>
          </a:p>
        </p:txBody>
      </p:sp>
      <p:sp>
        <p:nvSpPr>
          <p:cNvPr id="19459" name="矩形 5"/>
          <p:cNvSpPr/>
          <p:nvPr/>
        </p:nvSpPr>
        <p:spPr>
          <a:xfrm>
            <a:off x="1247775" y="1905000"/>
            <a:ext cx="9785350" cy="2492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50000"/>
              </a:lnSpc>
            </a:pP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07.27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黄陂区人民医院头部</a:t>
            </a: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MRI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提示左侧额叶肿瘤</a:t>
            </a:r>
            <a:endParaRPr lang="zh-CN" altLang="en-US" sz="2800" dirty="0">
              <a:latin typeface="黑体" panose="02010609060101010101" charset="-122"/>
              <a:ea typeface="黑体" panose="02010609060101010101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07.30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我院头部</a:t>
            </a: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MRI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增强提示：左额叶肿瘤，胶质瘤可能性大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</p:txBody>
      </p:sp>
      <p:sp>
        <p:nvSpPr>
          <p:cNvPr id="19460" name="标题 1"/>
          <p:cNvSpPr txBox="1"/>
          <p:nvPr/>
        </p:nvSpPr>
        <p:spPr>
          <a:xfrm>
            <a:off x="1624013" y="647700"/>
            <a:ext cx="8229600" cy="714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r>
              <a:rPr lang="zh-CN" altLang="en-US" sz="36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辅助检查</a:t>
            </a:r>
            <a:endParaRPr lang="zh-CN" altLang="en-US" sz="3600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19461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内容占位符 2"/>
          <p:cNvSpPr txBox="1"/>
          <p:nvPr/>
        </p:nvSpPr>
        <p:spPr>
          <a:xfrm>
            <a:off x="2024063" y="2143125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  <a:buChar char="•"/>
            </a:pPr>
            <a:endParaRPr lang="zh-CN" altLang="en-US" sz="32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21506" name="矩形 4"/>
          <p:cNvSpPr/>
          <p:nvPr/>
        </p:nvSpPr>
        <p:spPr>
          <a:xfrm>
            <a:off x="4810125" y="1071563"/>
            <a:ext cx="3857625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dirty="0">
                <a:latin typeface="Roboto Light"/>
                <a:ea typeface="宋体" panose="02010600030101010101" pitchFamily="2" charset="-122"/>
              </a:rPr>
              <a:t>      </a:t>
            </a:r>
            <a:endParaRPr lang="zh-CN" altLang="en-US" dirty="0">
              <a:latin typeface="Roboto Light"/>
              <a:ea typeface="微软雅黑 Light" panose="020B0502040204020203" pitchFamily="34" charset="-122"/>
            </a:endParaRPr>
          </a:p>
        </p:txBody>
      </p:sp>
      <p:sp>
        <p:nvSpPr>
          <p:cNvPr id="21507" name="矩形 5"/>
          <p:cNvSpPr/>
          <p:nvPr/>
        </p:nvSpPr>
        <p:spPr>
          <a:xfrm>
            <a:off x="2024063" y="1905000"/>
            <a:ext cx="7786687" cy="1200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</p:txBody>
      </p:sp>
      <p:sp>
        <p:nvSpPr>
          <p:cNvPr id="21508" name="标题 1"/>
          <p:cNvSpPr txBox="1"/>
          <p:nvPr/>
        </p:nvSpPr>
        <p:spPr>
          <a:xfrm>
            <a:off x="2095500" y="1000125"/>
            <a:ext cx="8229600" cy="714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/>
            <a:endParaRPr lang="zh-CN" altLang="en-US" sz="4400" dirty="0">
              <a:solidFill>
                <a:schemeClr val="tx2"/>
              </a:solidFill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pic>
        <p:nvPicPr>
          <p:cNvPr id="2150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225" y="1714500"/>
            <a:ext cx="3659188" cy="38941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1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013" y="1706563"/>
            <a:ext cx="3541712" cy="39020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11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8325" y="1706563"/>
            <a:ext cx="3594100" cy="38941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12" name="矩形 10"/>
          <p:cNvSpPr/>
          <p:nvPr/>
        </p:nvSpPr>
        <p:spPr>
          <a:xfrm>
            <a:off x="1771650" y="487363"/>
            <a:ext cx="2417763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</a:rPr>
              <a:t>术前头部</a:t>
            </a: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</a:rPr>
              <a:t>MRI</a:t>
            </a:r>
            <a:endParaRPr lang="en-US" altLang="zh-CN" sz="3200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1513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内容占位符 2"/>
          <p:cNvSpPr txBox="1"/>
          <p:nvPr/>
        </p:nvSpPr>
        <p:spPr>
          <a:xfrm>
            <a:off x="2024063" y="2143125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  <a:buChar char="•"/>
            </a:pPr>
            <a:endParaRPr lang="zh-CN" altLang="en-US" sz="32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23554" name="矩形 4"/>
          <p:cNvSpPr/>
          <p:nvPr/>
        </p:nvSpPr>
        <p:spPr>
          <a:xfrm>
            <a:off x="4810125" y="1071563"/>
            <a:ext cx="3857625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dirty="0">
                <a:latin typeface="Roboto Light"/>
                <a:ea typeface="宋体" panose="02010600030101010101" pitchFamily="2" charset="-122"/>
              </a:rPr>
              <a:t>      </a:t>
            </a:r>
            <a:endParaRPr lang="zh-CN" altLang="en-US" dirty="0">
              <a:latin typeface="Roboto Light"/>
              <a:ea typeface="微软雅黑 Light" panose="020B0502040204020203" pitchFamily="34" charset="-122"/>
            </a:endParaRPr>
          </a:p>
        </p:txBody>
      </p:sp>
      <p:sp>
        <p:nvSpPr>
          <p:cNvPr id="23555" name="矩形 5"/>
          <p:cNvSpPr/>
          <p:nvPr/>
        </p:nvSpPr>
        <p:spPr>
          <a:xfrm>
            <a:off x="2024063" y="1905000"/>
            <a:ext cx="7786687" cy="1200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</p:txBody>
      </p:sp>
      <p:sp>
        <p:nvSpPr>
          <p:cNvPr id="23556" name="标题 1"/>
          <p:cNvSpPr txBox="1"/>
          <p:nvPr/>
        </p:nvSpPr>
        <p:spPr>
          <a:xfrm>
            <a:off x="2095500" y="1000125"/>
            <a:ext cx="8229600" cy="714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/>
            <a:endParaRPr lang="zh-CN" altLang="en-US" sz="4400" dirty="0">
              <a:solidFill>
                <a:schemeClr val="tx2"/>
              </a:solidFill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pic>
        <p:nvPicPr>
          <p:cNvPr id="23557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00" y="1919288"/>
            <a:ext cx="3565525" cy="3816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925" y="1919288"/>
            <a:ext cx="3486150" cy="38020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9" name="Picture 9" descr="C:\Users\Administrator\Desktop\额叶胶质瘤\术前增强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9075" y="1905000"/>
            <a:ext cx="3697288" cy="3803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60" name="矩形 10"/>
          <p:cNvSpPr/>
          <p:nvPr/>
        </p:nvSpPr>
        <p:spPr>
          <a:xfrm>
            <a:off x="1865313" y="631825"/>
            <a:ext cx="2417762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</a:rPr>
              <a:t>术前</a:t>
            </a:r>
            <a:r>
              <a:rPr lang="en-US" altLang="zh-CN" sz="3200" dirty="0">
                <a:latin typeface="黑体" panose="02010609060101010101" charset="-122"/>
                <a:ea typeface="黑体" panose="02010609060101010101" charset="-122"/>
              </a:rPr>
              <a:t>MRI</a:t>
            </a: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</a:rPr>
              <a:t>增强</a:t>
            </a:r>
            <a:endParaRPr lang="zh-CN" altLang="en-US" sz="3200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3561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矩形 4"/>
          <p:cNvSpPr/>
          <p:nvPr/>
        </p:nvSpPr>
        <p:spPr>
          <a:xfrm>
            <a:off x="4810125" y="1071563"/>
            <a:ext cx="3857625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dirty="0">
                <a:latin typeface="Roboto Light"/>
                <a:ea typeface="宋体" panose="02010600030101010101" pitchFamily="2" charset="-122"/>
              </a:rPr>
              <a:t>      </a:t>
            </a:r>
            <a:endParaRPr lang="zh-CN" altLang="en-US" dirty="0">
              <a:latin typeface="Roboto Light"/>
              <a:ea typeface="微软雅黑 Light" panose="020B0502040204020203" pitchFamily="34" charset="-122"/>
            </a:endParaRPr>
          </a:p>
        </p:txBody>
      </p:sp>
      <p:sp>
        <p:nvSpPr>
          <p:cNvPr id="25602" name="矩形 5"/>
          <p:cNvSpPr/>
          <p:nvPr/>
        </p:nvSpPr>
        <p:spPr>
          <a:xfrm>
            <a:off x="2024063" y="1905000"/>
            <a:ext cx="7786687" cy="1200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</p:txBody>
      </p:sp>
      <p:sp>
        <p:nvSpPr>
          <p:cNvPr id="25603" name="标题 1"/>
          <p:cNvSpPr txBox="1"/>
          <p:nvPr/>
        </p:nvSpPr>
        <p:spPr>
          <a:xfrm>
            <a:off x="2095500" y="1000125"/>
            <a:ext cx="8229600" cy="714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/>
            <a:r>
              <a:rPr lang="zh-CN" altLang="en-US" sz="44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术前</a:t>
            </a:r>
            <a:r>
              <a:rPr lang="en-US" altLang="zh-CN" sz="44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DTI</a:t>
            </a:r>
            <a:endParaRPr lang="zh-CN" altLang="en-US" sz="4400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560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5" name="Picture 2" descr="C:\Users\Administrator\Desktop\额叶胶质瘤\术前DTI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238" y="2143125"/>
            <a:ext cx="3298825" cy="3460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6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163" y="2143125"/>
            <a:ext cx="3373437" cy="3460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7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0125" y="2143125"/>
            <a:ext cx="3446463" cy="3460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内容占位符 2"/>
          <p:cNvSpPr txBox="1"/>
          <p:nvPr/>
        </p:nvSpPr>
        <p:spPr>
          <a:xfrm>
            <a:off x="2024063" y="2143125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  <a:buChar char="•"/>
            </a:pPr>
            <a:endParaRPr lang="zh-CN" altLang="en-US" sz="32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27650" name="矩形 4"/>
          <p:cNvSpPr/>
          <p:nvPr/>
        </p:nvSpPr>
        <p:spPr>
          <a:xfrm>
            <a:off x="4810125" y="1071563"/>
            <a:ext cx="3857625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dirty="0">
                <a:latin typeface="Roboto Light"/>
                <a:ea typeface="宋体" panose="02010600030101010101" pitchFamily="2" charset="-122"/>
              </a:rPr>
              <a:t>      </a:t>
            </a:r>
            <a:endParaRPr lang="zh-CN" altLang="en-US" dirty="0">
              <a:latin typeface="Roboto Light"/>
              <a:ea typeface="微软雅黑 Light" panose="020B0502040204020203" pitchFamily="34" charset="-122"/>
            </a:endParaRPr>
          </a:p>
        </p:txBody>
      </p:sp>
      <p:sp>
        <p:nvSpPr>
          <p:cNvPr id="27651" name="矩形 5"/>
          <p:cNvSpPr/>
          <p:nvPr/>
        </p:nvSpPr>
        <p:spPr>
          <a:xfrm>
            <a:off x="2024063" y="1905000"/>
            <a:ext cx="7786687" cy="1200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</p:txBody>
      </p:sp>
      <p:sp>
        <p:nvSpPr>
          <p:cNvPr id="27652" name="标题 1"/>
          <p:cNvSpPr txBox="1"/>
          <p:nvPr/>
        </p:nvSpPr>
        <p:spPr>
          <a:xfrm>
            <a:off x="2095500" y="1000125"/>
            <a:ext cx="8229600" cy="714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/>
            <a:r>
              <a:rPr lang="zh-CN" altLang="en-US" sz="40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术前</a:t>
            </a:r>
            <a:r>
              <a:rPr lang="en-US" altLang="zh-CN" sz="40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Bold-MRI-</a:t>
            </a:r>
            <a:r>
              <a:rPr lang="zh-CN" altLang="en-US" sz="40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语言</a:t>
            </a:r>
            <a:endParaRPr lang="zh-CN" altLang="en-US" sz="4000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7653" name="内容占位符 2"/>
          <p:cNvSpPr txBox="1"/>
          <p:nvPr/>
        </p:nvSpPr>
        <p:spPr>
          <a:xfrm>
            <a:off x="1981200" y="1928813"/>
            <a:ext cx="8229600" cy="4197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  <a:buChar char="•"/>
            </a:pP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765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2750" y="2000250"/>
            <a:ext cx="1655763" cy="18303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5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0" y="2000250"/>
            <a:ext cx="1500188" cy="18573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5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688" y="2000250"/>
            <a:ext cx="1571625" cy="18367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5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2750" y="4014788"/>
            <a:ext cx="1643063" cy="18430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5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8688" y="4022725"/>
            <a:ext cx="1571625" cy="1835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59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3188" y="3981450"/>
            <a:ext cx="1571625" cy="19478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60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0" y="4000500"/>
            <a:ext cx="1544638" cy="19288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61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3188" y="2000250"/>
            <a:ext cx="1533525" cy="18573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6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内容占位符 2"/>
          <p:cNvSpPr txBox="1"/>
          <p:nvPr/>
        </p:nvSpPr>
        <p:spPr>
          <a:xfrm>
            <a:off x="2024063" y="2143125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  <a:buChar char="•"/>
            </a:pPr>
            <a:endParaRPr lang="zh-CN" altLang="en-US" sz="32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29698" name="矩形 4"/>
          <p:cNvSpPr/>
          <p:nvPr/>
        </p:nvSpPr>
        <p:spPr>
          <a:xfrm>
            <a:off x="4810125" y="1071563"/>
            <a:ext cx="3857625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dirty="0">
                <a:latin typeface="Roboto Light"/>
                <a:ea typeface="宋体" panose="02010600030101010101" pitchFamily="2" charset="-122"/>
              </a:rPr>
              <a:t>      </a:t>
            </a:r>
            <a:endParaRPr lang="zh-CN" altLang="en-US" dirty="0">
              <a:latin typeface="Roboto Light"/>
              <a:ea typeface="微软雅黑 Light" panose="020B0502040204020203" pitchFamily="34" charset="-122"/>
            </a:endParaRPr>
          </a:p>
        </p:txBody>
      </p:sp>
      <p:sp>
        <p:nvSpPr>
          <p:cNvPr id="29699" name="矩形 5"/>
          <p:cNvSpPr/>
          <p:nvPr/>
        </p:nvSpPr>
        <p:spPr>
          <a:xfrm>
            <a:off x="2024063" y="1905000"/>
            <a:ext cx="7786687" cy="1200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</p:txBody>
      </p:sp>
      <p:sp>
        <p:nvSpPr>
          <p:cNvPr id="29700" name="矩形 8"/>
          <p:cNvSpPr/>
          <p:nvPr/>
        </p:nvSpPr>
        <p:spPr>
          <a:xfrm>
            <a:off x="1738313" y="2143125"/>
            <a:ext cx="8072437" cy="1752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701" name="标题 1"/>
          <p:cNvSpPr txBox="1"/>
          <p:nvPr/>
        </p:nvSpPr>
        <p:spPr>
          <a:xfrm>
            <a:off x="2095500" y="1000125"/>
            <a:ext cx="8229600" cy="714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/>
            <a:r>
              <a:rPr lang="zh-CN" altLang="en-US" sz="40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术前</a:t>
            </a:r>
            <a:r>
              <a:rPr lang="en-US" altLang="zh-CN" sz="40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Bold-MRI-</a:t>
            </a:r>
            <a:r>
              <a:rPr lang="zh-CN" altLang="en-US" sz="40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运动</a:t>
            </a:r>
            <a:endParaRPr lang="zh-CN" altLang="en-US" sz="4000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9702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4188" y="2143125"/>
            <a:ext cx="1655762" cy="18970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703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125" y="2143125"/>
            <a:ext cx="1655763" cy="1882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704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063" y="2143125"/>
            <a:ext cx="1644650" cy="18573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705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0563" y="2143125"/>
            <a:ext cx="1651000" cy="18573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706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4188" y="4214813"/>
            <a:ext cx="1655762" cy="1943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707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0125" y="4214813"/>
            <a:ext cx="1655763" cy="19288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708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6063" y="4214813"/>
            <a:ext cx="1655762" cy="19796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709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0563" y="4214813"/>
            <a:ext cx="1655762" cy="1987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710" name="标题 1"/>
          <p:cNvSpPr txBox="1"/>
          <p:nvPr/>
        </p:nvSpPr>
        <p:spPr>
          <a:xfrm>
            <a:off x="2024063" y="2571750"/>
            <a:ext cx="642937" cy="15001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/>
            <a:endParaRPr lang="zh-CN" altLang="en-US" sz="4400" dirty="0">
              <a:solidFill>
                <a:schemeClr val="tx2"/>
              </a:solidFill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29711" name="标题 1"/>
          <p:cNvSpPr txBox="1"/>
          <p:nvPr/>
        </p:nvSpPr>
        <p:spPr>
          <a:xfrm>
            <a:off x="1304925" y="2809875"/>
            <a:ext cx="1433513" cy="11906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/>
            <a:r>
              <a:rPr lang="zh-CN" altLang="en-US" sz="20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手运动</a:t>
            </a:r>
            <a:endParaRPr lang="zh-CN" altLang="en-US" sz="2000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9712" name="标题 1"/>
          <p:cNvSpPr txBox="1"/>
          <p:nvPr/>
        </p:nvSpPr>
        <p:spPr>
          <a:xfrm>
            <a:off x="1512888" y="4929188"/>
            <a:ext cx="1154112" cy="1214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/>
            <a:r>
              <a:rPr lang="zh-CN" altLang="en-US" sz="20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脚运动</a:t>
            </a:r>
            <a:endParaRPr lang="zh-CN" altLang="en-US" sz="2000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9713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内容占位符 2"/>
          <p:cNvSpPr txBox="1"/>
          <p:nvPr/>
        </p:nvSpPr>
        <p:spPr>
          <a:xfrm>
            <a:off x="2024063" y="2143125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  <a:buChar char="•"/>
            </a:pPr>
            <a:endParaRPr lang="zh-CN" altLang="en-US" sz="32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31746" name="矩形 4"/>
          <p:cNvSpPr/>
          <p:nvPr/>
        </p:nvSpPr>
        <p:spPr>
          <a:xfrm>
            <a:off x="4810125" y="1071563"/>
            <a:ext cx="3857625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dirty="0">
                <a:latin typeface="Roboto Light"/>
                <a:ea typeface="宋体" panose="02010600030101010101" pitchFamily="2" charset="-122"/>
              </a:rPr>
              <a:t>      </a:t>
            </a:r>
            <a:endParaRPr lang="zh-CN" altLang="en-US" dirty="0">
              <a:latin typeface="Roboto Light"/>
              <a:ea typeface="微软雅黑 Light" panose="020B0502040204020203" pitchFamily="34" charset="-122"/>
            </a:endParaRPr>
          </a:p>
        </p:txBody>
      </p:sp>
      <p:sp>
        <p:nvSpPr>
          <p:cNvPr id="31747" name="矩形 5"/>
          <p:cNvSpPr/>
          <p:nvPr/>
        </p:nvSpPr>
        <p:spPr>
          <a:xfrm>
            <a:off x="2024063" y="1905000"/>
            <a:ext cx="7786687" cy="1200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</p:txBody>
      </p:sp>
      <p:sp>
        <p:nvSpPr>
          <p:cNvPr id="31748" name="标题 1"/>
          <p:cNvSpPr txBox="1"/>
          <p:nvPr/>
        </p:nvSpPr>
        <p:spPr>
          <a:xfrm>
            <a:off x="2095500" y="642938"/>
            <a:ext cx="8229600" cy="714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/>
            <a:r>
              <a:rPr lang="zh-CN" altLang="en-US" sz="40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手术中</a:t>
            </a:r>
            <a:endParaRPr lang="zh-CN" altLang="en-US" sz="4000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31749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5863" y="3940175"/>
            <a:ext cx="3416300" cy="26320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50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5863" y="1439863"/>
            <a:ext cx="3429000" cy="24923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51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625" y="1627188"/>
            <a:ext cx="5932488" cy="45799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5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内容占位符 2"/>
          <p:cNvSpPr txBox="1"/>
          <p:nvPr/>
        </p:nvSpPr>
        <p:spPr>
          <a:xfrm>
            <a:off x="2024063" y="2143125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  <a:buChar char="•"/>
            </a:pPr>
            <a:endParaRPr lang="zh-CN" altLang="en-US" sz="32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33794" name="矩形 4"/>
          <p:cNvSpPr/>
          <p:nvPr/>
        </p:nvSpPr>
        <p:spPr>
          <a:xfrm>
            <a:off x="4810125" y="1071563"/>
            <a:ext cx="3857625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dirty="0">
                <a:latin typeface="Roboto Light"/>
                <a:ea typeface="宋体" panose="02010600030101010101" pitchFamily="2" charset="-122"/>
              </a:rPr>
              <a:t>      </a:t>
            </a:r>
            <a:endParaRPr lang="zh-CN" altLang="en-US" dirty="0">
              <a:latin typeface="Roboto Light"/>
              <a:ea typeface="微软雅黑 Light" panose="020B0502040204020203" pitchFamily="34" charset="-122"/>
            </a:endParaRPr>
          </a:p>
        </p:txBody>
      </p:sp>
      <p:sp>
        <p:nvSpPr>
          <p:cNvPr id="33795" name="标题 1"/>
          <p:cNvSpPr txBox="1"/>
          <p:nvPr/>
        </p:nvSpPr>
        <p:spPr>
          <a:xfrm>
            <a:off x="2095500" y="1000125"/>
            <a:ext cx="8229600" cy="714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/>
            <a:r>
              <a:rPr lang="zh-CN" altLang="en-US" sz="40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术中电生理监测</a:t>
            </a:r>
            <a:endParaRPr lang="zh-CN" altLang="en-US" sz="4000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3379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5625" y="2143125"/>
            <a:ext cx="3952875" cy="3659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79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1875" y="2143125"/>
            <a:ext cx="4946650" cy="3659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798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内容占位符 2"/>
          <p:cNvSpPr txBox="1"/>
          <p:nvPr/>
        </p:nvSpPr>
        <p:spPr>
          <a:xfrm>
            <a:off x="2024063" y="2143125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  <a:buChar char="•"/>
            </a:pPr>
            <a:endParaRPr lang="zh-CN" altLang="en-US" sz="32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35842" name="矩形 4"/>
          <p:cNvSpPr/>
          <p:nvPr/>
        </p:nvSpPr>
        <p:spPr>
          <a:xfrm>
            <a:off x="4810125" y="1071563"/>
            <a:ext cx="3857625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dirty="0">
                <a:latin typeface="Roboto Light"/>
                <a:ea typeface="宋体" panose="02010600030101010101" pitchFamily="2" charset="-122"/>
              </a:rPr>
              <a:t>      </a:t>
            </a:r>
            <a:endParaRPr lang="zh-CN" altLang="en-US" dirty="0">
              <a:latin typeface="Roboto Light"/>
              <a:ea typeface="微软雅黑 Light" panose="020B0502040204020203" pitchFamily="34" charset="-122"/>
            </a:endParaRPr>
          </a:p>
        </p:txBody>
      </p:sp>
      <p:sp>
        <p:nvSpPr>
          <p:cNvPr id="35843" name="矩形 5"/>
          <p:cNvSpPr/>
          <p:nvPr/>
        </p:nvSpPr>
        <p:spPr>
          <a:xfrm>
            <a:off x="2024063" y="1905000"/>
            <a:ext cx="7786687" cy="1200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</p:txBody>
      </p:sp>
      <p:sp>
        <p:nvSpPr>
          <p:cNvPr id="35844" name="标题 1"/>
          <p:cNvSpPr txBox="1"/>
          <p:nvPr/>
        </p:nvSpPr>
        <p:spPr>
          <a:xfrm>
            <a:off x="2095500" y="1000125"/>
            <a:ext cx="8229600" cy="714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/>
            <a:r>
              <a:rPr lang="zh-CN" altLang="en-US" sz="44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术后</a:t>
            </a:r>
            <a:r>
              <a:rPr lang="en-US" altLang="zh-CN" sz="44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3h</a:t>
            </a:r>
            <a:r>
              <a:rPr lang="zh-CN" altLang="en-US" sz="44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检查：</a:t>
            </a:r>
            <a:endParaRPr lang="zh-CN" altLang="en-US" sz="4400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35845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7588" y="2357438"/>
            <a:ext cx="2446337" cy="2667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846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188" y="2357438"/>
            <a:ext cx="2408237" cy="2667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5847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内容占位符 2"/>
          <p:cNvSpPr txBox="1"/>
          <p:nvPr/>
        </p:nvSpPr>
        <p:spPr>
          <a:xfrm>
            <a:off x="2024063" y="2143125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  <a:buChar char="•"/>
            </a:pPr>
            <a:endParaRPr lang="zh-CN" altLang="en-US" sz="32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37890" name="矩形 4"/>
          <p:cNvSpPr/>
          <p:nvPr/>
        </p:nvSpPr>
        <p:spPr>
          <a:xfrm>
            <a:off x="4810125" y="1071563"/>
            <a:ext cx="3857625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dirty="0">
                <a:latin typeface="Roboto Light"/>
                <a:ea typeface="宋体" panose="02010600030101010101" pitchFamily="2" charset="-122"/>
              </a:rPr>
              <a:t>      </a:t>
            </a:r>
            <a:endParaRPr lang="zh-CN" altLang="en-US" dirty="0">
              <a:latin typeface="Roboto Light"/>
              <a:ea typeface="微软雅黑 Light" panose="020B0502040204020203" pitchFamily="34" charset="-122"/>
            </a:endParaRPr>
          </a:p>
        </p:txBody>
      </p:sp>
      <p:sp>
        <p:nvSpPr>
          <p:cNvPr id="37891" name="矩形 5"/>
          <p:cNvSpPr/>
          <p:nvPr/>
        </p:nvSpPr>
        <p:spPr>
          <a:xfrm>
            <a:off x="2024063" y="1905000"/>
            <a:ext cx="7786687" cy="1200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</p:txBody>
      </p:sp>
      <p:sp>
        <p:nvSpPr>
          <p:cNvPr id="37892" name="标题 1"/>
          <p:cNvSpPr txBox="1"/>
          <p:nvPr/>
        </p:nvSpPr>
        <p:spPr>
          <a:xfrm>
            <a:off x="2095500" y="1000125"/>
            <a:ext cx="8229600" cy="714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/>
            <a:r>
              <a:rPr lang="zh-CN" altLang="en-US" sz="44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术后</a:t>
            </a:r>
            <a:r>
              <a:rPr lang="en-US" altLang="zh-CN" sz="44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MRI</a:t>
            </a:r>
            <a:r>
              <a:rPr lang="zh-CN" altLang="en-US" sz="44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平扫</a:t>
            </a:r>
            <a:endParaRPr lang="zh-CN" altLang="en-US" sz="4400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37893" name="Picture 5" descr="C:\Users\Administrator\Desktop\额叶胶质瘤\术后MRI复查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1375" y="2286000"/>
            <a:ext cx="2362200" cy="2724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894" name="Picture 6" descr="C:\Users\Administrator\Desktop\额叶胶质瘤\术后MRI复查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313" y="2214563"/>
            <a:ext cx="2371725" cy="2743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895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内容占位符 2"/>
          <p:cNvSpPr txBox="1"/>
          <p:nvPr/>
        </p:nvSpPr>
        <p:spPr>
          <a:xfrm>
            <a:off x="2024063" y="2143125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  <a:buChar char="•"/>
            </a:pPr>
            <a:endParaRPr lang="zh-CN" altLang="en-US" sz="32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39938" name="矩形 4"/>
          <p:cNvSpPr/>
          <p:nvPr/>
        </p:nvSpPr>
        <p:spPr>
          <a:xfrm>
            <a:off x="4810125" y="1071563"/>
            <a:ext cx="3857625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dirty="0">
                <a:latin typeface="Roboto Light"/>
                <a:ea typeface="宋体" panose="02010600030101010101" pitchFamily="2" charset="-122"/>
              </a:rPr>
              <a:t>      </a:t>
            </a:r>
            <a:endParaRPr lang="zh-CN" altLang="en-US" dirty="0">
              <a:latin typeface="Roboto Light"/>
              <a:ea typeface="微软雅黑 Light" panose="020B0502040204020203" pitchFamily="34" charset="-122"/>
            </a:endParaRPr>
          </a:p>
        </p:txBody>
      </p:sp>
      <p:sp>
        <p:nvSpPr>
          <p:cNvPr id="39939" name="矩形 5"/>
          <p:cNvSpPr/>
          <p:nvPr/>
        </p:nvSpPr>
        <p:spPr>
          <a:xfrm>
            <a:off x="2024063" y="1905000"/>
            <a:ext cx="7786687" cy="1200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</p:txBody>
      </p:sp>
      <p:sp>
        <p:nvSpPr>
          <p:cNvPr id="39940" name="标题 1"/>
          <p:cNvSpPr txBox="1"/>
          <p:nvPr/>
        </p:nvSpPr>
        <p:spPr>
          <a:xfrm>
            <a:off x="2095500" y="1000125"/>
            <a:ext cx="8229600" cy="714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/>
            <a:r>
              <a:rPr lang="zh-CN" altLang="en-US" sz="44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术后</a:t>
            </a:r>
            <a:r>
              <a:rPr lang="en-US" altLang="zh-CN" sz="44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MRI</a:t>
            </a:r>
            <a:r>
              <a:rPr lang="zh-CN" altLang="en-US" sz="44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增强</a:t>
            </a:r>
            <a:endParaRPr lang="zh-CN" altLang="en-US" sz="4400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39941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3738" y="2357438"/>
            <a:ext cx="2438400" cy="2743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942" name="Picture 7" descr="C:\Users\Administrator\Desktop\额叶胶质瘤\术后MRI复查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738" y="2357438"/>
            <a:ext cx="2286000" cy="2743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943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2938" y="2357438"/>
            <a:ext cx="2476500" cy="2743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94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6613" y="2357438"/>
            <a:ext cx="2438400" cy="2743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945" name="Picture 7" descr="C:\Users\Administrator\Desktop\额叶胶质瘤\术后MRI复查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613" y="2357438"/>
            <a:ext cx="2286000" cy="2743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94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813" y="2357438"/>
            <a:ext cx="2476500" cy="2743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947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内容占位符 2"/>
          <p:cNvSpPr txBox="1"/>
          <p:nvPr/>
        </p:nvSpPr>
        <p:spPr>
          <a:xfrm>
            <a:off x="2024063" y="2143125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  <a:buChar char="•"/>
            </a:pPr>
            <a:endParaRPr lang="zh-CN" altLang="en-US" sz="32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41986" name="矩形 4"/>
          <p:cNvSpPr/>
          <p:nvPr/>
        </p:nvSpPr>
        <p:spPr>
          <a:xfrm>
            <a:off x="4810125" y="1071563"/>
            <a:ext cx="3857625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dirty="0">
                <a:latin typeface="Roboto Light"/>
                <a:ea typeface="宋体" panose="02010600030101010101" pitchFamily="2" charset="-122"/>
              </a:rPr>
              <a:t>      </a:t>
            </a:r>
            <a:endParaRPr lang="zh-CN" altLang="en-US" dirty="0">
              <a:latin typeface="Roboto Light"/>
              <a:ea typeface="微软雅黑 Light" panose="020B0502040204020203" pitchFamily="34" charset="-122"/>
            </a:endParaRPr>
          </a:p>
        </p:txBody>
      </p:sp>
      <p:sp>
        <p:nvSpPr>
          <p:cNvPr id="41987" name="矩形 5"/>
          <p:cNvSpPr/>
          <p:nvPr/>
        </p:nvSpPr>
        <p:spPr>
          <a:xfrm>
            <a:off x="2024063" y="1905000"/>
            <a:ext cx="7786687" cy="1200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</p:txBody>
      </p:sp>
      <p:sp>
        <p:nvSpPr>
          <p:cNvPr id="41988" name="标题 1"/>
          <p:cNvSpPr txBox="1"/>
          <p:nvPr/>
        </p:nvSpPr>
        <p:spPr>
          <a:xfrm>
            <a:off x="2024063" y="785813"/>
            <a:ext cx="8229600" cy="5715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/>
            <a:r>
              <a:rPr lang="zh-CN" altLang="en-US" sz="44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术后病理</a:t>
            </a:r>
            <a:endParaRPr lang="zh-CN" altLang="en-US" sz="4400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41989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2688" y="1714500"/>
            <a:ext cx="7229475" cy="4286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990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内容占位符 2"/>
          <p:cNvSpPr txBox="1"/>
          <p:nvPr/>
        </p:nvSpPr>
        <p:spPr>
          <a:xfrm>
            <a:off x="2024063" y="21209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  <a:buChar char="•"/>
            </a:pPr>
            <a:endParaRPr lang="zh-CN" altLang="en-US" sz="32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44034" name="矩形 4"/>
          <p:cNvSpPr/>
          <p:nvPr/>
        </p:nvSpPr>
        <p:spPr>
          <a:xfrm>
            <a:off x="4810125" y="1071563"/>
            <a:ext cx="3857625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dirty="0">
                <a:latin typeface="Roboto Light"/>
                <a:ea typeface="宋体" panose="02010600030101010101" pitchFamily="2" charset="-122"/>
              </a:rPr>
              <a:t>      </a:t>
            </a:r>
            <a:endParaRPr lang="zh-CN" altLang="en-US" dirty="0">
              <a:latin typeface="Roboto Light"/>
              <a:ea typeface="微软雅黑 Light" panose="020B0502040204020203" pitchFamily="34" charset="-122"/>
            </a:endParaRPr>
          </a:p>
        </p:txBody>
      </p:sp>
      <p:sp>
        <p:nvSpPr>
          <p:cNvPr id="44035" name="矩形 5"/>
          <p:cNvSpPr/>
          <p:nvPr/>
        </p:nvSpPr>
        <p:spPr>
          <a:xfrm>
            <a:off x="2024063" y="1905000"/>
            <a:ext cx="7786687" cy="1200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</p:txBody>
      </p:sp>
      <p:sp>
        <p:nvSpPr>
          <p:cNvPr id="44036" name="标题 1"/>
          <p:cNvSpPr txBox="1"/>
          <p:nvPr/>
        </p:nvSpPr>
        <p:spPr>
          <a:xfrm>
            <a:off x="1803400" y="312738"/>
            <a:ext cx="8229600" cy="714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r>
              <a:rPr lang="zh-CN" altLang="en-US" sz="36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术后恢复期情况</a:t>
            </a:r>
            <a:endParaRPr lang="zh-CN" altLang="en-US" sz="3600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4037" name="内容占位符 2"/>
          <p:cNvSpPr txBox="1"/>
          <p:nvPr/>
        </p:nvSpPr>
        <p:spPr>
          <a:xfrm>
            <a:off x="946150" y="1589088"/>
            <a:ext cx="6021388" cy="4525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  <a:buChar char="•"/>
            </a:pPr>
            <a:endParaRPr lang="en-US" altLang="zh-CN" sz="32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har char="•"/>
            </a:pPr>
            <a:r>
              <a:rPr lang="zh-CN" altLang="en-US" sz="3200" dirty="0">
                <a:latin typeface="黑体" panose="02010609060101010101" charset="-122"/>
                <a:ea typeface="黑体" panose="02010609060101010101" charset="-122"/>
              </a:rPr>
              <a:t>神志清楚，吐词不清同术前，早期右手稍无力，后恢复正常</a:t>
            </a:r>
            <a:endParaRPr lang="zh-CN" altLang="en-US" sz="3200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44038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病例1">
            <a:hlinkClick r:id="" action="ppaction://media"/>
          </p:cNvPr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378700" y="873125"/>
            <a:ext cx="4210050" cy="5632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内容占位符 2"/>
          <p:cNvSpPr txBox="1"/>
          <p:nvPr/>
        </p:nvSpPr>
        <p:spPr>
          <a:xfrm>
            <a:off x="2024063" y="2143125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  <a:buChar char="•"/>
            </a:pPr>
            <a:endParaRPr lang="zh-CN" altLang="en-US" sz="32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46082" name="矩形 4"/>
          <p:cNvSpPr/>
          <p:nvPr/>
        </p:nvSpPr>
        <p:spPr>
          <a:xfrm>
            <a:off x="4810125" y="1071563"/>
            <a:ext cx="3857625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dirty="0">
                <a:latin typeface="Roboto Light"/>
                <a:ea typeface="宋体" panose="02010600030101010101" pitchFamily="2" charset="-122"/>
              </a:rPr>
              <a:t>      </a:t>
            </a:r>
            <a:endParaRPr lang="zh-CN" altLang="en-US" dirty="0">
              <a:latin typeface="Roboto Light"/>
              <a:ea typeface="微软雅黑 Light" panose="020B0502040204020203" pitchFamily="34" charset="-122"/>
            </a:endParaRPr>
          </a:p>
        </p:txBody>
      </p:sp>
      <p:sp>
        <p:nvSpPr>
          <p:cNvPr id="46083" name="矩形 5"/>
          <p:cNvSpPr/>
          <p:nvPr/>
        </p:nvSpPr>
        <p:spPr>
          <a:xfrm>
            <a:off x="2024063" y="2071688"/>
            <a:ext cx="7786687" cy="11985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</p:txBody>
      </p:sp>
      <p:sp>
        <p:nvSpPr>
          <p:cNvPr id="46084" name="标题 1"/>
          <p:cNvSpPr txBox="1"/>
          <p:nvPr/>
        </p:nvSpPr>
        <p:spPr>
          <a:xfrm>
            <a:off x="1441450" y="454025"/>
            <a:ext cx="8229600" cy="714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r>
              <a:rPr lang="zh-CN" altLang="en-US" sz="44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病例</a:t>
            </a:r>
            <a:r>
              <a:rPr lang="en-US" altLang="zh-CN" sz="44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2</a:t>
            </a:r>
            <a:endParaRPr lang="zh-CN" altLang="en-US" sz="4400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6085" name="内容占位符 2" descr="7b0a202020202262756c6c6574223a20227b5c2263617465676f727949645c223a31303031322c5c2274656d706c61746549645c223a32303233313236357d220a7d0a"/>
          <p:cNvSpPr txBox="1"/>
          <p:nvPr/>
        </p:nvSpPr>
        <p:spPr>
          <a:xfrm>
            <a:off x="1981200" y="1606550"/>
            <a:ext cx="9296400" cy="4286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lnSpc>
                <a:spcPct val="150000"/>
              </a:lnSpc>
              <a:spcBef>
                <a:spcPct val="20000"/>
              </a:spcBef>
              <a:buSzPct val="168000"/>
              <a:buBlip>
                <a:blip r:embed="rId1"/>
              </a:buBlip>
            </a:pP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患者，王*，男，</a:t>
            </a: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51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岁</a:t>
            </a:r>
            <a:endParaRPr lang="en-US" altLang="zh-CN" sz="2800" dirty="0">
              <a:latin typeface="黑体" panose="02010609060101010101" charset="-122"/>
              <a:ea typeface="黑体" panose="02010609060101010101" charset="-12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SzPct val="168000"/>
              <a:buBlip>
                <a:blip r:embed="rId1"/>
              </a:buBlip>
            </a:pP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主诉：右侧肢体乏力伴发作性抽搐</a:t>
            </a: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3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月余</a:t>
            </a:r>
            <a:endParaRPr lang="en-US" altLang="zh-CN" sz="2800" dirty="0">
              <a:latin typeface="黑体" panose="02010609060101010101" charset="-122"/>
              <a:ea typeface="黑体" panose="02010609060101010101" charset="-12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SzPct val="168000"/>
              <a:buBlip>
                <a:blip r:embed="rId1"/>
              </a:buBlip>
            </a:pP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既往：体健</a:t>
            </a:r>
            <a:endParaRPr lang="en-US" altLang="zh-CN" sz="2800" dirty="0">
              <a:latin typeface="黑体" panose="02010609060101010101" charset="-122"/>
              <a:ea typeface="黑体" panose="02010609060101010101" charset="-12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SzPct val="168000"/>
              <a:buBlip>
                <a:blip r:embed="rId1"/>
              </a:buBlip>
            </a:pP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体格检查：神志清楚，双瞳</a:t>
            </a: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3mm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，光发射灵敏，口角左歪，右侧肢体肌力</a:t>
            </a: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5-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，余肢体肌力</a:t>
            </a: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5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级</a:t>
            </a:r>
            <a:endParaRPr lang="en-US" altLang="zh-CN" sz="2800" dirty="0">
              <a:latin typeface="黑体" panose="02010609060101010101" charset="-122"/>
              <a:ea typeface="黑体" panose="02010609060101010101" charset="-122"/>
            </a:endParaRPr>
          </a:p>
          <a:p>
            <a:pPr marL="342900" indent="-342900">
              <a:spcBef>
                <a:spcPct val="20000"/>
              </a:spcBef>
              <a:buBlip>
                <a:blip r:embed="rId1"/>
              </a:buBlip>
            </a:pPr>
            <a:endParaRPr lang="en-US" altLang="zh-CN" sz="2800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46086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9" name="内容占位符 2"/>
          <p:cNvSpPr txBox="1"/>
          <p:nvPr/>
        </p:nvSpPr>
        <p:spPr>
          <a:xfrm>
            <a:off x="2024063" y="2143125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  <a:buChar char="•"/>
            </a:pPr>
            <a:endParaRPr lang="zh-CN" altLang="en-US" sz="32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48130" name="矩形 4"/>
          <p:cNvSpPr/>
          <p:nvPr/>
        </p:nvSpPr>
        <p:spPr>
          <a:xfrm>
            <a:off x="4810125" y="1071563"/>
            <a:ext cx="3857625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dirty="0">
                <a:latin typeface="Roboto Light"/>
                <a:ea typeface="宋体" panose="02010600030101010101" pitchFamily="2" charset="-122"/>
              </a:rPr>
              <a:t>      </a:t>
            </a:r>
            <a:endParaRPr lang="zh-CN" altLang="en-US" dirty="0">
              <a:latin typeface="Roboto Light"/>
              <a:ea typeface="微软雅黑 Light" panose="020B0502040204020203" pitchFamily="34" charset="-122"/>
            </a:endParaRPr>
          </a:p>
        </p:txBody>
      </p:sp>
      <p:sp>
        <p:nvSpPr>
          <p:cNvPr id="48131" name="矩形 5"/>
          <p:cNvSpPr/>
          <p:nvPr/>
        </p:nvSpPr>
        <p:spPr>
          <a:xfrm>
            <a:off x="2024063" y="1905000"/>
            <a:ext cx="7786687" cy="1200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</p:txBody>
      </p:sp>
      <p:sp>
        <p:nvSpPr>
          <p:cNvPr id="48132" name="标题 1"/>
          <p:cNvSpPr txBox="1"/>
          <p:nvPr/>
        </p:nvSpPr>
        <p:spPr>
          <a:xfrm>
            <a:off x="2024063" y="1071563"/>
            <a:ext cx="8229600" cy="714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/>
            <a:r>
              <a:rPr lang="zh-CN" altLang="en-US" sz="44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术前</a:t>
            </a:r>
            <a:r>
              <a:rPr lang="en-US" altLang="zh-CN" sz="44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MRI</a:t>
            </a:r>
            <a:endParaRPr lang="zh-CN" altLang="en-US" sz="4400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48133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2813" y="2286000"/>
            <a:ext cx="2547937" cy="2790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8134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313" y="2286000"/>
            <a:ext cx="2528887" cy="2794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8135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内容占位符 2"/>
          <p:cNvSpPr txBox="1"/>
          <p:nvPr/>
        </p:nvSpPr>
        <p:spPr>
          <a:xfrm>
            <a:off x="2024063" y="2143125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  <a:buChar char="•"/>
            </a:pPr>
            <a:endParaRPr lang="zh-CN" altLang="en-US" sz="32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50178" name="矩形 4"/>
          <p:cNvSpPr/>
          <p:nvPr/>
        </p:nvSpPr>
        <p:spPr>
          <a:xfrm>
            <a:off x="4810125" y="1071563"/>
            <a:ext cx="3857625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dirty="0">
                <a:latin typeface="Roboto Light"/>
                <a:ea typeface="宋体" panose="02010600030101010101" pitchFamily="2" charset="-122"/>
              </a:rPr>
              <a:t>      </a:t>
            </a:r>
            <a:endParaRPr lang="zh-CN" altLang="en-US" dirty="0">
              <a:latin typeface="Roboto Light"/>
              <a:ea typeface="微软雅黑 Light" panose="020B0502040204020203" pitchFamily="34" charset="-122"/>
            </a:endParaRPr>
          </a:p>
        </p:txBody>
      </p:sp>
      <p:sp>
        <p:nvSpPr>
          <p:cNvPr id="50179" name="矩形 5"/>
          <p:cNvSpPr/>
          <p:nvPr/>
        </p:nvSpPr>
        <p:spPr>
          <a:xfrm>
            <a:off x="2024063" y="1905000"/>
            <a:ext cx="7786687" cy="1200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</p:txBody>
      </p:sp>
      <p:sp>
        <p:nvSpPr>
          <p:cNvPr id="50180" name="标题 1"/>
          <p:cNvSpPr txBox="1"/>
          <p:nvPr/>
        </p:nvSpPr>
        <p:spPr>
          <a:xfrm>
            <a:off x="2095500" y="1000125"/>
            <a:ext cx="8229600" cy="714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/>
            <a:r>
              <a:rPr lang="zh-CN" altLang="en-US" sz="44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术前</a:t>
            </a:r>
            <a:r>
              <a:rPr lang="en-US" altLang="zh-CN" sz="44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MRI</a:t>
            </a:r>
            <a:r>
              <a:rPr lang="zh-CN" altLang="en-US" sz="44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增强</a:t>
            </a:r>
            <a:endParaRPr lang="zh-CN" altLang="en-US" sz="4400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50181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38" y="2143125"/>
            <a:ext cx="2590800" cy="26955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0182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438" y="2143125"/>
            <a:ext cx="2689225" cy="26717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0183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7638" y="2143125"/>
            <a:ext cx="2495550" cy="2643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0184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内容占位符 2"/>
          <p:cNvSpPr txBox="1"/>
          <p:nvPr/>
        </p:nvSpPr>
        <p:spPr>
          <a:xfrm>
            <a:off x="2024063" y="2143125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  <a:buChar char="•"/>
            </a:pPr>
            <a:endParaRPr lang="zh-CN" altLang="en-US" sz="32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52226" name="矩形 4"/>
          <p:cNvSpPr/>
          <p:nvPr/>
        </p:nvSpPr>
        <p:spPr>
          <a:xfrm>
            <a:off x="4810125" y="1071563"/>
            <a:ext cx="3857625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dirty="0">
                <a:latin typeface="Roboto Light"/>
                <a:ea typeface="宋体" panose="02010600030101010101" pitchFamily="2" charset="-122"/>
              </a:rPr>
              <a:t>      </a:t>
            </a:r>
            <a:endParaRPr lang="zh-CN" altLang="en-US" dirty="0">
              <a:latin typeface="Roboto Light"/>
              <a:ea typeface="微软雅黑 Light" panose="020B0502040204020203" pitchFamily="34" charset="-122"/>
            </a:endParaRPr>
          </a:p>
        </p:txBody>
      </p:sp>
      <p:sp>
        <p:nvSpPr>
          <p:cNvPr id="52227" name="矩形 5"/>
          <p:cNvSpPr/>
          <p:nvPr/>
        </p:nvSpPr>
        <p:spPr>
          <a:xfrm>
            <a:off x="2024063" y="1905000"/>
            <a:ext cx="7786687" cy="1200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</p:txBody>
      </p:sp>
      <p:sp>
        <p:nvSpPr>
          <p:cNvPr id="52228" name="标题 1"/>
          <p:cNvSpPr txBox="1"/>
          <p:nvPr/>
        </p:nvSpPr>
        <p:spPr>
          <a:xfrm>
            <a:off x="2095500" y="1000125"/>
            <a:ext cx="8229600" cy="714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/>
            <a:r>
              <a:rPr lang="zh-CN" altLang="en-US" sz="44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术前</a:t>
            </a:r>
            <a:r>
              <a:rPr lang="en-US" altLang="zh-CN" sz="44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DTI</a:t>
            </a:r>
            <a:endParaRPr lang="zh-CN" altLang="en-US" sz="4400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5222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7850" y="2214563"/>
            <a:ext cx="2778125" cy="2971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23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0" y="2214563"/>
            <a:ext cx="2725738" cy="29670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231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650" y="2214563"/>
            <a:ext cx="2898775" cy="29289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223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3" name="内容占位符 2"/>
          <p:cNvSpPr txBox="1"/>
          <p:nvPr/>
        </p:nvSpPr>
        <p:spPr>
          <a:xfrm>
            <a:off x="2024063" y="2143125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  <a:buChar char="•"/>
            </a:pPr>
            <a:endParaRPr lang="zh-CN" altLang="en-US" sz="32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54274" name="矩形 4"/>
          <p:cNvSpPr/>
          <p:nvPr/>
        </p:nvSpPr>
        <p:spPr>
          <a:xfrm>
            <a:off x="4667250" y="1143000"/>
            <a:ext cx="3857625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dirty="0">
                <a:latin typeface="Roboto Light"/>
                <a:ea typeface="宋体" panose="02010600030101010101" pitchFamily="2" charset="-122"/>
              </a:rPr>
              <a:t>      </a:t>
            </a:r>
            <a:endParaRPr lang="zh-CN" altLang="en-US" dirty="0">
              <a:latin typeface="Roboto Light"/>
              <a:ea typeface="微软雅黑 Light" panose="020B0502040204020203" pitchFamily="34" charset="-122"/>
            </a:endParaRPr>
          </a:p>
        </p:txBody>
      </p:sp>
      <p:sp>
        <p:nvSpPr>
          <p:cNvPr id="54275" name="矩形 5"/>
          <p:cNvSpPr/>
          <p:nvPr/>
        </p:nvSpPr>
        <p:spPr>
          <a:xfrm>
            <a:off x="2024063" y="1905000"/>
            <a:ext cx="7786687" cy="1200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</p:txBody>
      </p:sp>
      <p:sp>
        <p:nvSpPr>
          <p:cNvPr id="54276" name="标题 1"/>
          <p:cNvSpPr txBox="1"/>
          <p:nvPr/>
        </p:nvSpPr>
        <p:spPr>
          <a:xfrm>
            <a:off x="2095500" y="1000125"/>
            <a:ext cx="8229600" cy="714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/>
            <a:r>
              <a:rPr lang="zh-CN" altLang="en-US" sz="44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术后</a:t>
            </a:r>
            <a:r>
              <a:rPr lang="en-US" altLang="zh-CN" sz="44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3h</a:t>
            </a:r>
            <a:r>
              <a:rPr lang="zh-CN" altLang="en-US" sz="44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复查头</a:t>
            </a:r>
            <a:r>
              <a:rPr lang="en-US" altLang="zh-CN" sz="44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CT</a:t>
            </a:r>
            <a:endParaRPr lang="zh-CN" altLang="en-US" sz="4400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5427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1313" y="2428875"/>
            <a:ext cx="2971800" cy="3187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4278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7913" y="2428875"/>
            <a:ext cx="2963862" cy="3200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4279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1" name="内容占位符 2"/>
          <p:cNvSpPr txBox="1"/>
          <p:nvPr/>
        </p:nvSpPr>
        <p:spPr>
          <a:xfrm>
            <a:off x="2024063" y="2143125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  <a:buChar char="•"/>
            </a:pPr>
            <a:endParaRPr lang="zh-CN" altLang="en-US" sz="32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56322" name="矩形 4"/>
          <p:cNvSpPr/>
          <p:nvPr/>
        </p:nvSpPr>
        <p:spPr>
          <a:xfrm>
            <a:off x="4810125" y="1071563"/>
            <a:ext cx="3857625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dirty="0">
                <a:latin typeface="Roboto Light"/>
                <a:ea typeface="宋体" panose="02010600030101010101" pitchFamily="2" charset="-122"/>
              </a:rPr>
              <a:t>      </a:t>
            </a:r>
            <a:endParaRPr lang="zh-CN" altLang="en-US" dirty="0">
              <a:latin typeface="Roboto Light"/>
              <a:ea typeface="微软雅黑 Light" panose="020B0502040204020203" pitchFamily="34" charset="-122"/>
            </a:endParaRPr>
          </a:p>
        </p:txBody>
      </p:sp>
      <p:sp>
        <p:nvSpPr>
          <p:cNvPr id="56323" name="矩形 5"/>
          <p:cNvSpPr/>
          <p:nvPr/>
        </p:nvSpPr>
        <p:spPr>
          <a:xfrm>
            <a:off x="2024063" y="1905000"/>
            <a:ext cx="7786687" cy="1200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</p:txBody>
      </p:sp>
      <p:sp>
        <p:nvSpPr>
          <p:cNvPr id="56324" name="标题 1"/>
          <p:cNvSpPr txBox="1"/>
          <p:nvPr/>
        </p:nvSpPr>
        <p:spPr>
          <a:xfrm>
            <a:off x="2095500" y="1000125"/>
            <a:ext cx="8229600" cy="714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/>
            <a:r>
              <a:rPr lang="zh-CN" altLang="en-US" sz="44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术后</a:t>
            </a:r>
            <a:r>
              <a:rPr lang="en-US" altLang="zh-CN" sz="44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MRI</a:t>
            </a:r>
            <a:r>
              <a:rPr lang="zh-CN" altLang="en-US" sz="44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平扫</a:t>
            </a:r>
            <a:endParaRPr lang="zh-CN" altLang="en-US" sz="4400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56325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4188" y="2214563"/>
            <a:ext cx="3048000" cy="30972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6326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988" y="2214563"/>
            <a:ext cx="2733675" cy="3124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6327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69" name="内容占位符 2"/>
          <p:cNvSpPr txBox="1"/>
          <p:nvPr/>
        </p:nvSpPr>
        <p:spPr>
          <a:xfrm>
            <a:off x="2024063" y="2143125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  <a:buChar char="•"/>
            </a:pPr>
            <a:endParaRPr lang="zh-CN" altLang="en-US" sz="32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58370" name="矩形 4"/>
          <p:cNvSpPr/>
          <p:nvPr/>
        </p:nvSpPr>
        <p:spPr>
          <a:xfrm>
            <a:off x="4810125" y="1071563"/>
            <a:ext cx="3857625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dirty="0">
                <a:latin typeface="Roboto Light"/>
                <a:ea typeface="宋体" panose="02010600030101010101" pitchFamily="2" charset="-122"/>
              </a:rPr>
              <a:t>      </a:t>
            </a:r>
            <a:endParaRPr lang="zh-CN" altLang="en-US" dirty="0">
              <a:latin typeface="Roboto Light"/>
              <a:ea typeface="微软雅黑 Light" panose="020B0502040204020203" pitchFamily="34" charset="-122"/>
            </a:endParaRPr>
          </a:p>
        </p:txBody>
      </p:sp>
      <p:sp>
        <p:nvSpPr>
          <p:cNvPr id="58371" name="矩形 5"/>
          <p:cNvSpPr/>
          <p:nvPr/>
        </p:nvSpPr>
        <p:spPr>
          <a:xfrm>
            <a:off x="2024063" y="1905000"/>
            <a:ext cx="7786687" cy="1200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  <a:p>
            <a:pPr algn="ctr" eaLnBrk="0" hangingPunct="0"/>
            <a:endParaRPr lang="en-US" altLang="zh-CN" dirty="0">
              <a:latin typeface="Roboto Light"/>
              <a:ea typeface="宋体" panose="02010600030101010101" pitchFamily="2" charset="-122"/>
            </a:endParaRPr>
          </a:p>
        </p:txBody>
      </p:sp>
      <p:sp>
        <p:nvSpPr>
          <p:cNvPr id="58372" name="标题 1"/>
          <p:cNvSpPr txBox="1"/>
          <p:nvPr/>
        </p:nvSpPr>
        <p:spPr>
          <a:xfrm>
            <a:off x="2095500" y="1000125"/>
            <a:ext cx="8229600" cy="714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/>
            <a:r>
              <a:rPr lang="zh-CN" altLang="en-US" sz="44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术后</a:t>
            </a:r>
            <a:r>
              <a:rPr lang="en-US" altLang="zh-CN" sz="44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MRI</a:t>
            </a:r>
            <a:r>
              <a:rPr lang="zh-CN" altLang="en-US" sz="44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增强</a:t>
            </a:r>
            <a:endParaRPr lang="zh-CN" altLang="en-US" sz="4400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5837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5875" y="2357438"/>
            <a:ext cx="2743200" cy="304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837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938" y="2357438"/>
            <a:ext cx="2667000" cy="304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837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4063" y="2357438"/>
            <a:ext cx="2973387" cy="30384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8376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0417" name="Picture 2" descr="C:\Users\Administrator\Desktop\微信图片_2020082011071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4125" y="1500188"/>
            <a:ext cx="6724650" cy="4768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0418" name="标题 1"/>
          <p:cNvSpPr txBox="1"/>
          <p:nvPr/>
        </p:nvSpPr>
        <p:spPr>
          <a:xfrm>
            <a:off x="1858963" y="419100"/>
            <a:ext cx="8229600" cy="714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r>
              <a:rPr lang="zh-CN" altLang="en-US" sz="44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术后病理</a:t>
            </a:r>
            <a:endParaRPr lang="zh-CN" altLang="en-US" sz="4400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60419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1" name="内容占位符 2"/>
          <p:cNvSpPr txBox="1"/>
          <p:nvPr/>
        </p:nvSpPr>
        <p:spPr>
          <a:xfrm>
            <a:off x="2024063" y="2143125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ct val="20000"/>
              </a:spcBef>
              <a:buChar char="•"/>
            </a:pPr>
            <a:endParaRPr lang="zh-CN" altLang="en-US" sz="32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61442" name="矩形 4"/>
          <p:cNvSpPr/>
          <p:nvPr/>
        </p:nvSpPr>
        <p:spPr>
          <a:xfrm>
            <a:off x="4810125" y="1071563"/>
            <a:ext cx="3857625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dirty="0">
                <a:latin typeface="Roboto Light"/>
                <a:ea typeface="宋体" panose="02010600030101010101" pitchFamily="2" charset="-122"/>
              </a:rPr>
              <a:t>      </a:t>
            </a:r>
            <a:endParaRPr lang="zh-CN" altLang="en-US" dirty="0">
              <a:latin typeface="Roboto Light"/>
              <a:ea typeface="微软雅黑 Light" panose="020B0502040204020203" pitchFamily="34" charset="-122"/>
            </a:endParaRPr>
          </a:p>
        </p:txBody>
      </p:sp>
      <p:sp>
        <p:nvSpPr>
          <p:cNvPr id="65539" name="矩形 5" descr="7b0a202020202262756c6c6574223a20227b5c2263617465676f727949645c223a31303031322c5c2274656d706c61746549645c223a32303233313239307d220a7d0a"/>
          <p:cNvSpPr/>
          <p:nvPr/>
        </p:nvSpPr>
        <p:spPr>
          <a:xfrm>
            <a:off x="2914650" y="2105025"/>
            <a:ext cx="7786688" cy="3876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170000"/>
              <a:buFont typeface="Arial" panose="020B0604020202020204" pitchFamily="34" charset="0"/>
              <a:buBlip>
                <a:blip r:embed="rId1"/>
              </a:buBlip>
              <a:defRPr/>
            </a:pPr>
            <a:r>
              <a: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kumimoji="0" lang="zh-CN" altLang="en-US" sz="3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神志清楚</a:t>
            </a: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170000"/>
              <a:buFont typeface="Arial" panose="020B0604020202020204" pitchFamily="34" charset="0"/>
              <a:buBlip>
                <a:blip r:embed="rId1"/>
              </a:buBlip>
              <a:defRPr/>
            </a:pPr>
            <a:r>
              <a: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kumimoji="0" lang="zh-CN" altLang="en-US" sz="3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言语功能正常</a:t>
            </a: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170000"/>
              <a:buFont typeface="Arial" panose="020B0604020202020204" pitchFamily="34" charset="0"/>
              <a:buBlip>
                <a:blip r:embed="rId1"/>
              </a:buBlip>
              <a:defRPr/>
            </a:pPr>
            <a:r>
              <a: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kumimoji="0" lang="zh-CN" altLang="en-US" sz="3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无癫痫发作</a:t>
            </a: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170000"/>
              <a:buFont typeface="Arial" panose="020B0604020202020204" pitchFamily="34" charset="0"/>
              <a:buBlip>
                <a:blip r:embed="rId1"/>
              </a:buBlip>
              <a:defRPr/>
            </a:pPr>
            <a:r>
              <a: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kumimoji="0" lang="zh-CN" altLang="en-US" sz="3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右侧肢肌力</a:t>
            </a:r>
            <a:r>
              <a:rPr kumimoji="0" lang="en-US" altLang="zh-CN" sz="3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5-</a:t>
            </a:r>
            <a:r>
              <a:rPr kumimoji="0" lang="zh-CN" altLang="en-US" sz="3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级</a:t>
            </a:r>
            <a:endParaRPr kumimoji="0" lang="en-US" altLang="zh-CN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marR="0" lvl="0" indent="-2857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Blip>
                <a:blip r:embed="rId1"/>
              </a:buBlip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Light"/>
              <a:ea typeface="宋体" panose="02010600030101010101" pitchFamily="2" charset="-122"/>
              <a:cs typeface="+mn-cs"/>
            </a:endParaRPr>
          </a:p>
          <a:p>
            <a:pPr marL="285750" marR="0" lvl="0" indent="-2857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Blip>
                <a:blip r:embed="rId1"/>
              </a:buBlip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Light"/>
              <a:ea typeface="宋体" panose="02010600030101010101" pitchFamily="2" charset="-122"/>
              <a:cs typeface="+mn-cs"/>
            </a:endParaRPr>
          </a:p>
          <a:p>
            <a:pPr marL="285750" marR="0" lvl="0" indent="-2857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Ligh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44" name="标题 1"/>
          <p:cNvSpPr txBox="1"/>
          <p:nvPr/>
        </p:nvSpPr>
        <p:spPr>
          <a:xfrm>
            <a:off x="2095500" y="1000125"/>
            <a:ext cx="8229600" cy="714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ctr"/>
            <a:endParaRPr lang="zh-CN" altLang="en-US" sz="4400" dirty="0">
              <a:solidFill>
                <a:schemeClr val="tx2"/>
              </a:solidFill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61445" name="标题 1"/>
          <p:cNvSpPr txBox="1"/>
          <p:nvPr/>
        </p:nvSpPr>
        <p:spPr>
          <a:xfrm>
            <a:off x="1512888" y="725488"/>
            <a:ext cx="8229600" cy="714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r>
              <a:rPr lang="zh-CN" altLang="en-US" sz="4400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术后情况</a:t>
            </a:r>
            <a:endParaRPr lang="zh-CN" altLang="en-US" sz="4400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61446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89" name="标题 1"/>
          <p:cNvSpPr>
            <a:spLocks noGrp="1"/>
          </p:cNvSpPr>
          <p:nvPr>
            <p:ph type="title"/>
          </p:nvPr>
        </p:nvSpPr>
        <p:spPr>
          <a:xfrm>
            <a:off x="1827213" y="538163"/>
            <a:ext cx="8140700" cy="442912"/>
          </a:xfrm>
          <a:ln/>
        </p:spPr>
        <p:txBody>
          <a:bodyPr vert="horz" wrap="square" lIns="91440" tIns="45720" rIns="91440" bIns="45720" anchor="ctr" anchorCtr="0"/>
          <a:p>
            <a:pPr defTabSz="685800"/>
            <a:r>
              <a:rPr lang="zh-CN" altLang="en-US" sz="3600" dirty="0">
                <a:sym typeface="微软雅黑" panose="020B0503020204020204" pitchFamily="34" charset="-122"/>
              </a:rPr>
              <a:t>病例</a:t>
            </a:r>
            <a:r>
              <a:rPr lang="en-US" altLang="zh-CN" sz="3600" dirty="0">
                <a:sym typeface="微软雅黑" panose="020B0503020204020204" pitchFamily="34" charset="-122"/>
              </a:rPr>
              <a:t>3</a:t>
            </a:r>
            <a:endParaRPr lang="en-US" altLang="zh-CN" sz="3600" dirty="0">
              <a:sym typeface="微软雅黑" panose="020B0503020204020204" pitchFamily="34" charset="-122"/>
            </a:endParaRPr>
          </a:p>
        </p:txBody>
      </p:sp>
      <p:sp>
        <p:nvSpPr>
          <p:cNvPr id="63490" name="内容占位符 2" descr="7b0a202020202262756c6c6574223a20227b5c2263617465676f727949645c223a31303031322c5c2274656d706c61746549645c223a32303233313330327d220a7d0a"/>
          <p:cNvSpPr>
            <a:spLocks noGrp="1"/>
          </p:cNvSpPr>
          <p:nvPr>
            <p:ph sz="half" idx="1"/>
          </p:nvPr>
        </p:nvSpPr>
        <p:spPr>
          <a:xfrm>
            <a:off x="644525" y="1468438"/>
            <a:ext cx="10999788" cy="5389562"/>
          </a:xfrm>
          <a:ln/>
        </p:spPr>
        <p:txBody>
          <a:bodyPr vert="horz" wrap="square" lIns="91440" tIns="45720" rIns="91440" bIns="45720" anchor="t" anchorCtr="0"/>
          <a:p>
            <a:pPr marL="342900" indent="-342900">
              <a:lnSpc>
                <a:spcPct val="150000"/>
              </a:lnSpc>
              <a:buClrTx/>
              <a:buSzPct val="178000"/>
              <a:buFontTx/>
              <a:buBlip>
                <a:blip r:embed="rId1"/>
              </a:buBlip>
            </a:pPr>
            <a:r>
              <a:rPr lang="" altLang="zh-CN" sz="2400" dirty="0">
                <a:latin typeface="微软雅黑" panose="020B0503020204020204" pitchFamily="34" charset="-122"/>
                <a:ea typeface="黑体" panose="02010609060101010101" charset="-122"/>
                <a:cs typeface="+mn-cs"/>
              </a:rPr>
              <a:t> 男性，43岁 ，右利手。</a:t>
            </a:r>
            <a:endParaRPr lang="" altLang="zh-CN" sz="2400" dirty="0">
              <a:latin typeface="微软雅黑" panose="020B0503020204020204" pitchFamily="34" charset="-122"/>
              <a:ea typeface="黑体" panose="02010609060101010101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ClrTx/>
              <a:buSzPct val="178000"/>
              <a:buFontTx/>
              <a:buBlip>
                <a:blip r:embed="rId1"/>
              </a:buBlip>
            </a:pPr>
            <a:r>
              <a:rPr lang="" altLang="zh-CN" sz="2400" dirty="0">
                <a:latin typeface="微软雅黑" panose="020B0503020204020204" pitchFamily="34" charset="-122"/>
                <a:ea typeface="黑体" panose="02010609060101010101" charset="-122"/>
                <a:cs typeface="+mn-cs"/>
              </a:rPr>
              <a:t> 因“右侧肢体乏力及吐词不清渐进性加重23天”于2020年2月25日入院。</a:t>
            </a:r>
            <a:endParaRPr lang="" altLang="zh-CN" sz="2400" dirty="0">
              <a:latin typeface="微软雅黑" panose="020B0503020204020204" pitchFamily="34" charset="-122"/>
              <a:ea typeface="黑体" panose="02010609060101010101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ClrTx/>
              <a:buSzPct val="178000"/>
              <a:buFontTx/>
              <a:buBlip>
                <a:blip r:embed="rId1"/>
              </a:buBlip>
            </a:pPr>
            <a:r>
              <a:rPr lang="" altLang="zh-CN" sz="2400" dirty="0">
                <a:latin typeface="微软雅黑" panose="020B0503020204020204" pitchFamily="34" charset="-122"/>
                <a:ea typeface="黑体" panose="02010609060101010101" charset="-122"/>
                <a:cs typeface="+mn-cs"/>
              </a:rPr>
              <a:t> 既往有高血压病史2年，血压控制好。</a:t>
            </a:r>
            <a:endParaRPr lang="" altLang="zh-CN" sz="2400" dirty="0">
              <a:latin typeface="微软雅黑" panose="020B0503020204020204" pitchFamily="34" charset="-122"/>
              <a:ea typeface="黑体" panose="02010609060101010101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ClrTx/>
              <a:buSzPct val="178000"/>
              <a:buFontTx/>
              <a:buBlip>
                <a:blip r:embed="rId1"/>
              </a:buBlip>
            </a:pPr>
            <a:r>
              <a:rPr lang="" altLang="zh-CN" sz="2400" dirty="0">
                <a:latin typeface="微软雅黑" panose="020B0503020204020204" pitchFamily="34" charset="-122"/>
                <a:ea typeface="黑体" panose="02010609060101010101" charset="-122"/>
                <a:cs typeface="+mn-cs"/>
              </a:rPr>
              <a:t> 查体：血压158/92mmHg,轮椅推入，神清，精神欠佳，完全性运动性失语，右额纹及鼻唇沟变浅，吹口哨不能，右上肢近端肌力3级，远端1级，右下肢4级，灵活度差，左侧肢体肌力5级。</a:t>
            </a:r>
            <a:endParaRPr lang="" altLang="zh-CN" sz="2400" dirty="0">
              <a:latin typeface="微软雅黑" panose="020B0503020204020204" pitchFamily="34" charset="-122"/>
              <a:ea typeface="黑体" panose="02010609060101010101" charset="-122"/>
              <a:cs typeface="+mn-cs"/>
            </a:endParaRPr>
          </a:p>
          <a:p>
            <a:pPr marL="342900" indent="-342900">
              <a:buClrTx/>
              <a:buSzPct val="178000"/>
              <a:buFontTx/>
              <a:buBlip>
                <a:blip r:embed="rId1"/>
              </a:buBlip>
            </a:pPr>
            <a:r>
              <a:rPr lang="" altLang="zh-CN" sz="2400" dirty="0">
                <a:latin typeface="微软雅黑" panose="020B0503020204020204" pitchFamily="34" charset="-122"/>
                <a:ea typeface="黑体" panose="02010609060101010101" charset="-122"/>
                <a:cs typeface="+mn-cs"/>
                <a:sym typeface="微软雅黑" panose="020B0503020204020204" pitchFamily="34" charset="-122"/>
              </a:rPr>
              <a:t> KPS评分：50分。</a:t>
            </a:r>
            <a:endParaRPr lang="" altLang="zh-CN" sz="2400" dirty="0">
              <a:latin typeface="微软雅黑" panose="020B0503020204020204" pitchFamily="34" charset="-122"/>
              <a:ea typeface="黑体" panose="02010609060101010101" charset="-122"/>
              <a:cs typeface="+mn-cs"/>
              <a:sym typeface="微软雅黑" panose="020B0503020204020204" pitchFamily="34" charset="-122"/>
            </a:endParaRPr>
          </a:p>
          <a:p>
            <a:pPr marL="342900" indent="-342900">
              <a:buClrTx/>
              <a:buSzPct val="178000"/>
              <a:buFontTx/>
              <a:buBlip>
                <a:blip r:embed="rId1"/>
              </a:buBlip>
            </a:pPr>
            <a:r>
              <a:rPr lang="" altLang="zh-CN" sz="2400" dirty="0">
                <a:latin typeface="微软雅黑" panose="020B0503020204020204" pitchFamily="34" charset="-122"/>
                <a:ea typeface="黑体" panose="02010609060101010101" charset="-122"/>
                <a:cs typeface="+mn-cs"/>
                <a:sym typeface="微软雅黑" panose="020B0503020204020204" pitchFamily="34" charset="-122"/>
              </a:rPr>
              <a:t> 康复科语言评测：完全运动性失语</a:t>
            </a:r>
            <a:endParaRPr lang="" altLang="zh-CN" sz="2400" dirty="0">
              <a:latin typeface="微软雅黑" panose="020B0503020204020204" pitchFamily="34" charset="-122"/>
              <a:ea typeface="黑体" panose="02010609060101010101" charset="-122"/>
              <a:cs typeface="+mn-cs"/>
              <a:sym typeface="微软雅黑" panose="020B0503020204020204" pitchFamily="34" charset="-122"/>
            </a:endParaRP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endParaRPr lang="" altLang="zh-CN" sz="2700" dirty="0">
              <a:latin typeface="微软雅黑" panose="020B0503020204020204" pitchFamily="34" charset="-122"/>
              <a:ea typeface="黑体" panose="02010609060101010101" charset="-122"/>
              <a:cs typeface="+mn-cs"/>
            </a:endParaRP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</a:pPr>
            <a:endParaRPr lang="" altLang="zh-CN" sz="27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3" name="标题 1"/>
          <p:cNvSpPr>
            <a:spLocks noGrp="1"/>
          </p:cNvSpPr>
          <p:nvPr>
            <p:ph type="title"/>
          </p:nvPr>
        </p:nvSpPr>
        <p:spPr>
          <a:xfrm>
            <a:off x="1666875" y="350838"/>
            <a:ext cx="8140700" cy="442912"/>
          </a:xfrm>
          <a:ln/>
        </p:spPr>
        <p:txBody>
          <a:bodyPr vert="horz" wrap="square" lIns="91440" tIns="45720" rIns="91440" bIns="45720" anchor="ctr" anchorCtr="0"/>
          <a:p>
            <a:pPr defTabSz="685800"/>
            <a:r>
              <a:rPr lang="zh-CN" altLang="en-US" sz="3200" dirty="0">
                <a:sym typeface="微软雅黑" panose="020B0503020204020204" pitchFamily="34" charset="-122"/>
              </a:rPr>
              <a:t>术前核磁</a:t>
            </a:r>
            <a:endParaRPr lang="en-US" altLang="zh-CN" sz="3200" dirty="0">
              <a:sym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301750" y="973138"/>
            <a:ext cx="8435975" cy="2762250"/>
            <a:chOff x="2828" y="1069"/>
            <a:chExt cx="13287" cy="4350"/>
          </a:xfrm>
        </p:grpSpPr>
        <p:pic>
          <p:nvPicPr>
            <p:cNvPr id="64515" name="图片 1" descr="2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2828" y="1069"/>
              <a:ext cx="8410" cy="435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4516" name="文本框 6"/>
            <p:cNvSpPr txBox="1"/>
            <p:nvPr/>
          </p:nvSpPr>
          <p:spPr>
            <a:xfrm>
              <a:off x="11905" y="2669"/>
              <a:ext cx="4211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/>
              <a:r>
                <a:rPr lang="en-US" altLang="zh-CN" sz="2400" dirty="0">
                  <a:latin typeface="Roboto Light"/>
                  <a:ea typeface="微软雅黑 Light" panose="020B0502040204020203" pitchFamily="34" charset="-122"/>
                </a:rPr>
                <a:t>2020-2-8</a:t>
              </a:r>
              <a:endParaRPr lang="en-US" altLang="zh-CN" sz="2400" dirty="0">
                <a:latin typeface="Roboto Light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784350" y="2257425"/>
            <a:ext cx="8607425" cy="3111500"/>
            <a:chOff x="2483" y="2639"/>
            <a:chExt cx="13554" cy="4900"/>
          </a:xfrm>
        </p:grpSpPr>
        <p:sp>
          <p:nvSpPr>
            <p:cNvPr id="64518" name="文本框 7"/>
            <p:cNvSpPr txBox="1"/>
            <p:nvPr/>
          </p:nvSpPr>
          <p:spPr>
            <a:xfrm>
              <a:off x="11985" y="4488"/>
              <a:ext cx="4053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/>
              <a:r>
                <a:rPr lang="en-US" altLang="zh-CN" sz="2400" dirty="0">
                  <a:latin typeface="Roboto Light"/>
                  <a:ea typeface="微软雅黑 Light" panose="020B0502040204020203" pitchFamily="34" charset="-122"/>
                </a:rPr>
                <a:t>2020-2-18</a:t>
              </a:r>
              <a:endParaRPr lang="en-US" altLang="zh-CN" sz="2400" dirty="0">
                <a:latin typeface="Roboto Light"/>
                <a:ea typeface="微软雅黑 Light" panose="020B0502040204020203" pitchFamily="34" charset="-122"/>
              </a:endParaRPr>
            </a:p>
          </p:txBody>
        </p:sp>
        <p:pic>
          <p:nvPicPr>
            <p:cNvPr id="64519" name="图片 2" descr="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2" y="2638"/>
              <a:ext cx="8315" cy="4900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4" name="组合 3"/>
          <p:cNvGrpSpPr/>
          <p:nvPr/>
        </p:nvGrpSpPr>
        <p:grpSpPr>
          <a:xfrm>
            <a:off x="2336800" y="3632200"/>
            <a:ext cx="9144000" cy="3225800"/>
            <a:chOff x="3239" y="5157"/>
            <a:chExt cx="14401" cy="5080"/>
          </a:xfrm>
        </p:grpSpPr>
        <p:sp>
          <p:nvSpPr>
            <p:cNvPr id="64521" name="文本框 8"/>
            <p:cNvSpPr txBox="1"/>
            <p:nvPr/>
          </p:nvSpPr>
          <p:spPr>
            <a:xfrm>
              <a:off x="13268" y="6953"/>
              <a:ext cx="4372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/>
              <a:r>
                <a:rPr lang="en-US" altLang="zh-CN" sz="2400" dirty="0">
                  <a:latin typeface="Roboto Light"/>
                  <a:ea typeface="微软雅黑 Light" panose="020B0502040204020203" pitchFamily="34" charset="-122"/>
                </a:rPr>
                <a:t>2020-2-26</a:t>
              </a:r>
              <a:endParaRPr lang="en-US" altLang="zh-CN" sz="2400" dirty="0">
                <a:latin typeface="Roboto Light"/>
                <a:ea typeface="微软雅黑 Light" panose="020B0502040204020203" pitchFamily="34" charset="-122"/>
              </a:endParaRPr>
            </a:p>
          </p:txBody>
        </p:sp>
        <p:pic>
          <p:nvPicPr>
            <p:cNvPr id="64522" name="Picture 9" descr="C:\Users\Administrator\Desktop\1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39" y="5157"/>
              <a:ext cx="9575" cy="5080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7" name="标题 1"/>
          <p:cNvSpPr>
            <a:spLocks noGrp="1"/>
          </p:cNvSpPr>
          <p:nvPr>
            <p:ph type="title"/>
          </p:nvPr>
        </p:nvSpPr>
        <p:spPr>
          <a:xfrm>
            <a:off x="1703388" y="338138"/>
            <a:ext cx="8140700" cy="442912"/>
          </a:xfrm>
          <a:ln/>
        </p:spPr>
        <p:txBody>
          <a:bodyPr vert="horz" wrap="square" lIns="91440" tIns="45720" rIns="91440" bIns="45720" anchor="ctr" anchorCtr="0"/>
          <a:p>
            <a:pPr defTabSz="685800"/>
            <a:r>
              <a:rPr lang="zh-CN" altLang="en-US" sz="3200" dirty="0">
                <a:sym typeface="微软雅黑" panose="020B0503020204020204" pitchFamily="34" charset="-122"/>
              </a:rPr>
              <a:t>术前核磁</a:t>
            </a:r>
            <a:endParaRPr lang="en-US" altLang="zh-CN" sz="3200" dirty="0">
              <a:sym typeface="微软雅黑" panose="020B0503020204020204" pitchFamily="34" charset="-122"/>
            </a:endParaRPr>
          </a:p>
        </p:txBody>
      </p:sp>
      <p:grpSp>
        <p:nvGrpSpPr>
          <p:cNvPr id="2" name="组合 3"/>
          <p:cNvGrpSpPr/>
          <p:nvPr/>
        </p:nvGrpSpPr>
        <p:grpSpPr>
          <a:xfrm>
            <a:off x="1038225" y="1162050"/>
            <a:ext cx="8099425" cy="2978150"/>
            <a:chOff x="2743" y="1478"/>
            <a:chExt cx="12755" cy="4690"/>
          </a:xfrm>
        </p:grpSpPr>
        <p:pic>
          <p:nvPicPr>
            <p:cNvPr id="65539" name="图片 1" descr="3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2742" y="1477"/>
              <a:ext cx="8712" cy="469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5540" name="TextBox 9"/>
            <p:cNvSpPr txBox="1"/>
            <p:nvPr/>
          </p:nvSpPr>
          <p:spPr>
            <a:xfrm>
              <a:off x="12320" y="2385"/>
              <a:ext cx="3177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/>
              <a:r>
                <a:rPr lang="en-US" altLang="zh-CN" sz="2400" dirty="0">
                  <a:latin typeface="Roboto Light"/>
                  <a:ea typeface="微软雅黑 Light" panose="020B0502040204020203" pitchFamily="34" charset="-122"/>
                </a:rPr>
                <a:t>2020-2-8</a:t>
              </a:r>
              <a:endParaRPr lang="zh-CN" altLang="en-US" sz="2400" dirty="0">
                <a:latin typeface="Roboto Light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3" name="组合 8"/>
          <p:cNvGrpSpPr/>
          <p:nvPr/>
        </p:nvGrpSpPr>
        <p:grpSpPr>
          <a:xfrm>
            <a:off x="331788" y="2365375"/>
            <a:ext cx="11618912" cy="2882900"/>
            <a:chOff x="348" y="3851"/>
            <a:chExt cx="21687" cy="4294"/>
          </a:xfrm>
        </p:grpSpPr>
        <p:pic>
          <p:nvPicPr>
            <p:cNvPr id="65542" name="图片 4" descr="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8" y="3852"/>
              <a:ext cx="8712" cy="4291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65543" name="组合 4"/>
            <p:cNvGrpSpPr/>
            <p:nvPr/>
          </p:nvGrpSpPr>
          <p:grpSpPr>
            <a:xfrm>
              <a:off x="9060" y="3851"/>
              <a:ext cx="12975" cy="4293"/>
              <a:chOff x="6900" y="3712"/>
              <a:chExt cx="12975" cy="4158"/>
            </a:xfrm>
          </p:grpSpPr>
          <p:pic>
            <p:nvPicPr>
              <p:cNvPr id="65544" name="图片 3" descr="8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00" y="3712"/>
                <a:ext cx="8637" cy="4157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65545" name="TextBox 9"/>
              <p:cNvSpPr txBox="1"/>
              <p:nvPr/>
            </p:nvSpPr>
            <p:spPr>
              <a:xfrm>
                <a:off x="15726" y="4513"/>
                <a:ext cx="4149" cy="6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eaLnBrk="0" hangingPunct="0"/>
                <a:r>
                  <a:rPr lang="en-US" altLang="zh-CN" sz="2400" dirty="0">
                    <a:latin typeface="Roboto Light"/>
                    <a:ea typeface="微软雅黑 Light" panose="020B0502040204020203" pitchFamily="34" charset="-122"/>
                  </a:rPr>
                  <a:t>2020-2-18</a:t>
                </a:r>
                <a:endParaRPr lang="zh-CN" altLang="en-US" sz="2400" dirty="0">
                  <a:latin typeface="Roboto Light"/>
                  <a:ea typeface="微软雅黑 Light" panose="020B0502040204020203" pitchFamily="34" charset="-122"/>
                </a:endParaRPr>
              </a:p>
            </p:txBody>
          </p:sp>
        </p:grpSp>
      </p:grpSp>
      <p:grpSp>
        <p:nvGrpSpPr>
          <p:cNvPr id="5" name="组合 7"/>
          <p:cNvGrpSpPr/>
          <p:nvPr/>
        </p:nvGrpSpPr>
        <p:grpSpPr>
          <a:xfrm>
            <a:off x="331788" y="3606800"/>
            <a:ext cx="11618912" cy="3171825"/>
            <a:chOff x="2629" y="5852"/>
            <a:chExt cx="16695" cy="4575"/>
          </a:xfrm>
        </p:grpSpPr>
        <p:pic>
          <p:nvPicPr>
            <p:cNvPr id="65547" name="Picture 9" descr="C:\Users\Administrator\Desktop\3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300" y="5852"/>
              <a:ext cx="4197" cy="453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5548" name="TextBox 9"/>
            <p:cNvSpPr txBox="1"/>
            <p:nvPr/>
          </p:nvSpPr>
          <p:spPr>
            <a:xfrm>
              <a:off x="15850" y="7557"/>
              <a:ext cx="3474" cy="66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eaLnBrk="0" hangingPunct="0"/>
              <a:r>
                <a:rPr lang="en-US" altLang="zh-CN" sz="2400" dirty="0">
                  <a:latin typeface="Roboto Light"/>
                  <a:ea typeface="微软雅黑 Light" panose="020B0502040204020203" pitchFamily="34" charset="-122"/>
                </a:rPr>
                <a:t>2020-2-26</a:t>
              </a:r>
              <a:endParaRPr lang="zh-CN" altLang="en-US" sz="2400" dirty="0">
                <a:latin typeface="Roboto Light"/>
                <a:ea typeface="微软雅黑 Light" panose="020B0502040204020203" pitchFamily="34" charset="-122"/>
              </a:endParaRPr>
            </a:p>
          </p:txBody>
        </p:sp>
        <p:pic>
          <p:nvPicPr>
            <p:cNvPr id="65549" name="Picture 7" descr="C:\Users\Administrator\Desktop\1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29" y="5852"/>
              <a:ext cx="4195" cy="457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5550" name="Picture 8" descr="C:\Users\Administrator\Desktop\2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824" y="5852"/>
              <a:ext cx="4537" cy="4537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  <p:custDataLst>
      <p:tags r:id="rId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6561" name="图片 2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0113" y="385763"/>
            <a:ext cx="4752975" cy="23050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6562" name="图片 1" descr="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38" y="3405188"/>
            <a:ext cx="4752975" cy="2447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6563" name="TextBox 8"/>
          <p:cNvSpPr txBox="1"/>
          <p:nvPr/>
        </p:nvSpPr>
        <p:spPr>
          <a:xfrm>
            <a:off x="4140200" y="2690813"/>
            <a:ext cx="3241675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/>
            <a:r>
              <a:rPr lang="en-US" altLang="zh-CN" sz="2400" dirty="0">
                <a:latin typeface="Roboto Light"/>
                <a:ea typeface="微软雅黑 Light" panose="020B0502040204020203" pitchFamily="34" charset="-122"/>
              </a:rPr>
              <a:t>2020-2-8</a:t>
            </a:r>
            <a:endParaRPr lang="zh-CN" altLang="en-US" sz="2400" dirty="0">
              <a:latin typeface="Roboto Light"/>
              <a:ea typeface="微软雅黑 Light" panose="020B0502040204020203" pitchFamily="34" charset="-122"/>
            </a:endParaRPr>
          </a:p>
        </p:txBody>
      </p:sp>
      <p:sp>
        <p:nvSpPr>
          <p:cNvPr id="66564" name="TextBox 9"/>
          <p:cNvSpPr txBox="1"/>
          <p:nvPr/>
        </p:nvSpPr>
        <p:spPr>
          <a:xfrm>
            <a:off x="1711325" y="5978525"/>
            <a:ext cx="2428875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zh-CN" sz="2400" dirty="0">
                <a:latin typeface="Roboto Light"/>
                <a:ea typeface="微软雅黑 Light" panose="020B0502040204020203" pitchFamily="34" charset="-122"/>
              </a:rPr>
              <a:t>2020-2-18</a:t>
            </a:r>
            <a:endParaRPr lang="zh-CN" altLang="en-US" sz="2400" dirty="0">
              <a:latin typeface="Roboto Light"/>
              <a:ea typeface="微软雅黑 Light" panose="020B0502040204020203" pitchFamily="34" charset="-122"/>
            </a:endParaRPr>
          </a:p>
        </p:txBody>
      </p:sp>
      <p:sp>
        <p:nvSpPr>
          <p:cNvPr id="66565" name="TextBox 10"/>
          <p:cNvSpPr txBox="1"/>
          <p:nvPr/>
        </p:nvSpPr>
        <p:spPr>
          <a:xfrm>
            <a:off x="7999413" y="5978525"/>
            <a:ext cx="2362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zh-CN" sz="2400" dirty="0">
                <a:latin typeface="Roboto Light"/>
                <a:ea typeface="微软雅黑 Light" panose="020B0502040204020203" pitchFamily="34" charset="-122"/>
              </a:rPr>
              <a:t>2020-2-26</a:t>
            </a:r>
            <a:endParaRPr lang="zh-CN" altLang="en-US" sz="2400" dirty="0">
              <a:latin typeface="Roboto Light"/>
              <a:ea typeface="微软雅黑 Light" panose="020B0502040204020203" pitchFamily="34" charset="-122"/>
            </a:endParaRPr>
          </a:p>
        </p:txBody>
      </p:sp>
      <p:grpSp>
        <p:nvGrpSpPr>
          <p:cNvPr id="66566" name="组合 3"/>
          <p:cNvGrpSpPr/>
          <p:nvPr/>
        </p:nvGrpSpPr>
        <p:grpSpPr>
          <a:xfrm>
            <a:off x="6905625" y="3405188"/>
            <a:ext cx="4649788" cy="2447925"/>
            <a:chOff x="11143" y="5138"/>
            <a:chExt cx="7321" cy="3742"/>
          </a:xfrm>
        </p:grpSpPr>
        <p:pic>
          <p:nvPicPr>
            <p:cNvPr id="66567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43" y="5138"/>
              <a:ext cx="3807" cy="374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6568" name="Picture 7" descr="C:\Users\Administrator\Desktop\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949" y="5137"/>
              <a:ext cx="3515" cy="3742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  <p:custDataLst>
      <p:tags r:id="rId5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5" name="标题 1"/>
          <p:cNvSpPr>
            <a:spLocks noGrp="1"/>
          </p:cNvSpPr>
          <p:nvPr>
            <p:ph type="title"/>
          </p:nvPr>
        </p:nvSpPr>
        <p:spPr>
          <a:xfrm>
            <a:off x="1816100" y="442913"/>
            <a:ext cx="8140700" cy="442912"/>
          </a:xfrm>
          <a:ln/>
        </p:spPr>
        <p:txBody>
          <a:bodyPr vert="horz" wrap="square" lIns="91440" tIns="45720" rIns="91440" bIns="45720" anchor="ctr" anchorCtr="0"/>
          <a:p>
            <a:pPr defTabSz="685800"/>
            <a:endParaRPr lang="zh-CN" altLang="zh-CN" sz="2400" dirty="0">
              <a:sym typeface="微软雅黑" panose="020B0503020204020204" pitchFamily="34" charset="-122"/>
            </a:endParaRPr>
          </a:p>
        </p:txBody>
      </p:sp>
      <p:pic>
        <p:nvPicPr>
          <p:cNvPr id="67586" name="图片 1" descr="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0963" y="1444625"/>
            <a:ext cx="5962650" cy="4289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5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025" y="1444625"/>
            <a:ext cx="5876925" cy="428942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09" name="标题 1"/>
          <p:cNvSpPr>
            <a:spLocks noGrp="1"/>
          </p:cNvSpPr>
          <p:nvPr>
            <p:ph type="title"/>
          </p:nvPr>
        </p:nvSpPr>
        <p:spPr>
          <a:xfrm>
            <a:off x="2238375" y="263525"/>
            <a:ext cx="8140700" cy="442913"/>
          </a:xfrm>
          <a:ln/>
        </p:spPr>
        <p:txBody>
          <a:bodyPr vert="horz" wrap="square" lIns="91440" tIns="45720" rIns="91440" bIns="45720" anchor="ctr" anchorCtr="0"/>
          <a:p>
            <a:pPr defTabSz="685800"/>
            <a:endParaRPr lang="zh-CN" altLang="zh-CN" sz="2400" dirty="0">
              <a:sym typeface="微软雅黑" panose="020B0503020204020204" pitchFamily="34" charset="-122"/>
            </a:endParaRPr>
          </a:p>
        </p:txBody>
      </p:sp>
      <p:pic>
        <p:nvPicPr>
          <p:cNvPr id="68610" name="图片 5" descr="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238375" y="928688"/>
            <a:ext cx="7286625" cy="5643562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3" name="文本框 5" descr="7b0a202020202262756c6c6574223a20227b5c2263617465676f727949645c223a31303031322c5c2274656d706c61746549645c223a32303233313239307d220a7d0a"/>
          <p:cNvSpPr txBox="1"/>
          <p:nvPr/>
        </p:nvSpPr>
        <p:spPr>
          <a:xfrm>
            <a:off x="1135063" y="461963"/>
            <a:ext cx="10118725" cy="50165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None/>
            </a:pPr>
            <a:endParaRPr lang="en-US" altLang="zh-CN" sz="3600" dirty="0">
              <a:latin typeface="黑体" panose="02010609060101010101" charset="-122"/>
              <a:ea typeface="黑体" panose="02010609060101010101" charset="-122"/>
            </a:endParaRPr>
          </a:p>
          <a:p>
            <a:pPr eaLnBrk="0" hangingPunct="0">
              <a:buSzPct val="180000"/>
              <a:buBlip>
                <a:blip r:embed="rId1"/>
              </a:buBlip>
            </a:pPr>
            <a:endParaRPr lang="en-US" altLang="zh-CN" sz="3200" dirty="0">
              <a:latin typeface="黑体" panose="02010609060101010101" charset="-122"/>
              <a:ea typeface="黑体" panose="02010609060101010101" charset="-122"/>
            </a:endParaRPr>
          </a:p>
          <a:p>
            <a:pPr eaLnBrk="0" hangingPunct="0">
              <a:buSzPct val="180000"/>
              <a:buBlip>
                <a:blip r:embed="rId1"/>
              </a:buBlip>
            </a:pP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病变多发，术前导航确定切口范围，术中超声引导下切除，手术顺序，先小后大。</a:t>
            </a:r>
            <a:endParaRPr lang="zh-CN" altLang="en-US" sz="2800" dirty="0">
              <a:latin typeface="黑体" panose="02010609060101010101" charset="-122"/>
              <a:ea typeface="黑体" panose="02010609060101010101" charset="-122"/>
            </a:endParaRPr>
          </a:p>
          <a:p>
            <a:pPr eaLnBrk="0" hangingPunct="0">
              <a:buSzPct val="180000"/>
              <a:buBlip>
                <a:blip r:embed="rId1"/>
              </a:buBlip>
            </a:pP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病变位于功能区，小的病变位于缘上回，弓状纤维怀中，术中超声确定病变后，沿脑沟进入，尽量从肿瘤正中表明进入，术中黄荧光显示肿瘤，沿边界切除。</a:t>
            </a:r>
            <a:endParaRPr lang="zh-CN" altLang="en-US" sz="2800" dirty="0">
              <a:latin typeface="黑体" panose="02010609060101010101" charset="-122"/>
              <a:ea typeface="黑体" panose="02010609060101010101" charset="-122"/>
            </a:endParaRPr>
          </a:p>
          <a:p>
            <a:pPr eaLnBrk="0" hangingPunct="0">
              <a:buSzPct val="180000"/>
              <a:buBlip>
                <a:blip r:embed="rId1"/>
              </a:buBlip>
            </a:pP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大病变位于中央前回，由额中回辅助运动区前方斜向后进入，沿肿瘤边界切除，可损伤部分上纵束前段，避免损伤皮质脊髓束与上纵束中后段。</a:t>
            </a:r>
            <a:endParaRPr lang="zh-CN" altLang="en-US" sz="2800" dirty="0">
              <a:latin typeface="黑体" panose="02010609060101010101" charset="-122"/>
              <a:ea typeface="黑体" panose="02010609060101010101" charset="-122"/>
            </a:endParaRPr>
          </a:p>
          <a:p>
            <a:pPr eaLnBrk="0" hangingPunct="0">
              <a:buSzPct val="180000"/>
              <a:buBlip>
                <a:blip r:embed="rId1"/>
              </a:buBlip>
            </a:pP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术中反复超声定位。</a:t>
            </a:r>
            <a:endParaRPr lang="zh-CN" altLang="en-US" sz="2800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69634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338" name="图片 2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324100"/>
            <a:ext cx="3649663" cy="37115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682" name="文本框 4"/>
          <p:cNvSpPr txBox="1"/>
          <p:nvPr/>
        </p:nvSpPr>
        <p:spPr>
          <a:xfrm>
            <a:off x="1905000" y="911225"/>
            <a:ext cx="7839075" cy="830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</a:rPr>
              <a:t>2020-2-28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在全麻下行左侧额顶叶病损切除术。术中应用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神经导航，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B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超，术中荧光造影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辅助切除肿瘤。</a:t>
            </a:r>
            <a:endParaRPr lang="en-US" altLang="zh-CN" sz="2400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14341" name="图片 1" descr="截图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663" y="2319338"/>
            <a:ext cx="4095750" cy="37163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4" descr="微信图片_202005021551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5413" y="2319338"/>
            <a:ext cx="4522787" cy="371475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4"/>
    </p:custDataLst>
  </p:cSld>
  <p:clrMapOvr>
    <a:masterClrMapping/>
  </p:clrMapOvr>
  <p:transition>
    <p:cut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5" name="标题 1"/>
          <p:cNvSpPr>
            <a:spLocks noGrp="1"/>
          </p:cNvSpPr>
          <p:nvPr>
            <p:ph type="title"/>
          </p:nvPr>
        </p:nvSpPr>
        <p:spPr>
          <a:xfrm>
            <a:off x="2025650" y="442913"/>
            <a:ext cx="8140700" cy="442912"/>
          </a:xfrm>
          <a:ln/>
        </p:spPr>
        <p:txBody>
          <a:bodyPr vert="horz" wrap="square" lIns="91440" tIns="45720" rIns="91440" bIns="45720" anchor="ctr" anchorCtr="0"/>
          <a:p>
            <a:pPr defTabSz="685800"/>
            <a:r>
              <a:rPr lang="en-US" altLang="zh-CN" sz="3600" dirty="0">
                <a:sym typeface="微软雅黑" panose="020B0503020204020204" pitchFamily="34" charset="-122"/>
              </a:rPr>
              <a:t>  </a:t>
            </a:r>
            <a:endParaRPr lang="en-US" altLang="zh-CN" sz="3600" dirty="0">
              <a:sym typeface="微软雅黑" panose="020B0503020204020204" pitchFamily="34" charset="-122"/>
            </a:endParaRPr>
          </a:p>
        </p:txBody>
      </p:sp>
      <p:sp>
        <p:nvSpPr>
          <p:cNvPr id="72706" name="内容占位符 2" descr="7b0a202020202262756c6c6574223a20227b5c2263617465676f727949645c223a31303031322c5c2274656d706c61746549645c223a32303233313239347d220a7d0a"/>
          <p:cNvSpPr>
            <a:spLocks noGrp="1"/>
          </p:cNvSpPr>
          <p:nvPr>
            <p:ph sz="half" idx="1"/>
          </p:nvPr>
        </p:nvSpPr>
        <p:spPr>
          <a:xfrm>
            <a:off x="1666875" y="1855788"/>
            <a:ext cx="8599488" cy="2579687"/>
          </a:xfrm>
          <a:solidFill>
            <a:schemeClr val="bg1"/>
          </a:solidFill>
          <a:ln/>
        </p:spPr>
        <p:txBody>
          <a:bodyPr vert="horz" wrap="square" lIns="91440" tIns="45720" rIns="91440" bIns="45720" anchor="t" anchorCtr="0"/>
          <a:p>
            <a:pPr defTabSz="685800">
              <a:buClrTx/>
              <a:buSzPct val="180000"/>
              <a:buFontTx/>
              <a:buBlip>
                <a:blip r:embed="rId1"/>
              </a:buBlip>
            </a:pPr>
            <a:r>
              <a:rPr lang="en-US" altLang="zh-CN" dirty="0">
                <a:latin typeface="微软雅黑" panose="020B0503020204020204" pitchFamily="34" charset="-122"/>
                <a:ea typeface="黑体" panose="02010609060101010101" charset="-122"/>
                <a:cs typeface="+mn-cs"/>
                <a:sym typeface="微软雅黑" panose="020B0503020204020204" pitchFamily="34" charset="-122"/>
              </a:rPr>
              <a:t> </a:t>
            </a:r>
            <a:r>
              <a:rPr lang="zh-CN" altLang="zh-CN" dirty="0">
                <a:latin typeface="微软雅黑" panose="020B0503020204020204" pitchFamily="34" charset="-122"/>
                <a:ea typeface="黑体" panose="02010609060101010101" charset="-122"/>
                <a:cs typeface="+mn-cs"/>
                <a:sym typeface="微软雅黑" panose="020B0503020204020204" pitchFamily="34" charset="-122"/>
              </a:rPr>
              <a:t>肿瘤全切除</a:t>
            </a:r>
            <a:endParaRPr lang="zh-CN" altLang="zh-CN" dirty="0">
              <a:latin typeface="微软雅黑" panose="020B0503020204020204" pitchFamily="34" charset="-122"/>
              <a:ea typeface="黑体" panose="02010609060101010101" charset="-122"/>
              <a:cs typeface="+mn-cs"/>
              <a:sym typeface="微软雅黑" panose="020B0503020204020204" pitchFamily="34" charset="-122"/>
            </a:endParaRPr>
          </a:p>
          <a:p>
            <a:pPr defTabSz="685800">
              <a:buClrTx/>
              <a:buSzPct val="180000"/>
              <a:buFontTx/>
              <a:buBlip>
                <a:blip r:embed="rId1"/>
              </a:buBlip>
            </a:pPr>
            <a:r>
              <a:rPr lang="en-US" altLang="zh-CN" dirty="0">
                <a:latin typeface="微软雅黑" panose="020B0503020204020204" pitchFamily="34" charset="-122"/>
                <a:ea typeface="黑体" panose="02010609060101010101" charset="-122"/>
                <a:cs typeface="+mn-cs"/>
                <a:sym typeface="微软雅黑" panose="020B0503020204020204" pitchFamily="34" charset="-122"/>
              </a:rPr>
              <a:t> </a:t>
            </a:r>
            <a:r>
              <a:rPr lang="zh-CN" altLang="zh-CN" dirty="0">
                <a:latin typeface="微软雅黑" panose="020B0503020204020204" pitchFamily="34" charset="-122"/>
                <a:ea typeface="黑体" panose="02010609060101010101" charset="-122"/>
                <a:cs typeface="+mn-cs"/>
                <a:sym typeface="微软雅黑" panose="020B0503020204020204" pitchFamily="34" charset="-122"/>
              </a:rPr>
              <a:t>周围结构保护完好</a:t>
            </a:r>
            <a:endParaRPr lang="zh-CN" altLang="zh-CN" dirty="0">
              <a:latin typeface="微软雅黑" panose="020B0503020204020204" pitchFamily="34" charset="-122"/>
              <a:ea typeface="黑体" panose="02010609060101010101" charset="-122"/>
              <a:cs typeface="+mn-cs"/>
              <a:sym typeface="微软雅黑" panose="020B0503020204020204" pitchFamily="34" charset="-122"/>
            </a:endParaRPr>
          </a:p>
          <a:p>
            <a:pPr defTabSz="685800">
              <a:buClrTx/>
              <a:buSzPct val="180000"/>
              <a:buFontTx/>
              <a:buBlip>
                <a:blip r:embed="rId1"/>
              </a:buBlip>
            </a:pPr>
            <a:r>
              <a:rPr lang="en-US" altLang="zh-CN" dirty="0">
                <a:latin typeface="微软雅黑" panose="020B0503020204020204" pitchFamily="34" charset="-122"/>
                <a:ea typeface="黑体" panose="02010609060101010101" charset="-122"/>
                <a:cs typeface="+mn-cs"/>
                <a:sym typeface="微软雅黑" panose="020B0503020204020204" pitchFamily="34" charset="-122"/>
              </a:rPr>
              <a:t> </a:t>
            </a:r>
            <a:r>
              <a:rPr lang="zh-CN" altLang="zh-CN" dirty="0">
                <a:latin typeface="微软雅黑" panose="020B0503020204020204" pitchFamily="34" charset="-122"/>
                <a:ea typeface="黑体" panose="02010609060101010101" charset="-122"/>
                <a:cs typeface="+mn-cs"/>
                <a:sym typeface="微软雅黑" panose="020B0503020204020204" pitchFamily="34" charset="-122"/>
              </a:rPr>
              <a:t>未输血</a:t>
            </a:r>
            <a:endParaRPr lang="zh-CN" altLang="zh-CN" dirty="0">
              <a:latin typeface="微软雅黑" panose="020B0503020204020204" pitchFamily="34" charset="-122"/>
              <a:ea typeface="黑体" panose="02010609060101010101" charset="-122"/>
              <a:cs typeface="+mn-cs"/>
              <a:sym typeface="微软雅黑" panose="020B0503020204020204" pitchFamily="34" charset="-122"/>
            </a:endParaRPr>
          </a:p>
          <a:p>
            <a:pPr defTabSz="685800">
              <a:buClrTx/>
              <a:buSzPct val="180000"/>
              <a:buFontTx/>
              <a:buBlip>
                <a:blip r:embed="rId1"/>
              </a:buBlip>
            </a:pPr>
            <a:r>
              <a:rPr lang="en-US" altLang="zh-CN" dirty="0">
                <a:latin typeface="微软雅黑" panose="020B0503020204020204" pitchFamily="34" charset="-122"/>
                <a:ea typeface="黑体" panose="02010609060101010101" charset="-122"/>
                <a:cs typeface="+mn-cs"/>
                <a:sym typeface="微软雅黑" panose="020B0503020204020204" pitchFamily="34" charset="-122"/>
              </a:rPr>
              <a:t> </a:t>
            </a:r>
            <a:r>
              <a:rPr lang="zh-CN" altLang="zh-CN" dirty="0">
                <a:latin typeface="微软雅黑" panose="020B0503020204020204" pitchFamily="34" charset="-122"/>
                <a:ea typeface="黑体" panose="02010609060101010101" charset="-122"/>
                <a:cs typeface="+mn-cs"/>
                <a:sym typeface="微软雅黑" panose="020B0503020204020204" pitchFamily="34" charset="-122"/>
              </a:rPr>
              <a:t>复苏后病人清醒，仍运动性失语，右下肢肌力</a:t>
            </a:r>
            <a:r>
              <a:rPr lang="en-US" altLang="zh-CN" dirty="0">
                <a:latin typeface="微软雅黑" panose="020B0503020204020204" pitchFamily="34" charset="-122"/>
                <a:ea typeface="黑体" panose="02010609060101010101" charset="-122"/>
                <a:cs typeface="+mn-cs"/>
                <a:sym typeface="微软雅黑" panose="020B0503020204020204" pitchFamily="34" charset="-122"/>
              </a:rPr>
              <a:t>2</a:t>
            </a:r>
            <a:r>
              <a:rPr lang="zh-CN" altLang="zh-CN" dirty="0">
                <a:latin typeface="微软雅黑" panose="020B0503020204020204" pitchFamily="34" charset="-122"/>
                <a:ea typeface="黑体" panose="02010609060101010101" charset="-122"/>
                <a:cs typeface="+mn-cs"/>
                <a:sym typeface="微软雅黑" panose="020B0503020204020204" pitchFamily="34" charset="-122"/>
              </a:rPr>
              <a:t>级，右上肢近端</a:t>
            </a:r>
            <a:r>
              <a:rPr lang="en-US" altLang="zh-CN" dirty="0">
                <a:latin typeface="微软雅黑" panose="020B0503020204020204" pitchFamily="34" charset="-122"/>
                <a:ea typeface="黑体" panose="02010609060101010101" charset="-122"/>
                <a:cs typeface="+mn-cs"/>
                <a:sym typeface="微软雅黑" panose="020B0503020204020204" pitchFamily="34" charset="-122"/>
              </a:rPr>
              <a:t>2</a:t>
            </a:r>
            <a:r>
              <a:rPr lang="zh-CN" altLang="zh-CN" dirty="0">
                <a:latin typeface="微软雅黑" panose="020B0503020204020204" pitchFamily="34" charset="-122"/>
                <a:ea typeface="黑体" panose="02010609060101010101" charset="-122"/>
                <a:cs typeface="+mn-cs"/>
                <a:sym typeface="微软雅黑" panose="020B0503020204020204" pitchFamily="34" charset="-122"/>
              </a:rPr>
              <a:t>级，远端</a:t>
            </a:r>
            <a:r>
              <a:rPr lang="en-US" altLang="zh-CN" dirty="0">
                <a:latin typeface="微软雅黑" panose="020B0503020204020204" pitchFamily="34" charset="-122"/>
                <a:ea typeface="黑体" panose="02010609060101010101" charset="-122"/>
                <a:cs typeface="+mn-cs"/>
                <a:sym typeface="微软雅黑" panose="020B0503020204020204" pitchFamily="34" charset="-122"/>
              </a:rPr>
              <a:t>1</a:t>
            </a:r>
            <a:r>
              <a:rPr lang="zh-CN" altLang="zh-CN" dirty="0">
                <a:latin typeface="微软雅黑" panose="020B0503020204020204" pitchFamily="34" charset="-122"/>
                <a:ea typeface="黑体" panose="02010609060101010101" charset="-122"/>
                <a:cs typeface="+mn-cs"/>
                <a:sym typeface="微软雅黑" panose="020B0503020204020204" pitchFamily="34" charset="-122"/>
              </a:rPr>
              <a:t>级。</a:t>
            </a:r>
            <a:endParaRPr lang="zh-CN" altLang="zh-CN" dirty="0">
              <a:latin typeface="微软雅黑" panose="020B0503020204020204" pitchFamily="34" charset="-122"/>
              <a:ea typeface="黑体" panose="02010609060101010101" charset="-122"/>
              <a:cs typeface="+mn-cs"/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29" name="标题 1"/>
          <p:cNvSpPr>
            <a:spLocks noGrp="1"/>
          </p:cNvSpPr>
          <p:nvPr>
            <p:ph type="title"/>
          </p:nvPr>
        </p:nvSpPr>
        <p:spPr>
          <a:xfrm>
            <a:off x="1862138" y="457200"/>
            <a:ext cx="8140700" cy="442913"/>
          </a:xfrm>
          <a:ln/>
        </p:spPr>
        <p:txBody>
          <a:bodyPr vert="horz" wrap="square" lIns="91440" tIns="45720" rIns="91440" bIns="45720" anchor="ctr" anchorCtr="0"/>
          <a:p>
            <a:pPr defTabSz="685800"/>
            <a:r>
              <a:rPr lang="zh-CN" altLang="en-US" sz="3600" dirty="0">
                <a:sym typeface="微软雅黑" panose="020B0503020204020204" pitchFamily="34" charset="-122"/>
              </a:rPr>
              <a:t>术后</a:t>
            </a:r>
            <a:r>
              <a:rPr lang="en-US" altLang="zh-CN" sz="3600" dirty="0">
                <a:sym typeface="微软雅黑" panose="020B0503020204020204" pitchFamily="34" charset="-122"/>
              </a:rPr>
              <a:t>4</a:t>
            </a:r>
            <a:r>
              <a:rPr lang="zh-CN" altLang="en-US" sz="3600" dirty="0">
                <a:sym typeface="微软雅黑" panose="020B0503020204020204" pitchFamily="34" charset="-122"/>
              </a:rPr>
              <a:t>小时</a:t>
            </a:r>
            <a:r>
              <a:rPr lang="en-US" altLang="zh-CN" sz="3600" dirty="0">
                <a:sym typeface="微软雅黑" panose="020B0503020204020204" pitchFamily="34" charset="-122"/>
              </a:rPr>
              <a:t>CT</a:t>
            </a:r>
            <a:endParaRPr lang="en-US" altLang="zh-CN" sz="3600" dirty="0">
              <a:sym typeface="微软雅黑" panose="020B0503020204020204" pitchFamily="34" charset="-122"/>
            </a:endParaRPr>
          </a:p>
        </p:txBody>
      </p:sp>
      <p:pic>
        <p:nvPicPr>
          <p:cNvPr id="73730" name="图片 4" descr="术后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7575" y="1252538"/>
            <a:ext cx="7815263" cy="52578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3" name="标题 1"/>
          <p:cNvSpPr>
            <a:spLocks noGrp="1"/>
          </p:cNvSpPr>
          <p:nvPr>
            <p:ph type="title"/>
          </p:nvPr>
        </p:nvSpPr>
        <p:spPr>
          <a:xfrm>
            <a:off x="1865313" y="442913"/>
            <a:ext cx="8140700" cy="442912"/>
          </a:xfrm>
          <a:ln/>
        </p:spPr>
        <p:txBody>
          <a:bodyPr vert="horz" wrap="square" lIns="91440" tIns="45720" rIns="91440" bIns="45720" anchor="ctr" anchorCtr="0"/>
          <a:p>
            <a:pPr defTabSz="685800"/>
            <a:r>
              <a:rPr lang="zh-CN" altLang="en-US" sz="3600" dirty="0">
                <a:sym typeface="微软雅黑" panose="020B0503020204020204" pitchFamily="34" charset="-122"/>
              </a:rPr>
              <a:t>术后第二天核磁复查</a:t>
            </a:r>
            <a:endParaRPr lang="en-US" altLang="zh-CN" sz="3600" dirty="0">
              <a:sym typeface="微软雅黑" panose="020B0503020204020204" pitchFamily="34" charset="-122"/>
            </a:endParaRPr>
          </a:p>
        </p:txBody>
      </p:sp>
      <p:pic>
        <p:nvPicPr>
          <p:cNvPr id="84994" name="图片 4" descr="术后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725" y="1065213"/>
            <a:ext cx="6561138" cy="49704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5" descr="术后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838" y="1327150"/>
            <a:ext cx="6562725" cy="50117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175" y="1682750"/>
            <a:ext cx="6096000" cy="4997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5" name="图片 7" descr="术后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0950" y="1884363"/>
            <a:ext cx="6148388" cy="4973637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7" name="标题 1"/>
          <p:cNvSpPr>
            <a:spLocks noGrp="1"/>
          </p:cNvSpPr>
          <p:nvPr>
            <p:ph type="title"/>
          </p:nvPr>
        </p:nvSpPr>
        <p:spPr>
          <a:xfrm>
            <a:off x="2160588" y="458788"/>
            <a:ext cx="8140700" cy="442912"/>
          </a:xfrm>
          <a:ln/>
        </p:spPr>
        <p:txBody>
          <a:bodyPr vert="horz" wrap="square" lIns="91440" tIns="45720" rIns="91440" bIns="45720" anchor="ctr" anchorCtr="0"/>
          <a:p>
            <a:pPr defTabSz="685800"/>
            <a:endParaRPr lang="en-US" altLang="zh-CN" sz="3600" dirty="0">
              <a:sym typeface="微软雅黑" panose="020B0503020204020204" pitchFamily="34" charset="-122"/>
            </a:endParaRPr>
          </a:p>
        </p:txBody>
      </p:sp>
      <p:pic>
        <p:nvPicPr>
          <p:cNvPr id="75778" name="Picture 2" descr="C:\Users\shenwaiyi\Desktop\微信图片_2020050717254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3025" y="352425"/>
            <a:ext cx="3482975" cy="3219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5779" name="Picture 3" descr="C:\Users\shenwaiyi\Desktop\微信图片_202005071725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025" y="3681413"/>
            <a:ext cx="3482975" cy="30622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5780" name="Picture 5" descr="C:\Users\shenwaiyi\Desktop\微信图片_2020050717252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838" y="352425"/>
            <a:ext cx="3602037" cy="3219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5781" name="Picture 6" descr="C:\Users\shenwaiyi\Desktop\微信图片_2020050717251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2838" y="3681413"/>
            <a:ext cx="3602037" cy="3062287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5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1" name="标题 1"/>
          <p:cNvSpPr>
            <a:spLocks noGrp="1"/>
          </p:cNvSpPr>
          <p:nvPr>
            <p:ph type="title"/>
          </p:nvPr>
        </p:nvSpPr>
        <p:spPr>
          <a:xfrm>
            <a:off x="1931988" y="0"/>
            <a:ext cx="8229600" cy="1143000"/>
          </a:xfrm>
          <a:ln/>
        </p:spPr>
        <p:txBody>
          <a:bodyPr vert="horz" wrap="square" lIns="91440" tIns="45720" rIns="91440" bIns="45720" anchor="ctr" anchorCtr="0"/>
          <a:p>
            <a:pPr defTabSz="685800"/>
            <a:r>
              <a:rPr lang="zh-CN" altLang="zh-CN" sz="3600" dirty="0">
                <a:sym typeface="微软雅黑" panose="020B0503020204020204" pitchFamily="34" charset="-122"/>
              </a:rPr>
              <a:t>病理资料</a:t>
            </a:r>
            <a:endParaRPr lang="zh-CN" altLang="zh-CN" sz="3600" dirty="0">
              <a:sym typeface="微软雅黑" panose="020B0503020204020204" pitchFamily="34" charset="-122"/>
            </a:endParaRPr>
          </a:p>
        </p:txBody>
      </p:sp>
      <p:sp>
        <p:nvSpPr>
          <p:cNvPr id="76802" name="矩形 5"/>
          <p:cNvSpPr/>
          <p:nvPr/>
        </p:nvSpPr>
        <p:spPr>
          <a:xfrm>
            <a:off x="7604125" y="2344738"/>
            <a:ext cx="5116513" cy="19383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胶质母细胞瘤（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WHO IV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级）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MGMT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启动子高甲基化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TERT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启动子未见突变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IDH1/2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基因野生型（预后差）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/>
            <a:endParaRPr lang="zh-CN" altLang="en-US" sz="2400" dirty="0"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76803" name="组合 4"/>
          <p:cNvGrpSpPr/>
          <p:nvPr/>
        </p:nvGrpSpPr>
        <p:grpSpPr>
          <a:xfrm>
            <a:off x="469900" y="1247775"/>
            <a:ext cx="6719888" cy="5419725"/>
            <a:chOff x="739" y="1964"/>
            <a:chExt cx="10584" cy="8536"/>
          </a:xfrm>
        </p:grpSpPr>
        <p:pic>
          <p:nvPicPr>
            <p:cNvPr id="76804" name="图片 6" descr="微信图片_20200503224708.png"/>
            <p:cNvPicPr>
              <a:picLocks noChangeAspect="1"/>
            </p:cNvPicPr>
            <p:nvPr/>
          </p:nvPicPr>
          <p:blipFill>
            <a:blip r:embed="rId1"/>
            <a:srcRect t="2840" r="-1080" b="25011"/>
            <a:stretch>
              <a:fillRect/>
            </a:stretch>
          </p:blipFill>
          <p:spPr>
            <a:xfrm>
              <a:off x="4050" y="2897"/>
              <a:ext cx="3822" cy="587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6805" name="图片 7" descr="微信图片_20200503224716.png"/>
            <p:cNvPicPr>
              <a:picLocks noChangeAspect="1"/>
            </p:cNvPicPr>
            <p:nvPr/>
          </p:nvPicPr>
          <p:blipFill>
            <a:blip r:embed="rId2"/>
            <a:srcRect t="27556" r="2301" b="714"/>
            <a:stretch>
              <a:fillRect/>
            </a:stretch>
          </p:blipFill>
          <p:spPr>
            <a:xfrm>
              <a:off x="5801" y="3692"/>
              <a:ext cx="3882" cy="577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6806" name="图片 8" descr="微信图片_20200503224725.png"/>
            <p:cNvPicPr>
              <a:picLocks noChangeAspect="1"/>
            </p:cNvPicPr>
            <p:nvPr/>
          </p:nvPicPr>
          <p:blipFill>
            <a:blip r:embed="rId3"/>
            <a:srcRect t="10159" r="4326" b="13428"/>
            <a:stretch>
              <a:fillRect/>
            </a:stretch>
          </p:blipFill>
          <p:spPr>
            <a:xfrm>
              <a:off x="7200" y="4645"/>
              <a:ext cx="4122" cy="5855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6807" name="图片 9" descr="微信图片_20200503221333.png"/>
            <p:cNvPicPr>
              <a:picLocks noChangeAspect="1"/>
            </p:cNvPicPr>
            <p:nvPr/>
          </p:nvPicPr>
          <p:blipFill>
            <a:blip r:embed="rId4"/>
            <a:srcRect t="14745" r="3241" b="17522"/>
            <a:stretch>
              <a:fillRect/>
            </a:stretch>
          </p:blipFill>
          <p:spPr>
            <a:xfrm>
              <a:off x="739" y="1964"/>
              <a:ext cx="4565" cy="568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6808" name="圆角矩形 1"/>
            <p:cNvSpPr/>
            <p:nvPr/>
          </p:nvSpPr>
          <p:spPr>
            <a:xfrm>
              <a:off x="1526" y="2727"/>
              <a:ext cx="3607" cy="363"/>
            </a:xfrm>
            <a:prstGeom prst="roundRect">
              <a:avLst>
                <a:gd name="adj" fmla="val 16667"/>
              </a:avLst>
            </a:prstGeom>
            <a:pattFill prst="pct30">
              <a:fgClr>
                <a:schemeClr val="accent1"/>
              </a:fgClr>
              <a:bgClr>
                <a:schemeClr val="bg1"/>
              </a:bgClr>
            </a:pattFill>
            <a:ln w="9525">
              <a:noFill/>
            </a:ln>
          </p:spPr>
          <p:txBody>
            <a:bodyPr anchor="t" anchorCtr="0"/>
            <a:p>
              <a:pPr eaLnBrk="0" hangingPunct="0"/>
              <a:endParaRPr lang="zh-CN" altLang="en-US" dirty="0">
                <a:latin typeface="Roboto Light"/>
                <a:ea typeface="微软雅黑 Light" panose="020B0502040204020203" pitchFamily="34" charset="-122"/>
              </a:endParaRPr>
            </a:p>
          </p:txBody>
        </p:sp>
        <p:sp>
          <p:nvSpPr>
            <p:cNvPr id="76809" name="圆角矩形 2"/>
            <p:cNvSpPr/>
            <p:nvPr/>
          </p:nvSpPr>
          <p:spPr>
            <a:xfrm>
              <a:off x="7458" y="5370"/>
              <a:ext cx="3607" cy="363"/>
            </a:xfrm>
            <a:prstGeom prst="roundRect">
              <a:avLst>
                <a:gd name="adj" fmla="val 16667"/>
              </a:avLst>
            </a:prstGeom>
            <a:pattFill prst="pct30">
              <a:fgClr>
                <a:schemeClr val="accent1"/>
              </a:fgClr>
              <a:bgClr>
                <a:schemeClr val="bg1"/>
              </a:bgClr>
            </a:pattFill>
            <a:ln w="9525">
              <a:noFill/>
            </a:ln>
          </p:spPr>
          <p:txBody>
            <a:bodyPr anchor="t" anchorCtr="0"/>
            <a:p>
              <a:pPr eaLnBrk="0" hangingPunct="0"/>
              <a:endParaRPr lang="zh-CN" altLang="en-US" dirty="0">
                <a:latin typeface="Roboto Light"/>
                <a:ea typeface="微软雅黑 Light" panose="020B0502040204020203" pitchFamily="34" charset="-122"/>
              </a:endParaRPr>
            </a:p>
          </p:txBody>
        </p:sp>
        <p:sp>
          <p:nvSpPr>
            <p:cNvPr id="76810" name="圆角矩形 3"/>
            <p:cNvSpPr/>
            <p:nvPr/>
          </p:nvSpPr>
          <p:spPr>
            <a:xfrm>
              <a:off x="5802" y="4435"/>
              <a:ext cx="3607" cy="363"/>
            </a:xfrm>
            <a:prstGeom prst="roundRect">
              <a:avLst>
                <a:gd name="adj" fmla="val 16667"/>
              </a:avLst>
            </a:prstGeom>
            <a:pattFill prst="pct30">
              <a:fgClr>
                <a:schemeClr val="accent1"/>
              </a:fgClr>
              <a:bgClr>
                <a:schemeClr val="bg1"/>
              </a:bgClr>
            </a:pattFill>
            <a:ln w="9525">
              <a:noFill/>
            </a:ln>
          </p:spPr>
          <p:txBody>
            <a:bodyPr anchor="t" anchorCtr="0"/>
            <a:p>
              <a:pPr eaLnBrk="0" hangingPunct="0"/>
              <a:endParaRPr lang="zh-CN" altLang="en-US" dirty="0">
                <a:latin typeface="Roboto Light"/>
                <a:ea typeface="微软雅黑 Light" panose="020B0502040204020203" pitchFamily="34" charset="-122"/>
              </a:endParaRPr>
            </a:p>
          </p:txBody>
        </p:sp>
      </p:grpSp>
    </p:spTree>
    <p:custDataLst>
      <p:tags r:id="rId5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标题 1"/>
          <p:cNvSpPr>
            <a:spLocks noGrp="1"/>
          </p:cNvSpPr>
          <p:nvPr>
            <p:ph type="subTitle" idx="4294967295"/>
          </p:nvPr>
        </p:nvSpPr>
        <p:spPr>
          <a:xfrm>
            <a:off x="1497013" y="387350"/>
            <a:ext cx="5818188" cy="492125"/>
          </a:xfrm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0" cap="none" spc="20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j-cs"/>
                <a:sym typeface="微软雅黑" panose="020B0503020204020204" pitchFamily="34" charset="-122"/>
              </a:rPr>
              <a:t> </a:t>
            </a:r>
            <a:r>
              <a:rPr kumimoji="0" lang="zh-CN" altLang="en-US" sz="4000" b="1" i="0" u="none" strike="noStrike" kern="0" cap="none" spc="20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j-cs"/>
                <a:sym typeface="微软雅黑" panose="020B0503020204020204" pitchFamily="34" charset="-122"/>
              </a:rPr>
              <a:t>病例</a:t>
            </a:r>
            <a:r>
              <a:rPr kumimoji="0" lang="en-US" altLang="zh-CN" sz="4000" b="1" i="0" u="none" strike="noStrike" kern="0" cap="none" spc="20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+mj-cs"/>
                <a:sym typeface="微软雅黑" panose="020B0503020204020204" pitchFamily="34" charset="-122"/>
              </a:rPr>
              <a:t>4</a:t>
            </a:r>
            <a:endParaRPr kumimoji="0" lang="en-US" altLang="zh-CN" sz="4000" b="1" i="0" u="none" strike="noStrike" kern="1200" cap="none" spc="200" normalizeH="0" baseline="0" noProof="1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" name="文本框 5" descr="7b0a202020202262756c6c6574223a20227b5c2263617465676f727949645c223a31303031322c5c2274656d706c61746549645c223a32303233313330307d220a7d0a"/>
          <p:cNvSpPr txBox="1"/>
          <p:nvPr/>
        </p:nvSpPr>
        <p:spPr>
          <a:xfrm>
            <a:off x="847725" y="1858963"/>
            <a:ext cx="10847388" cy="41132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71450" marR="0" indent="-171450" defTabSz="685800" eaLnBrk="0" hangingPunct="0">
              <a:spcAft>
                <a:spcPts val="1000"/>
              </a:spcAft>
              <a:buClrTx/>
              <a:buSzPct val="150000"/>
              <a:buFontTx/>
              <a:buBlip>
                <a:blip r:embed="rId1"/>
              </a:buBlip>
              <a:defRPr/>
            </a:pPr>
            <a:r>
              <a:rPr kumimoji="0" lang="en-US" altLang="en-US" sz="2800" kern="1200" cap="none" spc="150" normalizeH="0" baseline="0" noProof="1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 男性，</a:t>
            </a:r>
            <a:r>
              <a:rPr kumimoji="0" lang="en-US" altLang="zh-CN" sz="2800" kern="1200" cap="none" spc="150" normalizeH="0" baseline="0" noProof="1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51</a:t>
            </a:r>
            <a:r>
              <a:rPr kumimoji="0" lang="en-US" altLang="en-US" sz="2800" kern="1200" cap="none" spc="150" normalizeH="0" baseline="0" noProof="1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岁 ，右利手。</a:t>
            </a:r>
            <a:endParaRPr kumimoji="0" lang="en-US" altLang="en-US" sz="2800" kern="1200" cap="none" spc="150" normalizeH="0" baseline="0" noProof="1">
              <a:solidFill>
                <a:srgbClr val="262626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微软雅黑" panose="020B0503020204020204" pitchFamily="34" charset="-122"/>
            </a:endParaRPr>
          </a:p>
          <a:p>
            <a:pPr marL="171450" marR="0" indent="-171450" defTabSz="685800" eaLnBrk="0" hangingPunct="0">
              <a:spcAft>
                <a:spcPts val="1000"/>
              </a:spcAft>
              <a:buClrTx/>
              <a:buSzPct val="150000"/>
              <a:buFontTx/>
              <a:buBlip>
                <a:blip r:embed="rId1"/>
              </a:buBlip>
              <a:defRPr/>
            </a:pPr>
            <a:r>
              <a:rPr kumimoji="0" lang="en-US" altLang="en-US" sz="2800" kern="1200" cap="none" spc="150" normalizeH="0" baseline="0" noProof="1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 因</a:t>
            </a:r>
            <a:r>
              <a:rPr kumimoji="0" lang="en-US" altLang="zh-CN" sz="2800" kern="1200" cap="none" spc="150" normalizeH="0" baseline="0" noProof="1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“</a:t>
            </a:r>
            <a:r>
              <a:rPr kumimoji="0" lang="en-US" altLang="en-US" sz="2800" kern="1200" cap="none" spc="150" normalizeH="0" baseline="0" noProof="1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右侧肢体</a:t>
            </a:r>
            <a:r>
              <a:rPr kumimoji="0" lang="zh-CN" altLang="en-US" sz="2800" kern="1200" cap="none" spc="150" normalizeH="0" baseline="0" noProof="1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麻木一月余</a:t>
            </a:r>
            <a:r>
              <a:rPr kumimoji="0" lang="en-US" altLang="zh-CN" sz="2800" kern="1200" cap="none" spc="150" normalizeH="0" baseline="0" noProof="1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”</a:t>
            </a:r>
            <a:r>
              <a:rPr kumimoji="0" lang="en-US" altLang="en-US" sz="2800" kern="1200" cap="none" spc="150" normalizeH="0" baseline="0" noProof="1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于</a:t>
            </a:r>
            <a:r>
              <a:rPr kumimoji="0" lang="en-US" altLang="zh-CN" sz="2800" kern="1200" cap="none" spc="150" normalizeH="0" baseline="0" noProof="1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2021</a:t>
            </a:r>
            <a:r>
              <a:rPr kumimoji="0" lang="en-US" altLang="en-US" sz="2800" kern="1200" cap="none" spc="150" normalizeH="0" baseline="0" noProof="1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年</a:t>
            </a:r>
            <a:r>
              <a:rPr kumimoji="0" lang="en-US" altLang="zh-CN" sz="2800" kern="1200" cap="none" spc="150" normalizeH="0" baseline="0" noProof="1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6</a:t>
            </a:r>
            <a:r>
              <a:rPr kumimoji="0" lang="en-US" altLang="en-US" sz="2800" kern="1200" cap="none" spc="150" normalizeH="0" baseline="0" noProof="1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月</a:t>
            </a:r>
            <a:r>
              <a:rPr kumimoji="0" lang="en-US" altLang="zh-CN" sz="2800" kern="1200" cap="none" spc="150" normalizeH="0" baseline="0" noProof="1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18</a:t>
            </a:r>
            <a:r>
              <a:rPr kumimoji="0" lang="en-US" altLang="en-US" sz="2800" kern="1200" cap="none" spc="150" normalizeH="0" baseline="0" noProof="1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日入院。</a:t>
            </a:r>
            <a:endParaRPr kumimoji="0" lang="en-US" altLang="en-US" sz="2800" kern="1200" cap="none" spc="150" normalizeH="0" baseline="0" noProof="1">
              <a:solidFill>
                <a:srgbClr val="262626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微软雅黑" panose="020B0503020204020204" pitchFamily="34" charset="-122"/>
            </a:endParaRPr>
          </a:p>
          <a:p>
            <a:pPr marL="171450" marR="0" indent="-171450" defTabSz="685800" eaLnBrk="0" hangingPunct="0">
              <a:spcAft>
                <a:spcPts val="1000"/>
              </a:spcAft>
              <a:buClrTx/>
              <a:buSzPct val="150000"/>
              <a:buFontTx/>
              <a:buBlip>
                <a:blip r:embed="rId1"/>
              </a:buBlip>
              <a:defRPr/>
            </a:pPr>
            <a:r>
              <a:rPr kumimoji="0" lang="en-US" altLang="zh-CN" sz="2800" kern="1200" cap="none" spc="150" normalizeH="0" baseline="0" noProof="1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 </a:t>
            </a:r>
            <a:r>
              <a:rPr kumimoji="0" lang="zh-CN" altLang="en-US" sz="2800" kern="1200" cap="none" spc="150" normalizeH="0" baseline="0" noProof="1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既往史：高血压病史</a:t>
            </a:r>
            <a:r>
              <a:rPr kumimoji="0" lang="en-US" altLang="zh-CN" sz="2800" kern="1200" cap="none" spc="150" normalizeH="0" baseline="0" noProof="1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5</a:t>
            </a:r>
            <a:r>
              <a:rPr kumimoji="0" lang="zh-CN" altLang="en-US" sz="2800" kern="1200" cap="none" spc="150" normalizeH="0" baseline="0" noProof="1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年，最高血压</a:t>
            </a:r>
            <a:r>
              <a:rPr kumimoji="0" lang="en-US" altLang="zh-CN" sz="2800" kern="1200" cap="none" spc="150" normalizeH="0" baseline="0" noProof="1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190/110mmHg,</a:t>
            </a:r>
            <a:r>
              <a:rPr kumimoji="0" lang="zh-CN" altLang="en-US" sz="2800" kern="1200" cap="none" spc="150" normalizeH="0" baseline="0" noProof="1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口服非洛地平缓释片</a:t>
            </a:r>
            <a:r>
              <a:rPr kumimoji="0" lang="en-US" altLang="zh-CN" sz="2800" kern="1200" cap="none" spc="150" normalizeH="0" baseline="0" noProof="1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2.5mg qd</a:t>
            </a:r>
            <a:r>
              <a:rPr kumimoji="0" lang="zh-CN" altLang="en-US" sz="2800" kern="1200" cap="none" spc="150" normalizeH="0" baseline="0" noProof="1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。</a:t>
            </a:r>
            <a:endParaRPr kumimoji="0" lang="en-US" altLang="en-US" sz="2800" kern="1200" cap="none" spc="150" normalizeH="0" baseline="0" noProof="1">
              <a:solidFill>
                <a:srgbClr val="262626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微软雅黑" panose="020B0503020204020204" pitchFamily="34" charset="-122"/>
            </a:endParaRPr>
          </a:p>
          <a:p>
            <a:pPr marL="171450" marR="0" indent="-171450" defTabSz="685800" eaLnBrk="0" hangingPunct="0">
              <a:spcAft>
                <a:spcPts val="1000"/>
              </a:spcAft>
              <a:buClrTx/>
              <a:buSzPct val="150000"/>
              <a:buFontTx/>
              <a:buBlip>
                <a:blip r:embed="rId1"/>
              </a:buBlip>
              <a:defRPr/>
            </a:pPr>
            <a:r>
              <a:rPr kumimoji="0" lang="en-US" altLang="en-US" sz="2800" kern="1200" cap="none" spc="150" normalizeH="0" baseline="0" noProof="1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 查体：kps100</a:t>
            </a:r>
            <a:r>
              <a:rPr kumimoji="0" lang="zh-CN" altLang="en-US" sz="2800" kern="1200" cap="none" spc="150" normalizeH="0" baseline="0" noProof="1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分</a:t>
            </a:r>
            <a:r>
              <a:rPr kumimoji="0" lang="en-US" altLang="en-US" sz="2800" kern="1200" cap="none" spc="150" normalizeH="0" baseline="0" noProof="1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，神清</a:t>
            </a:r>
            <a:r>
              <a:rPr kumimoji="0" lang="zh-CN" altLang="en-US" sz="2800" kern="1200" cap="none" spc="150" normalizeH="0" baseline="0" noProof="1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语明，无失语、失读、失写及命名障碍。双瞳正常，视野正常。四肢活动正常，肌力</a:t>
            </a:r>
            <a:r>
              <a:rPr kumimoji="0" lang="en-US" altLang="zh-CN" sz="2800" kern="1200" cap="none" spc="150" normalizeH="0" baseline="0" noProof="1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5</a:t>
            </a:r>
            <a:r>
              <a:rPr kumimoji="0" lang="zh-CN" altLang="en-US" sz="2800" kern="1200" cap="none" spc="150" normalizeH="0" baseline="0" noProof="1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肌，肌张力正常，无明显感觉异常。</a:t>
            </a:r>
            <a:endParaRPr kumimoji="0" lang="zh-CN" altLang="en-US" sz="2800" kern="1200" cap="none" spc="150" normalizeH="0" baseline="0" noProof="1">
              <a:solidFill>
                <a:srgbClr val="262626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微软雅黑" panose="020B0503020204020204" pitchFamily="34" charset="-122"/>
            </a:endParaRPr>
          </a:p>
          <a:p>
            <a:pPr marL="171450" marR="0" indent="-171450" defTabSz="685800" eaLnBrk="0" hangingPunct="0">
              <a:spcAft>
                <a:spcPts val="1000"/>
              </a:spcAft>
              <a:buClrTx/>
              <a:buSzPct val="150000"/>
              <a:buFontTx/>
              <a:buBlip>
                <a:blip r:embed="rId1"/>
              </a:buBlip>
              <a:defRPr/>
            </a:pPr>
            <a:r>
              <a:rPr kumimoji="0" lang="en-US" altLang="zh-CN" sz="2800" kern="1200" cap="none" spc="150" normalizeH="0" baseline="0" noProof="1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 </a:t>
            </a:r>
            <a:r>
              <a:rPr kumimoji="0" lang="zh-CN" altLang="en-US" sz="2800" kern="1200" cap="none" spc="150" normalizeH="0" baseline="0" noProof="1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辅查：眼科会诊视野正常</a:t>
            </a:r>
            <a:r>
              <a:rPr kumimoji="0" lang="zh-CN" altLang="en-US" sz="3200" kern="1200" cap="none" spc="150" normalizeH="0" baseline="0" noProof="1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。</a:t>
            </a:r>
            <a:endParaRPr kumimoji="0" lang="zh-CN" altLang="en-US" sz="3200" kern="1200" cap="none" spc="150" normalizeH="0" baseline="0" noProof="1">
              <a:solidFill>
                <a:srgbClr val="262626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微软雅黑" panose="020B0503020204020204" pitchFamily="34" charset="-122"/>
            </a:endParaRPr>
          </a:p>
        </p:txBody>
      </p:sp>
      <p:sp>
        <p:nvSpPr>
          <p:cNvPr id="78851" name="文本框 1"/>
          <p:cNvSpPr txBox="1"/>
          <p:nvPr/>
        </p:nvSpPr>
        <p:spPr>
          <a:xfrm>
            <a:off x="3627438" y="1133475"/>
            <a:ext cx="5491162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zh-CN" altLang="zh-CN" sz="3200" b="1" dirty="0">
                <a:latin typeface="宋体" panose="02010600030101010101" pitchFamily="2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多模态下左顶叶胶质瘤切除术</a:t>
            </a:r>
            <a:endParaRPr lang="zh-CN" altLang="en-US" sz="3200" b="1" dirty="0">
              <a:latin typeface="宋体" panose="02010600030101010101" pitchFamily="2" charset="-122"/>
              <a:ea typeface="微软雅黑 Light" panose="020B0502040204020203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7885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1" name="矩形 6"/>
          <p:cNvSpPr>
            <a:spLocks noChangeArrowheads="1"/>
          </p:cNvSpPr>
          <p:nvPr/>
        </p:nvSpPr>
        <p:spPr bwMode="auto">
          <a:xfrm>
            <a:off x="1765300" y="190500"/>
            <a:ext cx="6119813" cy="7064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20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术前</a:t>
            </a:r>
            <a:r>
              <a:rPr kumimoji="0" lang="en-US" altLang="zh-CN" sz="4000" b="0" i="0" u="none" strike="noStrike" kern="1200" cap="none" spc="20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MR</a:t>
            </a:r>
            <a:r>
              <a:rPr kumimoji="0" lang="zh-CN" altLang="en-US" sz="4000" b="0" i="0" u="none" strike="noStrike" kern="1200" cap="none" spc="20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检查</a:t>
            </a:r>
            <a:endParaRPr kumimoji="0" lang="en-US" altLang="zh-CN" sz="4000" b="1" i="0" u="none" strike="noStrike" kern="1200" cap="none" spc="20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微软雅黑" panose="020B0503020204020204" pitchFamily="34" charset="-122"/>
            </a:endParaRPr>
          </a:p>
        </p:txBody>
      </p:sp>
      <p:pic>
        <p:nvPicPr>
          <p:cNvPr id="79874" name="图片 1" descr="截图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7113" y="1177925"/>
            <a:ext cx="2559050" cy="2781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9875" name="图片 3" descr="截图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25" y="1177925"/>
            <a:ext cx="2600325" cy="27797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9876" name="图片 4" descr="截图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5525" y="4057650"/>
            <a:ext cx="2562225" cy="2800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9877" name="图片 5" descr="截图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9838" y="4057650"/>
            <a:ext cx="2613025" cy="28019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9878" name="图片 6" descr="截图0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4950" y="4057650"/>
            <a:ext cx="2603500" cy="28019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9879" name="图片 8" descr="截图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3913" y="1177925"/>
            <a:ext cx="2559050" cy="2781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9880" name="图片 9" descr="截图0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9838" y="1177925"/>
            <a:ext cx="2613025" cy="2781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9881" name="图片 10" descr="截图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913" y="4057650"/>
            <a:ext cx="2560637" cy="280035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7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0897" name="图片 1" descr="截图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2038" y="965200"/>
            <a:ext cx="2422525" cy="28463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0898" name="图片 2" descr="截图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038" y="3811588"/>
            <a:ext cx="2422525" cy="2708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0899" name="图片 3" descr="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563" y="965200"/>
            <a:ext cx="5414962" cy="5554663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4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标题 1"/>
          <p:cNvSpPr>
            <a:spLocks noGrp="1"/>
          </p:cNvSpPr>
          <p:nvPr>
            <p:ph type="title"/>
          </p:nvPr>
        </p:nvSpPr>
        <p:spPr>
          <a:xfrm>
            <a:off x="1714500" y="-317500"/>
            <a:ext cx="8142288" cy="590550"/>
          </a:xfrm>
        </p:spPr>
        <p:txBody>
          <a:bodyPr vert="horz" wrap="square" lIns="121920" tIns="60960" rIns="121920" bIns="60960" numCol="1" rtlCol="0" anchor="ctr" anchorCtr="0" compatLnSpc="1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br>
              <a:rPr kumimoji="0" lang="en-US" altLang="zh-CN" sz="4000" b="1" i="0" u="none" strike="noStrike" kern="1200" cap="none" spc="20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</a:br>
            <a:br>
              <a:rPr kumimoji="0" lang="en-US" altLang="zh-CN" sz="4000" b="1" i="0" u="none" strike="noStrike" kern="1200" cap="none" spc="20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</a:br>
            <a:br>
              <a:rPr kumimoji="0" lang="en-US" altLang="zh-CN" sz="4000" b="1" i="0" u="none" strike="noStrike" kern="1200" cap="none" spc="20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</a:br>
            <a:br>
              <a:rPr kumimoji="0" lang="en-US" altLang="zh-CN" sz="4000" b="1" i="0" u="none" strike="noStrike" kern="1200" cap="none" spc="20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</a:br>
            <a:br>
              <a:rPr kumimoji="0" lang="en-US" altLang="zh-CN" sz="4000" b="1" i="0" u="none" strike="noStrike" kern="1200" cap="none" spc="200" normalizeH="0" baseline="0" noProof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</a:br>
            <a:endParaRPr kumimoji="0" lang="en-US" altLang="zh-CN" sz="4000" b="1" i="0" u="none" strike="noStrike" kern="1200" cap="none" spc="20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pic>
        <p:nvPicPr>
          <p:cNvPr id="81922" name="图片 3" descr="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1375" y="1514475"/>
            <a:ext cx="2889250" cy="3933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23" name="图片 4" descr="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725" y="1514475"/>
            <a:ext cx="3173413" cy="3933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24" name="图片 5" descr="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0" y="1514475"/>
            <a:ext cx="3046413" cy="393382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4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2945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475" y="173038"/>
            <a:ext cx="1300163" cy="1114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2946" name="文本框 9"/>
          <p:cNvSpPr txBox="1"/>
          <p:nvPr/>
        </p:nvSpPr>
        <p:spPr>
          <a:xfrm>
            <a:off x="1544638" y="504825"/>
            <a:ext cx="2236787" cy="7080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defTabSz="685800"/>
            <a:r>
              <a:rPr lang="en-US" altLang="zh-CN" sz="4000" b="1" dirty="0">
                <a:solidFill>
                  <a:srgbClr val="262626"/>
                </a:solidFill>
                <a:latin typeface="Roboto Light"/>
                <a:ea typeface="微软雅黑" panose="020B0503020204020204" pitchFamily="34" charset="-122"/>
                <a:sym typeface="微软雅黑" panose="020B0503020204020204" pitchFamily="34" charset="-122"/>
              </a:rPr>
              <a:t>导航计划</a:t>
            </a:r>
            <a:endParaRPr lang="en-US" altLang="zh-CN" sz="4000" b="1" dirty="0">
              <a:solidFill>
                <a:srgbClr val="262626"/>
              </a:solidFill>
              <a:latin typeface="Roboto Light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5" name="导航计划-病例4">
            <a:hlinkClick r:id="" action="ppaction://media"/>
          </p:cNvPr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783013" y="1314450"/>
            <a:ext cx="4491037" cy="5005388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69" name="文本框 1"/>
          <p:cNvSpPr txBox="1"/>
          <p:nvPr/>
        </p:nvSpPr>
        <p:spPr>
          <a:xfrm>
            <a:off x="5216525" y="3182938"/>
            <a:ext cx="269875" cy="1063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altLang="zh-CN" sz="100" b="1" dirty="0">
                <a:latin typeface="Arial" panose="020B0604020202020204" pitchFamily="34" charset="0"/>
                <a:ea typeface="宋体" panose="02010600030101010101" pitchFamily="2" charset="-122"/>
              </a:rPr>
              <a:t>operation plan</a:t>
            </a:r>
            <a:endParaRPr lang="zh-CN" altLang="en-US" sz="1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3970" name="图片 1" descr="SnapShotPNGOID_3_20210620T212917_0913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1100" y="1003300"/>
            <a:ext cx="3700463" cy="292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3971" name="图片 2" descr="SnapShotPNGOID_4_20210620T212921_8739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1563" y="1003300"/>
            <a:ext cx="3965575" cy="2924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3972" name="图片 3" descr="SnapShotPNGOID_6_20210620T212930_7221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1100" y="3770313"/>
            <a:ext cx="3700463" cy="29702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3973" name="图片 4" descr="SnapShotPNGOID_8_20210620T212937_8950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1563" y="3770313"/>
            <a:ext cx="3965575" cy="2968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3974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6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标题 1"/>
          <p:cNvSpPr>
            <a:spLocks noGrp="1"/>
          </p:cNvSpPr>
          <p:nvPr/>
        </p:nvSpPr>
        <p:spPr>
          <a:xfrm>
            <a:off x="2068513" y="554038"/>
            <a:ext cx="5819775" cy="492125"/>
          </a:xfrm>
          <a:prstGeom prst="rect">
            <a:avLst/>
          </a:prstGeom>
          <a:noFill/>
          <a:ln w="9525">
            <a:noFill/>
          </a:ln>
        </p:spPr>
        <p:txBody>
          <a:bodyPr lIns="121920" tIns="60960" rIns="121920" bIns="60960" anchor="ctr"/>
          <a:lstStyle>
            <a:lvl1pPr mar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500" u="none" strike="noStrike" kern="1200" cap="none" spc="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342900" indent="0" algn="ctr" defTabSz="685800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206500" algn="l"/>
              </a:tabLst>
              <a:defRPr sz="1500" kern="1200" spc="15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685800" indent="0" algn="ctr" defTabSz="685800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206500" algn="l"/>
              </a:tabLst>
              <a:defRPr sz="1350" kern="1200" spc="15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028700" indent="0" algn="ctr" defTabSz="685800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206500" algn="l"/>
              </a:tabLst>
              <a:defRPr sz="1200" kern="1200" spc="15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371600" indent="0" algn="ctr" defTabSz="685800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206500" algn="l"/>
              </a:tabLst>
              <a:defRPr sz="1200" kern="1200" spc="15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1200" cap="none" spc="20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  </a:t>
            </a:r>
            <a:endParaRPr kumimoji="0" lang="en-US" altLang="zh-CN" sz="4800" b="1" i="0" u="none" strike="noStrike" kern="1200" cap="none" spc="20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pic>
        <p:nvPicPr>
          <p:cNvPr id="84994" name="图片 3" descr="微信图片_202106242110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150" y="1352550"/>
            <a:ext cx="4111625" cy="4743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4995" name="图片 -21474826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038" y="1323975"/>
            <a:ext cx="5495925" cy="4772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4996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4"/>
    </p:custData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标题 1"/>
          <p:cNvSpPr>
            <a:spLocks noGrp="1"/>
          </p:cNvSpPr>
          <p:nvPr/>
        </p:nvSpPr>
        <p:spPr>
          <a:xfrm>
            <a:off x="2068513" y="554038"/>
            <a:ext cx="5819775" cy="492125"/>
          </a:xfrm>
          <a:prstGeom prst="rect">
            <a:avLst/>
          </a:prstGeom>
          <a:noFill/>
          <a:ln w="9525">
            <a:noFill/>
          </a:ln>
        </p:spPr>
        <p:txBody>
          <a:bodyPr lIns="121920" tIns="60960" rIns="121920" bIns="60960" anchor="ctr"/>
          <a:lstStyle>
            <a:lvl1pPr mar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500" u="none" strike="noStrike" kern="1200" cap="none" spc="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342900" indent="0" algn="ctr" defTabSz="685800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206500" algn="l"/>
              </a:tabLst>
              <a:defRPr sz="1500" kern="1200" spc="15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685800" indent="0" algn="ctr" defTabSz="685800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206500" algn="l"/>
              </a:tabLst>
              <a:defRPr sz="1350" kern="1200" spc="15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028700" indent="0" algn="ctr" defTabSz="685800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206500" algn="l"/>
              </a:tabLst>
              <a:defRPr sz="1200" kern="1200" spc="15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371600" indent="0" algn="ctr" defTabSz="685800" rtl="0" eaLnBrk="0" fontAlgn="base" hangingPunct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206500" algn="l"/>
              </a:tabLst>
              <a:defRPr sz="1200" kern="1200" spc="150">
                <a:solidFill>
                  <a:srgbClr val="26262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1200" cap="none" spc="200" normalizeH="0" baseline="0" noProof="1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  </a:t>
            </a:r>
            <a:endParaRPr kumimoji="0" lang="en-US" altLang="zh-CN" sz="4800" b="1" i="0" u="none" strike="noStrike" kern="1200" cap="none" spc="20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pic>
        <p:nvPicPr>
          <p:cNvPr id="86018" name="图片 2" descr="微信图片_202106231923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2225" y="1498600"/>
            <a:ext cx="4926013" cy="4257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6019" name="图片 4" descr="微信图片_202106231923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700" y="1498600"/>
            <a:ext cx="5078413" cy="4348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6020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4"/>
    </p:custData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1" name="矩形 10" descr="7b0a202020202262756c6c6574223a20227b5c2263617465676f727949645c223a31303031322c5c2274656d706c61746549645c223a32303233313238357d220a7d0a"/>
          <p:cNvSpPr/>
          <p:nvPr/>
        </p:nvSpPr>
        <p:spPr>
          <a:xfrm>
            <a:off x="1512888" y="1552575"/>
            <a:ext cx="10136187" cy="2508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171450" indent="-171450" defTabSz="685800" eaLnBrk="0" hangingPunct="0">
              <a:lnSpc>
                <a:spcPct val="130000"/>
              </a:lnSpc>
              <a:spcAft>
                <a:spcPts val="1000"/>
              </a:spcAft>
              <a:buSzPct val="150000"/>
              <a:buFont typeface="Wingdings" panose="05000000000000000000" pitchFamily="2" charset="2"/>
              <a:buBlip>
                <a:blip r:embed="rId1"/>
              </a:buBlip>
            </a:pPr>
            <a:r>
              <a:rPr lang="en-US" altLang="zh-CN" sz="3600" b="1" dirty="0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sym typeface="微软雅黑" panose="020B0503020204020204" pitchFamily="34" charset="-122"/>
              </a:rPr>
              <a:t> 肿瘤全切除;   </a:t>
            </a:r>
            <a:endParaRPr lang="en-US" altLang="zh-CN" sz="3600" b="1" dirty="0">
              <a:solidFill>
                <a:srgbClr val="262626"/>
              </a:solidFill>
              <a:latin typeface="黑体" panose="02010609060101010101" charset="-122"/>
              <a:ea typeface="黑体" panose="02010609060101010101" charset="-122"/>
              <a:sym typeface="微软雅黑" panose="020B0503020204020204" pitchFamily="34" charset="-122"/>
            </a:endParaRPr>
          </a:p>
          <a:p>
            <a:pPr marL="171450" indent="-171450" defTabSz="685800" eaLnBrk="0" hangingPunct="0">
              <a:lnSpc>
                <a:spcPct val="130000"/>
              </a:lnSpc>
              <a:spcAft>
                <a:spcPts val="1000"/>
              </a:spcAft>
              <a:buSzPct val="150000"/>
              <a:buFont typeface="Wingdings" panose="05000000000000000000" pitchFamily="2" charset="2"/>
              <a:buBlip>
                <a:blip r:embed="rId1"/>
              </a:buBlip>
            </a:pPr>
            <a:r>
              <a:rPr lang="en-US" altLang="zh-CN" sz="3600" b="1" dirty="0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sym typeface="微软雅黑" panose="020B0503020204020204" pitchFamily="34" charset="-122"/>
              </a:rPr>
              <a:t> 周围结构保护完好;</a:t>
            </a:r>
            <a:endParaRPr lang="en-US" altLang="zh-CN" sz="3600" b="1" dirty="0">
              <a:solidFill>
                <a:srgbClr val="262626"/>
              </a:solidFill>
              <a:latin typeface="黑体" panose="02010609060101010101" charset="-122"/>
              <a:ea typeface="黑体" panose="02010609060101010101" charset="-122"/>
              <a:sym typeface="微软雅黑" panose="020B0503020204020204" pitchFamily="34" charset="-122"/>
            </a:endParaRPr>
          </a:p>
          <a:p>
            <a:pPr marL="171450" indent="-171450" defTabSz="685800" eaLnBrk="0" hangingPunct="0">
              <a:lnSpc>
                <a:spcPct val="130000"/>
              </a:lnSpc>
              <a:spcAft>
                <a:spcPts val="1000"/>
              </a:spcAft>
              <a:buSzPct val="150000"/>
              <a:buFont typeface="Wingdings" panose="05000000000000000000" pitchFamily="2" charset="2"/>
              <a:buBlip>
                <a:blip r:embed="rId1"/>
              </a:buBlip>
            </a:pPr>
            <a:r>
              <a:rPr lang="en-US" altLang="zh-CN" sz="3600" b="1" dirty="0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sym typeface="微软雅黑" panose="020B0503020204020204" pitchFamily="34" charset="-122"/>
              </a:rPr>
              <a:t> 复苏后病人清醒，</a:t>
            </a:r>
            <a:r>
              <a:rPr lang="zh-CN" altLang="en-US" sz="3600" b="1" dirty="0">
                <a:solidFill>
                  <a:srgbClr val="262626"/>
                </a:solidFill>
                <a:latin typeface="黑体" panose="02010609060101010101" charset="-122"/>
                <a:ea typeface="黑体" panose="02010609060101010101" charset="-122"/>
                <a:sym typeface="微软雅黑" panose="020B0503020204020204" pitchFamily="34" charset="-122"/>
              </a:rPr>
              <a:t>四肢活动自如，无失语。</a:t>
            </a:r>
            <a:endParaRPr lang="zh-CN" altLang="en-US" sz="3600" b="1" dirty="0">
              <a:solidFill>
                <a:srgbClr val="262626"/>
              </a:solidFill>
              <a:latin typeface="黑体" panose="02010609060101010101" charset="-122"/>
              <a:ea typeface="黑体" panose="02010609060101010101" charset="-122"/>
              <a:sym typeface="微软雅黑" panose="020B0503020204020204" pitchFamily="34" charset="-122"/>
            </a:endParaRPr>
          </a:p>
        </p:txBody>
      </p:sp>
      <p:pic>
        <p:nvPicPr>
          <p:cNvPr id="8704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690688" y="98425"/>
            <a:ext cx="5659438" cy="6445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685800" eaLnBrk="0" fontAlgn="auto" hangingPunct="0">
              <a:buClrTx/>
              <a:buSzTx/>
              <a:buFontTx/>
              <a:buNone/>
              <a:defRPr/>
            </a:pPr>
            <a:r>
              <a:rPr kumimoji="0" lang="en-US" altLang="zh-CN" sz="3600" b="1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 </a:t>
            </a:r>
            <a:endParaRPr kumimoji="0" lang="en-US" altLang="zh-CN" sz="3600" b="1" kern="1200" cap="none" spc="200" normalizeH="0" baseline="0" noProof="1">
              <a:solidFill>
                <a:schemeClr val="tx1">
                  <a:lumMod val="85000"/>
                  <a:lumOff val="15000"/>
                </a:schemeClr>
              </a:solidFill>
              <a:latin typeface="Roboto Light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pic>
        <p:nvPicPr>
          <p:cNvPr id="88066" name="图片 3" descr="截图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2238" y="849313"/>
            <a:ext cx="2451100" cy="2876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8067" name="图片 4" descr="截图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238" y="3725863"/>
            <a:ext cx="2451100" cy="2809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8068" name="图片 5" descr="截图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338" y="849313"/>
            <a:ext cx="2236787" cy="2733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8069" name="图片 6" descr="截图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4925" y="3582988"/>
            <a:ext cx="2235200" cy="2952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8070" name="图片 7" descr="截图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0125" y="849313"/>
            <a:ext cx="2235200" cy="2771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8071" name="图片 8" descr="截图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125" y="3582988"/>
            <a:ext cx="2235200" cy="29511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807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8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9089" name="图片 3" descr="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050" y="1698625"/>
            <a:ext cx="3502025" cy="403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9090" name="图片 5" descr="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775" y="1698625"/>
            <a:ext cx="3511550" cy="403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9091" name="图片 6" descr="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025" y="1698625"/>
            <a:ext cx="3295650" cy="40370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909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5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3" name="标题 1"/>
          <p:cNvSpPr>
            <a:spLocks noGrp="1"/>
          </p:cNvSpPr>
          <p:nvPr>
            <p:ph type="title"/>
          </p:nvPr>
        </p:nvSpPr>
        <p:spPr>
          <a:xfrm>
            <a:off x="1917700" y="787400"/>
            <a:ext cx="8142288" cy="442913"/>
          </a:xfrm>
          <a:ln/>
        </p:spPr>
        <p:txBody>
          <a:bodyPr vert="horz" wrap="square" lIns="121920" tIns="60960" rIns="121920" bIns="60960" anchor="ctr" anchorCtr="0"/>
          <a:p>
            <a:pPr defTabSz="685800" eaLnBrk="1" hangingPunct="1">
              <a:lnSpc>
                <a:spcPct val="100000"/>
              </a:lnSpc>
            </a:pPr>
            <a:r>
              <a:rPr lang="" altLang="en-US" sz="4000" dirty="0">
                <a:solidFill>
                  <a:srgbClr val="262626"/>
                </a:solidFill>
                <a:ea typeface="微软雅黑" panose="020B0503020204020204" pitchFamily="34" charset="-122"/>
                <a:sym typeface="微软雅黑" panose="020B0503020204020204" pitchFamily="34" charset="-122"/>
              </a:rPr>
              <a:t>术后恢复情况</a:t>
            </a:r>
            <a:endParaRPr lang="" altLang="en-US" sz="4000" dirty="0">
              <a:solidFill>
                <a:srgbClr val="262626"/>
              </a:solidFill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3250" name="内容占位符 2" descr="7b0a202020202262756c6c6574223a20227b5c2263617465676f727949645c223a31303031322c5c2274656d706c61746549645c223a32303233313239337d220a7d0a"/>
          <p:cNvSpPr>
            <a:spLocks noGrp="1"/>
          </p:cNvSpPr>
          <p:nvPr>
            <p:ph sz="half" idx="4294967295"/>
          </p:nvPr>
        </p:nvSpPr>
        <p:spPr>
          <a:xfrm>
            <a:off x="1192213" y="1784350"/>
            <a:ext cx="10580688" cy="6251575"/>
          </a:xfrm>
        </p:spPr>
        <p:txBody>
          <a:bodyPr vert="horz" wrap="square" lIns="121920" tIns="60960" rIns="121920" bIns="60960" numCol="1" rtlCol="0" anchor="t" anchorCtr="0" compatLnSpc="1">
            <a:normAutofit/>
          </a:bodyPr>
          <a:lstStyle/>
          <a:p>
            <a:pPr marL="171450" marR="0" lvl="0" indent="-171450" algn="l" defTabSz="6858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ClrTx/>
              <a:buSzPct val="150000"/>
              <a:buFont typeface="Wingdings" panose="05000000000000000000" pitchFamily="2" charset="2"/>
              <a:buBlip>
                <a:blip r:embed="rId1"/>
              </a:buBlip>
              <a:defRPr/>
            </a:pPr>
            <a:r>
              <a:rPr kumimoji="0" lang="en-US" altLang="zh-CN" sz="32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 kps</a:t>
            </a:r>
            <a:r>
              <a:rPr kumimoji="0" lang="en-US" altLang="en-US" sz="32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评分：</a:t>
            </a:r>
            <a:r>
              <a:rPr kumimoji="0" lang="en-US" altLang="zh-CN" sz="3200" b="0" i="0" u="none" strike="noStrike" kern="1200" cap="none" spc="150" normalizeH="0" baseline="0" noProof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100</a:t>
            </a:r>
            <a:r>
              <a:rPr kumimoji="0" lang="en-US" altLang="en-US" sz="3200" b="0" i="0" u="none" strike="noStrike" kern="1200" cap="none" spc="150" normalizeH="0" baseline="0" noProof="1" smtClean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 </a:t>
            </a:r>
            <a:endParaRPr kumimoji="0" lang="en-US" altLang="en-US" sz="3200" b="0" i="0" u="none" strike="noStrike" kern="1200" cap="none" spc="150" normalizeH="0" baseline="0" noProof="1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微软雅黑" panose="020B0503020204020204" pitchFamily="34" charset="-122"/>
            </a:endParaRPr>
          </a:p>
          <a:p>
            <a:pPr marL="171450" marR="0" lvl="0" indent="-171450" algn="l" defTabSz="6858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ClrTx/>
              <a:buSzPct val="150000"/>
              <a:buFont typeface="Wingdings" panose="05000000000000000000" pitchFamily="2" charset="2"/>
              <a:buBlip>
                <a:blip r:embed="rId1"/>
              </a:buBlip>
              <a:defRPr/>
            </a:pPr>
            <a:r>
              <a:rPr kumimoji="0" lang="en-US" altLang="en-US" sz="32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 语言：</a:t>
            </a:r>
            <a:r>
              <a:rPr kumimoji="0" lang="zh-CN" altLang="en-US" sz="32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无失语、失读、失写及命名障碍</a:t>
            </a:r>
            <a:endParaRPr kumimoji="0" lang="zh-CN" altLang="en-US" sz="3200" b="0" i="0" u="none" strike="noStrike" kern="1200" cap="none" spc="150" normalizeH="0" baseline="0" noProof="1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微软雅黑" panose="020B0503020204020204" pitchFamily="34" charset="-122"/>
            </a:endParaRPr>
          </a:p>
          <a:p>
            <a:pPr marL="171450" marR="0" lvl="0" indent="-171450" algn="l" defTabSz="6858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ClrTx/>
              <a:buSzPct val="150000"/>
              <a:buFont typeface="Wingdings" panose="05000000000000000000" pitchFamily="2" charset="2"/>
              <a:buBlip>
                <a:blip r:embed="rId1"/>
              </a:buBlip>
              <a:defRPr/>
            </a:pPr>
            <a:r>
              <a:rPr kumimoji="0" lang="zh-CN" altLang="en-US" sz="32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 </a:t>
            </a:r>
            <a:r>
              <a:rPr kumimoji="0" lang="en-US" altLang="en-US" sz="32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肢体：</a:t>
            </a:r>
            <a:r>
              <a:rPr kumimoji="0" lang="zh-CN" altLang="en-US" sz="32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四肢活动自如，肢体肌力</a:t>
            </a:r>
            <a:r>
              <a:rPr kumimoji="0" lang="en-US" altLang="zh-CN" sz="32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5</a:t>
            </a:r>
            <a:r>
              <a:rPr kumimoji="0" lang="zh-CN" altLang="en-US" sz="32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肌，无感觉障碍</a:t>
            </a:r>
            <a:r>
              <a:rPr kumimoji="0" lang="en-US" altLang="en-US" sz="32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。</a:t>
            </a:r>
            <a:endParaRPr kumimoji="0" lang="en-US" altLang="en-US" sz="3200" b="0" i="0" u="none" strike="noStrike" kern="1200" cap="none" spc="150" normalizeH="0" baseline="0" noProof="1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微软雅黑" panose="020B0503020204020204" pitchFamily="34" charset="-122"/>
            </a:endParaRPr>
          </a:p>
          <a:p>
            <a:pPr marL="171450" marR="0" lvl="0" indent="-171450" algn="l" defTabSz="6858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endParaRPr kumimoji="0" lang="en-US" altLang="en-US" sz="3200" b="0" i="0" u="none" strike="noStrike" kern="1200" cap="none" spc="150" normalizeH="0" baseline="0" noProof="1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7" name="副标题 2" descr="7b0a202020202262756c6c6574223a20227b5c2263617465676f727949645c223a31303031322c5c2274656d706c61746549645c223a32303233313239357d220a7d0a"/>
          <p:cNvSpPr>
            <a:spLocks noGrp="1"/>
          </p:cNvSpPr>
          <p:nvPr>
            <p:ph type="subTitle" idx="4294967295"/>
          </p:nvPr>
        </p:nvSpPr>
        <p:spPr>
          <a:xfrm>
            <a:off x="1422400" y="1838325"/>
            <a:ext cx="9929813" cy="2001838"/>
          </a:xfrm>
          <a:ln/>
        </p:spPr>
        <p:txBody>
          <a:bodyPr vert="horz" wrap="square" lIns="91440" tIns="45720" rIns="91440" bIns="45720" anchor="t" anchorCtr="0"/>
          <a:lstStyle>
            <a:lvl1pPr marL="0" lvl="0" indent="0" algn="ctr">
              <a:buClrTx/>
              <a:buSzTx/>
              <a:buFont typeface="Arial" panose="020B0604020202020204" pitchFamily="34" charset="0"/>
              <a:defRPr/>
            </a:lvl1pPr>
            <a:lvl2pPr marL="457200" lvl="1" indent="0" algn="ctr">
              <a:buClrTx/>
              <a:buSzTx/>
              <a:buFont typeface="Arial" panose="020B0604020202020204" pitchFamily="34" charset="0"/>
              <a:defRPr/>
            </a:lvl2pPr>
            <a:lvl3pPr marL="914400" lvl="2" indent="0" algn="ctr">
              <a:buClrTx/>
              <a:buSzTx/>
              <a:buFont typeface="Arial" panose="020B0604020202020204" pitchFamily="34" charset="0"/>
              <a:defRPr/>
            </a:lvl3pPr>
            <a:lvl4pPr marL="1371600" lvl="3" indent="0" algn="ctr">
              <a:buClrTx/>
              <a:buSzTx/>
              <a:buFont typeface="Arial" panose="020B0604020202020204" pitchFamily="34" charset="0"/>
              <a:defRPr/>
            </a:lvl4pPr>
            <a:lvl5pPr marL="1828800" lvl="4" indent="0" algn="ctr">
              <a:buClrTx/>
              <a:buSzTx/>
              <a:buFont typeface="Arial" panose="020B0604020202020204" pitchFamily="34" charset="0"/>
              <a:defRPr/>
            </a:lvl5pPr>
          </a:lstStyle>
          <a:p>
            <a:pPr marL="228600" lvl="0" indent="-228600" algn="l">
              <a:buSzPct val="150000"/>
              <a:buBlip>
                <a:blip r:embed="rId1"/>
              </a:buBlip>
            </a:pPr>
            <a:r>
              <a:rPr lang="zh-CN" altLang="en-US" sz="3200" dirty="0"/>
              <a:t>  患者，男，</a:t>
            </a:r>
            <a:r>
              <a:rPr lang="en-US" altLang="zh-CN" sz="3200" dirty="0"/>
              <a:t>59</a:t>
            </a:r>
            <a:r>
              <a:rPr lang="zh-CN" altLang="en-US" sz="3200" dirty="0"/>
              <a:t>岁</a:t>
            </a:r>
            <a:endParaRPr lang="en-US" altLang="zh-CN" sz="3200" dirty="0"/>
          </a:p>
          <a:p>
            <a:pPr marL="228600" lvl="0" indent="-228600" algn="l">
              <a:buSzPct val="150000"/>
              <a:buBlip>
                <a:blip r:embed="rId1"/>
              </a:buBlip>
            </a:pPr>
            <a:r>
              <a:rPr lang="en-US" altLang="zh-CN" sz="3200" dirty="0"/>
              <a:t>“</a:t>
            </a:r>
            <a:r>
              <a:rPr lang="zh-CN" altLang="en-US" sz="3200" dirty="0"/>
              <a:t>间断头痛头晕</a:t>
            </a:r>
            <a:r>
              <a:rPr lang="en-US" altLang="zh-CN" sz="3200" dirty="0"/>
              <a:t>1</a:t>
            </a:r>
            <a:r>
              <a:rPr lang="zh-CN" altLang="en-US" sz="3200" dirty="0"/>
              <a:t>月余，加重</a:t>
            </a:r>
            <a:r>
              <a:rPr lang="en-US" altLang="zh-CN" sz="3200" dirty="0"/>
              <a:t>6</a:t>
            </a:r>
            <a:r>
              <a:rPr lang="zh-CN" altLang="en-US" sz="3200" dirty="0"/>
              <a:t>天。</a:t>
            </a:r>
            <a:r>
              <a:rPr lang="en-US" altLang="zh-CN" sz="3200" dirty="0"/>
              <a:t>”</a:t>
            </a:r>
            <a:r>
              <a:rPr lang="zh-CN" altLang="en-US" sz="3200" dirty="0"/>
              <a:t>于</a:t>
            </a:r>
            <a:r>
              <a:rPr lang="en-US" altLang="zh-CN" sz="3200" dirty="0"/>
              <a:t>2021-9-1</a:t>
            </a:r>
            <a:r>
              <a:rPr lang="zh-CN" altLang="en-US" sz="3200" dirty="0"/>
              <a:t>入院。既往</a:t>
            </a:r>
            <a:r>
              <a:rPr lang="en-US" altLang="zh-CN" sz="3200" dirty="0"/>
              <a:t>8</a:t>
            </a:r>
            <a:r>
              <a:rPr lang="zh-CN" altLang="en-US" sz="3200" dirty="0"/>
              <a:t>月余前车祸伤头部</a:t>
            </a:r>
            <a:r>
              <a:rPr lang="en-US" altLang="zh-CN" sz="3200" dirty="0"/>
              <a:t>MRI</a:t>
            </a:r>
            <a:r>
              <a:rPr lang="zh-CN" altLang="en-US" sz="3200" dirty="0"/>
              <a:t>未见异常。查体：</a:t>
            </a:r>
            <a:r>
              <a:rPr lang="en-US" altLang="zh-CN" sz="3200" dirty="0"/>
              <a:t>KPS90</a:t>
            </a:r>
            <a:r>
              <a:rPr lang="zh-CN" altLang="en-US" sz="3200" dirty="0"/>
              <a:t>分，神清语明，步态不稳，左下肢拖行，双瞳正常，四肢可自主活动，左下肢肌力</a:t>
            </a:r>
            <a:r>
              <a:rPr lang="en-US" altLang="zh-CN" sz="3200" dirty="0"/>
              <a:t>4</a:t>
            </a:r>
            <a:r>
              <a:rPr lang="zh-CN" altLang="en-US" sz="3200" dirty="0"/>
              <a:t>级，余肢</a:t>
            </a:r>
            <a:r>
              <a:rPr lang="en-US" altLang="zh-CN" sz="3200" dirty="0"/>
              <a:t>5</a:t>
            </a:r>
            <a:r>
              <a:rPr lang="zh-CN" altLang="en-US" sz="3200" dirty="0"/>
              <a:t>级。</a:t>
            </a:r>
            <a:endParaRPr lang="zh-CN" altLang="en-US" sz="3200" dirty="0"/>
          </a:p>
          <a:p>
            <a:pPr marL="228600" lvl="0" indent="-228600" algn="l">
              <a:buSzPct val="150000"/>
              <a:buBlip>
                <a:blip r:embed="rId1"/>
              </a:buBlip>
            </a:pPr>
            <a:r>
              <a:rPr lang="en-US" altLang="zh-CN" sz="3200" dirty="0"/>
              <a:t>  </a:t>
            </a:r>
            <a:r>
              <a:rPr lang="zh-CN" altLang="en-US" sz="3200" dirty="0"/>
              <a:t>辅查：</a:t>
            </a:r>
            <a:r>
              <a:rPr lang="en-US" altLang="zh-CN" sz="3200" dirty="0"/>
              <a:t>31/8</a:t>
            </a:r>
            <a:r>
              <a:rPr lang="zh-CN" altLang="en-US" sz="3200" dirty="0"/>
              <a:t>湖北省肿瘤医院</a:t>
            </a:r>
            <a:r>
              <a:rPr lang="en-US" altLang="zh-CN" sz="3200" dirty="0"/>
              <a:t>MRI</a:t>
            </a:r>
            <a:r>
              <a:rPr lang="zh-CN" altLang="en-US" sz="3200" dirty="0"/>
              <a:t>提示：右颞叶肿瘤，伴瘤周水肿。</a:t>
            </a:r>
            <a:r>
              <a:rPr lang="en-US" altLang="zh-CN" sz="3200" dirty="0"/>
              <a:t>3/9</a:t>
            </a:r>
            <a:r>
              <a:rPr lang="zh-CN" altLang="en-US" sz="3200" dirty="0"/>
              <a:t>在我院行手术治疗。</a:t>
            </a:r>
            <a:endParaRPr lang="zh-CN" altLang="en-US" sz="3200" dirty="0"/>
          </a:p>
        </p:txBody>
      </p:sp>
      <p:sp>
        <p:nvSpPr>
          <p:cNvPr id="4" name="文本框 3"/>
          <p:cNvSpPr txBox="1"/>
          <p:nvPr/>
        </p:nvSpPr>
        <p:spPr>
          <a:xfrm>
            <a:off x="1809750" y="487363"/>
            <a:ext cx="1528763" cy="7064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685800" fontAlgn="auto">
              <a:buClrTx/>
              <a:buSzTx/>
              <a:buFontTx/>
              <a:buNone/>
              <a:defRPr/>
            </a:pPr>
            <a:r>
              <a:rPr kumimoji="0" lang="zh-CN" altLang="en-US" sz="4000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病例</a:t>
            </a:r>
            <a:r>
              <a:rPr kumimoji="0" lang="en-US" altLang="zh-CN" sz="4000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5</a:t>
            </a:r>
            <a:endParaRPr kumimoji="0" lang="en-US" altLang="zh-CN" sz="4000" b="1" kern="1200" cap="none" spc="200" normalizeH="0" baseline="0" noProof="1">
              <a:solidFill>
                <a:schemeClr val="tx1">
                  <a:lumMod val="85000"/>
                  <a:lumOff val="1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微软雅黑" panose="020B0503020204020204" pitchFamily="34" charset="-122"/>
            </a:endParaRPr>
          </a:p>
        </p:txBody>
      </p:sp>
      <p:pic>
        <p:nvPicPr>
          <p:cNvPr id="91139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2161" name="图片 2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9713" y="3659188"/>
            <a:ext cx="2916237" cy="3089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162" name="图片 4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713" y="542925"/>
            <a:ext cx="2916237" cy="3216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163" name="图片 5" descr="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950" y="542925"/>
            <a:ext cx="3128963" cy="3216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164" name="图片 6" descr="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5950" y="3659188"/>
            <a:ext cx="3128963" cy="3089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3185" name="图片 2" descr="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730250"/>
            <a:ext cx="6607175" cy="55959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3186" name="图片 4" descr="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975" y="0"/>
            <a:ext cx="3071813" cy="3384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3187" name="图片 5" descr="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975" y="3384550"/>
            <a:ext cx="3071813" cy="3473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4209" name="图片 1" descr="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7450" y="1027113"/>
            <a:ext cx="7202488" cy="54086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4210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679575" y="217488"/>
            <a:ext cx="6037263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685800" eaLnBrk="0" fontAlgn="auto" hangingPunct="0">
              <a:buClrTx/>
              <a:buSzTx/>
              <a:buFontTx/>
              <a:buNone/>
              <a:defRPr/>
            </a:pPr>
            <a:r>
              <a:rPr kumimoji="0" lang="zh-CN" altLang="en-US" sz="3600" b="1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术</a:t>
            </a:r>
            <a:r>
              <a:rPr kumimoji="0" lang="zh-CN" altLang="en-US" sz="3600" b="1" kern="1200" cap="none" spc="200" normalizeH="0" baseline="0" noProof="1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后</a:t>
            </a:r>
            <a:r>
              <a:rPr kumimoji="0" lang="en-US" altLang="zh-CN" sz="3600" b="1" kern="1200" cap="none" spc="200" normalizeH="0" baseline="0" noProof="1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微软雅黑" panose="020B0503020204020204" pitchFamily="34" charset="-122"/>
              </a:rPr>
              <a:t>MRI</a:t>
            </a:r>
            <a:endParaRPr kumimoji="0" lang="zh-CN" altLang="en-US" sz="2400" b="1" kern="1200" cap="none" spc="200" normalizeH="0" baseline="0" noProof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pic>
        <p:nvPicPr>
          <p:cNvPr id="95234" name="图片 3" descr="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250" y="1851025"/>
            <a:ext cx="3048000" cy="36734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5235" name="图片 5" descr="13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938" y="1851025"/>
            <a:ext cx="3194050" cy="36734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5236" name="图片 4" descr="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9413" y="1778000"/>
            <a:ext cx="3527425" cy="4168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5237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13" y="238125"/>
            <a:ext cx="904875" cy="7889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5238" name="图片 6" descr="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875" y="1778000"/>
            <a:ext cx="3460750" cy="41703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5239" name="图片 7" descr="13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888" y="1778000"/>
            <a:ext cx="3624262" cy="416877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5"/>
    </p:custData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内容占位符 2" descr="7b0a202020202262756c6c6574223a20227b5c2263617465676f727949645c223a31303031322c5c2274656d706c61746549645c223a32303233313237327d220a7d0a"/>
          <p:cNvSpPr>
            <a:spLocks noGrp="1"/>
          </p:cNvSpPr>
          <p:nvPr>
            <p:ph sz="half" idx="4294967295"/>
          </p:nvPr>
        </p:nvSpPr>
        <p:spPr>
          <a:xfrm>
            <a:off x="931863" y="1825625"/>
            <a:ext cx="10998200" cy="6249988"/>
          </a:xfrm>
        </p:spPr>
        <p:txBody>
          <a:bodyPr vert="horz" wrap="square" lIns="121920" tIns="60960" rIns="121920" bIns="60960" numCol="1" rtlCol="0" anchor="t" anchorCtr="0" compatLnSpc="1">
            <a:normAutofit/>
          </a:bodyPr>
          <a:lstStyle/>
          <a:p>
            <a:pPr marL="171450" marR="0" lvl="0" indent="-171450" algn="l" defTabSz="6858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ClrTx/>
              <a:buSzPct val="150000"/>
              <a:buFont typeface="Wingdings" panose="05000000000000000000" pitchFamily="2" charset="2"/>
              <a:buBlip>
                <a:blip r:embed="rId1"/>
              </a:buBlip>
              <a:defRPr/>
            </a:pPr>
            <a:r>
              <a:rPr kumimoji="0" lang="en-US" altLang="en-US" sz="32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 </a:t>
            </a:r>
            <a:r>
              <a:rPr kumimoji="0" lang="zh-CN" altLang="en-US" sz="32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术后病理：胶质母细胞瘤。</a:t>
            </a:r>
            <a:r>
              <a:rPr kumimoji="0" lang="en-US" altLang="zh-CN" sz="32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WHOIV</a:t>
            </a:r>
            <a:r>
              <a:rPr kumimoji="0" lang="zh-CN" altLang="en-US" sz="32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级。</a:t>
            </a:r>
            <a:endParaRPr kumimoji="0" lang="en-US" altLang="en-US" sz="3200" b="0" i="0" u="none" strike="noStrike" kern="1200" cap="none" spc="150" normalizeH="0" baseline="0" noProof="1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微软雅黑" panose="020B0503020204020204" pitchFamily="34" charset="-122"/>
            </a:endParaRPr>
          </a:p>
          <a:p>
            <a:pPr marL="171450" marR="0" lvl="0" indent="-171450" algn="l" defTabSz="6858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ClrTx/>
              <a:buSzPct val="150000"/>
              <a:buFont typeface="Wingdings" panose="05000000000000000000" pitchFamily="2" charset="2"/>
              <a:buBlip>
                <a:blip r:embed="rId1"/>
              </a:buBlip>
              <a:defRPr/>
            </a:pPr>
            <a:r>
              <a:rPr kumimoji="0" lang="en-US" altLang="zh-CN" sz="32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 </a:t>
            </a:r>
            <a:r>
              <a:rPr kumimoji="0" lang="zh-CN" altLang="en-US" sz="32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意识</a:t>
            </a:r>
            <a:r>
              <a:rPr kumimoji="0" lang="en-US" altLang="en-US" sz="32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：KPS:100</a:t>
            </a:r>
            <a:r>
              <a:rPr kumimoji="0" lang="zh-CN" altLang="en-US" sz="32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分</a:t>
            </a:r>
            <a:r>
              <a:rPr kumimoji="0" lang="en-US" altLang="en-US" sz="32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 </a:t>
            </a:r>
            <a:r>
              <a:rPr kumimoji="0" lang="zh-CN" altLang="en-US" sz="32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，神清语明，对答准确。</a:t>
            </a:r>
            <a:endParaRPr kumimoji="0" lang="en-US" altLang="en-US" sz="3200" b="0" i="0" u="none" strike="noStrike" kern="1200" cap="none" spc="150" normalizeH="0" baseline="0" noProof="1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微软雅黑" panose="020B0503020204020204" pitchFamily="34" charset="-122"/>
            </a:endParaRPr>
          </a:p>
          <a:p>
            <a:pPr marL="171450" marR="0" lvl="0" indent="-171450" algn="l" defTabSz="6858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ClrTx/>
              <a:buSzPct val="150000"/>
              <a:buFont typeface="Wingdings" panose="05000000000000000000" pitchFamily="2" charset="2"/>
              <a:buBlip>
                <a:blip r:embed="rId1"/>
              </a:buBlip>
              <a:defRPr/>
            </a:pPr>
            <a:r>
              <a:rPr kumimoji="0" lang="en-US" altLang="en-US" sz="32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 肢体：</a:t>
            </a:r>
            <a:r>
              <a:rPr kumimoji="0" lang="zh-CN" altLang="en-US" sz="32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四肢活动自如，</a:t>
            </a:r>
            <a:r>
              <a:rPr kumimoji="0" lang="en-US" altLang="zh-CN" sz="32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2</a:t>
            </a:r>
            <a:r>
              <a:rPr kumimoji="0" lang="zh-CN" altLang="en-US" sz="32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天后下床活动，术后</a:t>
            </a:r>
            <a:r>
              <a:rPr kumimoji="0" lang="en-US" altLang="zh-CN" sz="32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9</a:t>
            </a:r>
            <a:r>
              <a:rPr kumimoji="0" lang="zh-CN" altLang="en-US" sz="32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天出院。</a:t>
            </a:r>
            <a:endParaRPr kumimoji="0" lang="zh-CN" altLang="en-US" sz="3200" b="0" i="0" u="none" strike="noStrike" kern="1200" cap="none" spc="150" normalizeH="0" baseline="0" noProof="1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1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病例</a:t>
            </a:r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543175" y="1503363"/>
            <a:ext cx="6096000" cy="49133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171450" marR="0" lvl="0" indent="-17145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Char char="•"/>
              <a:defRPr/>
            </a:pPr>
            <a:r>
              <a:rPr kumimoji="0" lang="en-US" altLang="en-US" sz="28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男性，</a:t>
            </a:r>
            <a:r>
              <a:rPr kumimoji="0" lang="en-US" altLang="zh-CN" sz="28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58</a:t>
            </a:r>
            <a:r>
              <a:rPr kumimoji="0" lang="en-US" altLang="en-US" sz="28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岁 ，右利手。</a:t>
            </a:r>
            <a:endParaRPr kumimoji="0" lang="en-US" altLang="en-US" sz="2800" b="0" i="0" u="none" strike="noStrike" kern="1200" cap="none" spc="150" normalizeH="0" baseline="0" noProof="1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微软雅黑" panose="020B0503020204020204" pitchFamily="34" charset="-122"/>
            </a:endParaRPr>
          </a:p>
          <a:p>
            <a:pPr marL="171450" marR="0" lvl="0" indent="-17145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Char char="•"/>
              <a:defRPr/>
            </a:pPr>
            <a:r>
              <a:rPr kumimoji="0" lang="en-US" altLang="en-US" sz="28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因</a:t>
            </a:r>
            <a:r>
              <a:rPr kumimoji="0" lang="en-US" altLang="zh-CN" sz="28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“</a:t>
            </a:r>
            <a:r>
              <a:rPr kumimoji="0" lang="zh-CN" altLang="en-US" sz="28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体检发现颅内占位性病变</a:t>
            </a:r>
            <a:r>
              <a:rPr kumimoji="0" lang="en-US" altLang="zh-CN" sz="28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40</a:t>
            </a:r>
            <a:r>
              <a:rPr kumimoji="0" lang="zh-CN" altLang="en-US" sz="28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余天</a:t>
            </a:r>
            <a:r>
              <a:rPr kumimoji="0" lang="en-US" altLang="zh-CN" sz="28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”</a:t>
            </a:r>
            <a:r>
              <a:rPr kumimoji="0" lang="en-US" altLang="en-US" sz="28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于</a:t>
            </a:r>
            <a:r>
              <a:rPr kumimoji="0" lang="en-US" altLang="zh-CN" sz="28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2021</a:t>
            </a:r>
            <a:r>
              <a:rPr kumimoji="0" lang="en-US" altLang="en-US" sz="28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年</a:t>
            </a:r>
            <a:r>
              <a:rPr kumimoji="0" lang="en-US" altLang="zh-CN" sz="28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6</a:t>
            </a:r>
            <a:r>
              <a:rPr kumimoji="0" lang="en-US" altLang="en-US" sz="28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月</a:t>
            </a:r>
            <a:r>
              <a:rPr kumimoji="0" lang="en-US" altLang="zh-CN" sz="28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30</a:t>
            </a:r>
            <a:r>
              <a:rPr kumimoji="0" lang="en-US" altLang="en-US" sz="28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日入院。</a:t>
            </a:r>
            <a:endParaRPr kumimoji="0" lang="en-US" altLang="en-US" sz="2800" b="0" i="0" u="none" strike="noStrike" kern="1200" cap="none" spc="150" normalizeH="0" baseline="0" noProof="1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微软雅黑" panose="020B0503020204020204" pitchFamily="34" charset="-122"/>
            </a:endParaRPr>
          </a:p>
          <a:p>
            <a:pPr marL="171450" marR="0" lvl="0" indent="-17145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既往史：高血压病史</a:t>
            </a:r>
            <a:r>
              <a:rPr kumimoji="0" lang="en-US" altLang="zh-CN" sz="28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6</a:t>
            </a:r>
            <a:r>
              <a:rPr kumimoji="0" lang="zh-CN" altLang="en-US" sz="28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年，血压控制不详。</a:t>
            </a:r>
            <a:endParaRPr kumimoji="0" lang="en-US" altLang="en-US" sz="2800" b="0" i="0" u="none" strike="noStrike" kern="1200" cap="none" spc="150" normalizeH="0" baseline="0" noProof="1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微软雅黑" panose="020B0503020204020204" pitchFamily="34" charset="-122"/>
            </a:endParaRPr>
          </a:p>
          <a:p>
            <a:pPr marL="171450" marR="0" lvl="0" indent="-17145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Char char="•"/>
              <a:defRPr/>
            </a:pPr>
            <a:r>
              <a:rPr kumimoji="0" lang="en-US" altLang="en-US" sz="28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查体：kps100</a:t>
            </a:r>
            <a:r>
              <a:rPr kumimoji="0" lang="zh-CN" altLang="en-US" sz="28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分</a:t>
            </a:r>
            <a:r>
              <a:rPr kumimoji="0" lang="en-US" altLang="en-US" sz="28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，</a:t>
            </a:r>
            <a:r>
              <a:rPr kumimoji="0" lang="zh-CN" altLang="en-US" sz="28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未见明显阳性体征。</a:t>
            </a:r>
            <a:endParaRPr kumimoji="0" lang="zh-CN" altLang="en-US" sz="2800" b="0" i="0" u="none" strike="noStrike" kern="1200" cap="none" spc="150" normalizeH="0" baseline="0" noProof="1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微软雅黑" panose="020B0503020204020204" pitchFamily="34" charset="-122"/>
            </a:endParaRPr>
          </a:p>
          <a:p>
            <a:pPr marL="171450" marR="0" lvl="0" indent="-17145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辅查：</a:t>
            </a:r>
            <a:r>
              <a:rPr kumimoji="0" lang="en-US" altLang="zh-CN" sz="28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2021-5-31</a:t>
            </a:r>
            <a:r>
              <a:rPr kumimoji="0" lang="zh-CN" altLang="en-US" sz="28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头部</a:t>
            </a:r>
            <a:r>
              <a:rPr kumimoji="0" lang="en-US" altLang="zh-CN" sz="28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MRI</a:t>
            </a:r>
            <a:r>
              <a:rPr kumimoji="0" lang="zh-CN" altLang="en-US" sz="28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平扫</a:t>
            </a:r>
            <a:r>
              <a:rPr kumimoji="0" lang="en-US" altLang="zh-CN" sz="28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+</a:t>
            </a:r>
            <a:r>
              <a:rPr kumimoji="0" lang="zh-CN" altLang="en-US" sz="2800" b="0" i="0" u="none" strike="noStrike" kern="1200" cap="none" spc="150" normalizeH="0" baseline="0" noProof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微软雅黑" panose="020B0503020204020204" pitchFamily="34" charset="-122"/>
              </a:rPr>
              <a:t>增强示：左侧额叶扣带回占位，胶质瘤可能。</a:t>
            </a:r>
            <a:endParaRPr kumimoji="0" lang="zh-CN" altLang="en-US" sz="2800" b="0" i="0" u="none" strike="noStrike" kern="1200" cap="none" spc="150" normalizeH="0" baseline="0" noProof="1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305" name="标题 6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术前</a:t>
            </a:r>
            <a:r>
              <a:rPr lang="en-US" altLang="zh-CN" dirty="0"/>
              <a:t>MRI</a:t>
            </a:r>
            <a:r>
              <a:rPr lang="zh-CN" altLang="en-US" dirty="0"/>
              <a:t>检查</a:t>
            </a:r>
            <a:endParaRPr lang="zh-CN" altLang="en-US" dirty="0"/>
          </a:p>
        </p:txBody>
      </p:sp>
      <p:pic>
        <p:nvPicPr>
          <p:cNvPr id="98306" name="内容占位符 4" descr="图片1.png"/>
          <p:cNvPicPr>
            <a:picLocks noGrp="1"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819275" y="2516188"/>
            <a:ext cx="3822700" cy="2949575"/>
          </a:xfrm>
          <a:ln/>
        </p:spPr>
      </p:pic>
      <p:pic>
        <p:nvPicPr>
          <p:cNvPr id="98307" name="内容占位符 8" descr="图片2.pn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30950" y="2532063"/>
            <a:ext cx="3832225" cy="2959100"/>
          </a:xfrm>
          <a:ln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29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endParaRPr lang="zh-CN" altLang="en-US" dirty="0"/>
          </a:p>
        </p:txBody>
      </p:sp>
      <p:pic>
        <p:nvPicPr>
          <p:cNvPr id="99330" name="内容占位符 4" descr="图片5.png"/>
          <p:cNvPicPr>
            <a:picLocks noGrp="1"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336675" y="1825625"/>
            <a:ext cx="4184650" cy="4351338"/>
          </a:xfrm>
          <a:ln/>
        </p:spPr>
      </p:pic>
      <p:pic>
        <p:nvPicPr>
          <p:cNvPr id="99331" name="内容占位符 5" descr="图片8.pn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885950"/>
            <a:ext cx="5181600" cy="4230688"/>
          </a:xfrm>
          <a:ln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353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手术视频</a:t>
            </a:r>
            <a:endParaRPr lang="zh-CN" altLang="en-US" dirty="0"/>
          </a:p>
        </p:txBody>
      </p:sp>
      <p:pic>
        <p:nvPicPr>
          <p:cNvPr id="100354" name="内容占位符 8" descr="捕获.JPG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43213" y="1549400"/>
            <a:ext cx="6656387" cy="5016500"/>
          </a:xfrm>
          <a:ln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77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   术后术野</a:t>
            </a:r>
            <a:endParaRPr lang="zh-CN" altLang="en-US" dirty="0"/>
          </a:p>
        </p:txBody>
      </p:sp>
      <p:pic>
        <p:nvPicPr>
          <p:cNvPr id="101378" name="内容占位符 3" descr="微信图片_20211116160348.jpg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78163" y="1490663"/>
            <a:ext cx="6630987" cy="5156200"/>
          </a:xfrm>
          <a:ln/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1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术后</a:t>
            </a:r>
            <a:r>
              <a:rPr lang="en-US" altLang="zh-CN" dirty="0"/>
              <a:t>CT</a:t>
            </a:r>
            <a:r>
              <a:rPr lang="zh-CN" altLang="en-US" dirty="0"/>
              <a:t>及</a:t>
            </a:r>
            <a:r>
              <a:rPr lang="en-US" altLang="zh-CN" dirty="0"/>
              <a:t>MR</a:t>
            </a:r>
            <a:r>
              <a:rPr lang="zh-CN" altLang="en-US" dirty="0"/>
              <a:t>复查</a:t>
            </a:r>
            <a:endParaRPr lang="zh-CN" altLang="en-US" dirty="0"/>
          </a:p>
        </p:txBody>
      </p:sp>
      <p:pic>
        <p:nvPicPr>
          <p:cNvPr id="102402" name="内容占位符 4" descr="图片6.png"/>
          <p:cNvPicPr>
            <a:picLocks noGrp="1"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411288" y="1882775"/>
            <a:ext cx="4035425" cy="4237038"/>
          </a:xfrm>
          <a:ln/>
        </p:spPr>
      </p:pic>
      <p:pic>
        <p:nvPicPr>
          <p:cNvPr id="102403" name="内容占位符 5" descr="图片7.pn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16725" y="1825625"/>
            <a:ext cx="3892550" cy="4351338"/>
          </a:xfrm>
          <a:ln/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425" name="标题 7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术后</a:t>
            </a:r>
            <a:r>
              <a:rPr lang="en-US" altLang="zh-CN" dirty="0"/>
              <a:t>MR</a:t>
            </a:r>
            <a:r>
              <a:rPr lang="zh-CN" altLang="en-US" dirty="0"/>
              <a:t>增强</a:t>
            </a:r>
            <a:endParaRPr lang="zh-CN" altLang="en-US" dirty="0"/>
          </a:p>
        </p:txBody>
      </p:sp>
      <p:pic>
        <p:nvPicPr>
          <p:cNvPr id="103426" name="内容占位符 5" descr="图片4.png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70225" y="1581150"/>
            <a:ext cx="6338888" cy="4905375"/>
          </a:xfrm>
          <a:ln/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449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endParaRPr lang="zh-CN" altLang="en-US" dirty="0"/>
          </a:p>
        </p:txBody>
      </p:sp>
      <p:pic>
        <p:nvPicPr>
          <p:cNvPr id="104450" name="内容占位符 3" descr="微信图片_20211116165952.jpg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17825" y="1198563"/>
            <a:ext cx="5765800" cy="4846637"/>
          </a:xfrm>
          <a:ln/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3" name="标题 1"/>
          <p:cNvSpPr>
            <a:spLocks noGrp="1"/>
          </p:cNvSpPr>
          <p:nvPr>
            <p:ph type="title"/>
          </p:nvPr>
        </p:nvSpPr>
        <p:spPr>
          <a:xfrm>
            <a:off x="1820863" y="328613"/>
            <a:ext cx="10247312" cy="1089025"/>
          </a:xfrm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105474" name="内容占位符 2" descr="7b0a202020202262756c6c6574223a20227b5c2263617465676f727949645c223a31303031322c5c2274656d706c61746549645c223a32303233313236367d220a7d0a"/>
          <p:cNvSpPr>
            <a:spLocks noGrp="1"/>
          </p:cNvSpPr>
          <p:nvPr>
            <p:ph idx="1"/>
          </p:nvPr>
        </p:nvSpPr>
        <p:spPr>
          <a:xfrm>
            <a:off x="1165225" y="1849438"/>
            <a:ext cx="10515600" cy="4351337"/>
          </a:xfrm>
          <a:ln/>
        </p:spPr>
        <p:txBody>
          <a:bodyPr vert="horz" wrap="square" lIns="91440" tIns="45720" rIns="91440" bIns="45720" anchor="t" anchorCtr="0"/>
          <a:p>
            <a:pPr>
              <a:buSzPct val="150000"/>
              <a:buBlip>
                <a:blip r:embed="rId1"/>
              </a:buBlip>
            </a:pPr>
            <a:r>
              <a:rPr lang="en-US" altLang="zh-CN" dirty="0"/>
              <a:t> </a:t>
            </a:r>
            <a:r>
              <a:rPr lang="zh-CN" altLang="en-US" dirty="0"/>
              <a:t>术前利于导航规划手术切口</a:t>
            </a:r>
            <a:endParaRPr lang="zh-CN" altLang="en-US" dirty="0"/>
          </a:p>
          <a:p>
            <a:pPr>
              <a:buSzPct val="150000"/>
              <a:buBlip>
                <a:blip r:embed="rId1"/>
              </a:buBlip>
            </a:pPr>
            <a:r>
              <a:rPr lang="en-US" altLang="zh-CN" dirty="0"/>
              <a:t> </a:t>
            </a:r>
            <a:r>
              <a:rPr lang="zh-CN" altLang="en-US" dirty="0"/>
              <a:t>术中运用电生理监测确定功能区</a:t>
            </a:r>
            <a:endParaRPr lang="zh-CN" altLang="en-US" dirty="0"/>
          </a:p>
          <a:p>
            <a:pPr>
              <a:buSzPct val="150000"/>
              <a:buBlip>
                <a:blip r:embed="rId1"/>
              </a:buBlip>
            </a:pPr>
            <a:r>
              <a:rPr lang="en-US" altLang="zh-CN" dirty="0"/>
              <a:t> </a:t>
            </a:r>
            <a:r>
              <a:rPr lang="zh-CN" altLang="en-US" dirty="0"/>
              <a:t>术中超声动态监测切除范围</a:t>
            </a:r>
            <a:endParaRPr lang="zh-CN" altLang="en-US" dirty="0"/>
          </a:p>
          <a:p>
            <a:pPr>
              <a:buSzPct val="150000"/>
              <a:buBlip>
                <a:blip r:embed="rId1"/>
              </a:buBlip>
            </a:pPr>
            <a:r>
              <a:rPr lang="en-US" altLang="zh-CN" dirty="0"/>
              <a:t> </a:t>
            </a:r>
            <a:r>
              <a:rPr lang="zh-CN" altLang="en-US" dirty="0"/>
              <a:t>术中黄荧光协助确定肿瘤边界</a:t>
            </a:r>
            <a:endParaRPr lang="zh-CN" altLang="en-US" dirty="0"/>
          </a:p>
          <a:p>
            <a:pPr>
              <a:buSzPct val="150000"/>
              <a:buBlip>
                <a:blip r:embed="rId1"/>
              </a:buBlip>
            </a:pPr>
            <a:r>
              <a:rPr lang="en-US" altLang="zh-CN" dirty="0"/>
              <a:t> </a:t>
            </a:r>
            <a:r>
              <a:rPr lang="zh-CN" altLang="en-US" dirty="0"/>
              <a:t>通过多种技术协同，互补，对于精准切除肿瘤，保护正常脑组织，减少术后并发症有很大的帮助！</a:t>
            </a:r>
            <a:endParaRPr lang="zh-CN" altLang="en-US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6497" name="组合 8"/>
          <p:cNvGrpSpPr/>
          <p:nvPr/>
        </p:nvGrpSpPr>
        <p:grpSpPr>
          <a:xfrm>
            <a:off x="0" y="0"/>
            <a:ext cx="4818063" cy="3502025"/>
            <a:chOff x="0" y="0"/>
            <a:chExt cx="4818451" cy="3501288"/>
          </a:xfrm>
        </p:grpSpPr>
        <p:sp>
          <p:nvSpPr>
            <p:cNvPr id="106498" name="等腰三角形 3"/>
            <p:cNvSpPr/>
            <p:nvPr/>
          </p:nvSpPr>
          <p:spPr>
            <a:xfrm rot="5400000">
              <a:off x="-95057" y="95057"/>
              <a:ext cx="1379248" cy="1189134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499" name="等腰三角形 24"/>
            <p:cNvSpPr/>
            <p:nvPr/>
          </p:nvSpPr>
          <p:spPr>
            <a:xfrm rot="-5400000">
              <a:off x="-94263" y="802139"/>
              <a:ext cx="1377660" cy="1189134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500" name="等腰三角形 25"/>
            <p:cNvSpPr/>
            <p:nvPr/>
          </p:nvSpPr>
          <p:spPr>
            <a:xfrm rot="5400000">
              <a:off x="-94263" y="1510015"/>
              <a:ext cx="1377660" cy="1189134"/>
            </a:xfrm>
            <a:prstGeom prst="triangle">
              <a:avLst>
                <a:gd name="adj" fmla="val 50000"/>
              </a:avLst>
            </a:prstGeom>
            <a:solidFill>
              <a:srgbClr val="08A1D9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501" name="等腰三角形 26"/>
            <p:cNvSpPr/>
            <p:nvPr/>
          </p:nvSpPr>
          <p:spPr>
            <a:xfrm rot="-5400000">
              <a:off x="1117097" y="95851"/>
              <a:ext cx="1379248" cy="1187546"/>
            </a:xfrm>
            <a:prstGeom prst="triangle">
              <a:avLst>
                <a:gd name="adj" fmla="val 50000"/>
              </a:avLst>
            </a:prstGeom>
            <a:solidFill>
              <a:srgbClr val="C2AD8D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502" name="等腰三角形 27"/>
            <p:cNvSpPr/>
            <p:nvPr/>
          </p:nvSpPr>
          <p:spPr>
            <a:xfrm rot="5400000">
              <a:off x="1110737" y="802130"/>
              <a:ext cx="1377660" cy="1189133"/>
            </a:xfrm>
            <a:prstGeom prst="triangle">
              <a:avLst>
                <a:gd name="adj" fmla="val 50000"/>
              </a:avLst>
            </a:prstGeom>
            <a:solidFill>
              <a:srgbClr val="7C984A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503" name="等腰三角形 28"/>
            <p:cNvSpPr/>
            <p:nvPr/>
          </p:nvSpPr>
          <p:spPr>
            <a:xfrm rot="-5400000">
              <a:off x="1112334" y="1510015"/>
              <a:ext cx="1377660" cy="1189134"/>
            </a:xfrm>
            <a:prstGeom prst="triangle">
              <a:avLst>
                <a:gd name="adj" fmla="val 50000"/>
              </a:avLst>
            </a:prstGeom>
            <a:solidFill>
              <a:srgbClr val="506E94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504" name="等腰三角形 29"/>
            <p:cNvSpPr/>
            <p:nvPr/>
          </p:nvSpPr>
          <p:spPr>
            <a:xfrm rot="5400000">
              <a:off x="2329241" y="95048"/>
              <a:ext cx="1379248" cy="1189133"/>
            </a:xfrm>
            <a:prstGeom prst="triangle">
              <a:avLst>
                <a:gd name="adj" fmla="val 50000"/>
              </a:avLst>
            </a:prstGeom>
            <a:solidFill>
              <a:srgbClr val="08A1D9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505" name="等腰三角形 30"/>
            <p:cNvSpPr/>
            <p:nvPr/>
          </p:nvSpPr>
          <p:spPr>
            <a:xfrm rot="5400000">
              <a:off x="1109944" y="2217089"/>
              <a:ext cx="1379247" cy="1189133"/>
            </a:xfrm>
            <a:prstGeom prst="triangle">
              <a:avLst>
                <a:gd name="adj" fmla="val 50000"/>
              </a:avLst>
            </a:prstGeom>
            <a:solidFill>
              <a:srgbClr val="BFBFBF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506" name="等腰三角形 31"/>
            <p:cNvSpPr/>
            <p:nvPr/>
          </p:nvSpPr>
          <p:spPr>
            <a:xfrm rot="-5400000">
              <a:off x="2330035" y="802130"/>
              <a:ext cx="1377660" cy="1189133"/>
            </a:xfrm>
            <a:prstGeom prst="triangle">
              <a:avLst>
                <a:gd name="adj" fmla="val 50000"/>
              </a:avLst>
            </a:prstGeom>
            <a:solidFill>
              <a:srgbClr val="BFBFBF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507" name="等腰三角形 32"/>
            <p:cNvSpPr/>
            <p:nvPr/>
          </p:nvSpPr>
          <p:spPr>
            <a:xfrm rot="5400000">
              <a:off x="3535054" y="802139"/>
              <a:ext cx="1377660" cy="1189134"/>
            </a:xfrm>
            <a:prstGeom prst="triangle">
              <a:avLst>
                <a:gd name="adj" fmla="val 50000"/>
              </a:avLst>
            </a:prstGeom>
            <a:solidFill>
              <a:srgbClr val="C2AD8D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6508" name="组合 40"/>
          <p:cNvGrpSpPr/>
          <p:nvPr/>
        </p:nvGrpSpPr>
        <p:grpSpPr>
          <a:xfrm>
            <a:off x="0" y="6718300"/>
            <a:ext cx="12199938" cy="139700"/>
            <a:chOff x="0" y="0"/>
            <a:chExt cx="13144500" cy="404812"/>
          </a:xfrm>
        </p:grpSpPr>
        <p:sp>
          <p:nvSpPr>
            <p:cNvPr id="106509" name="矩形 34"/>
            <p:cNvSpPr/>
            <p:nvPr/>
          </p:nvSpPr>
          <p:spPr>
            <a:xfrm>
              <a:off x="0" y="0"/>
              <a:ext cx="2191036" cy="404812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510" name="矩形 35"/>
            <p:cNvSpPr/>
            <p:nvPr/>
          </p:nvSpPr>
          <p:spPr>
            <a:xfrm>
              <a:off x="2191036" y="0"/>
              <a:ext cx="2191034" cy="404812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511" name="矩形 36"/>
            <p:cNvSpPr/>
            <p:nvPr/>
          </p:nvSpPr>
          <p:spPr>
            <a:xfrm>
              <a:off x="4382070" y="0"/>
              <a:ext cx="2191036" cy="404812"/>
            </a:xfrm>
            <a:prstGeom prst="rect">
              <a:avLst/>
            </a:prstGeom>
            <a:solidFill>
              <a:srgbClr val="08A1D9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512" name="矩形 37"/>
            <p:cNvSpPr/>
            <p:nvPr/>
          </p:nvSpPr>
          <p:spPr>
            <a:xfrm>
              <a:off x="8762430" y="0"/>
              <a:ext cx="2191034" cy="404812"/>
            </a:xfrm>
            <a:prstGeom prst="rect">
              <a:avLst/>
            </a:prstGeom>
            <a:solidFill>
              <a:srgbClr val="C2AD8D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513" name="矩形 38"/>
            <p:cNvSpPr/>
            <p:nvPr/>
          </p:nvSpPr>
          <p:spPr>
            <a:xfrm>
              <a:off x="6573105" y="0"/>
              <a:ext cx="2189325" cy="404812"/>
            </a:xfrm>
            <a:prstGeom prst="rect">
              <a:avLst/>
            </a:prstGeom>
            <a:solidFill>
              <a:srgbClr val="7C984A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514" name="矩形 39"/>
            <p:cNvSpPr/>
            <p:nvPr/>
          </p:nvSpPr>
          <p:spPr>
            <a:xfrm>
              <a:off x="10953464" y="0"/>
              <a:ext cx="2191036" cy="404812"/>
            </a:xfrm>
            <a:prstGeom prst="rect">
              <a:avLst/>
            </a:prstGeom>
            <a:solidFill>
              <a:srgbClr val="506E94"/>
            </a:solidFill>
            <a:ln w="9525">
              <a:noFill/>
            </a:ln>
          </p:spPr>
          <p:txBody>
            <a:bodyPr anchor="ctr" anchorCtr="0"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428" name="文本框 1"/>
          <p:cNvSpPr txBox="1">
            <a:spLocks noChangeArrowheads="1"/>
          </p:cNvSpPr>
          <p:nvPr/>
        </p:nvSpPr>
        <p:spPr bwMode="auto">
          <a:xfrm>
            <a:off x="6197600" y="2452688"/>
            <a:ext cx="4240213" cy="1676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Roboto Light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Roboto Light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Roboto Light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Roboto Light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Roboto Light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Roboto Light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Roboto Light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Roboto Light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Roboto Light"/>
                <a:ea typeface="微软雅黑 Light" panose="020B0502040204020203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6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</a:t>
            </a:r>
            <a:r>
              <a:rPr kumimoji="0" lang="en-US" altLang="zh-CN" sz="6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</a:t>
            </a:r>
            <a:r>
              <a:rPr kumimoji="0" lang="en-US" altLang="zh-CN" sz="6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8A1D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</a:t>
            </a:r>
            <a:r>
              <a:rPr kumimoji="0" lang="en-US" altLang="zh-CN" sz="6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C984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</a:t>
            </a:r>
            <a:r>
              <a:rPr kumimoji="0" lang="en-US" altLang="zh-CN" sz="6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2AD8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</a:t>
            </a:r>
            <a:r>
              <a:rPr kumimoji="0" lang="en-US" altLang="zh-CN" sz="6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06E9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</a:t>
            </a:r>
            <a:endParaRPr kumimoji="0" lang="en-US" altLang="zh-CN" sz="6000" b="0" i="0" u="none" strike="noStrike" kern="1200" cap="none" spc="0" normalizeH="0" baseline="0" noProof="0" dirty="0" smtClean="0">
              <a:ln>
                <a:noFill/>
              </a:ln>
              <a:solidFill>
                <a:srgbClr val="506E9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9595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谢 谢 ！</a:t>
            </a:r>
            <a:endParaRPr kumimoji="0" lang="zh-CN" altLang="en-US" sz="4400" b="0" i="0" u="none" strike="noStrike" kern="1200" cap="none" spc="0" normalizeH="0" baseline="0" noProof="0" dirty="0" smtClean="0">
              <a:ln>
                <a:noFill/>
              </a:ln>
              <a:solidFill>
                <a:srgbClr val="59595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6516" name="内容占位符 2"/>
          <p:cNvSpPr txBox="1"/>
          <p:nvPr/>
        </p:nvSpPr>
        <p:spPr>
          <a:xfrm>
            <a:off x="5256213" y="1827213"/>
            <a:ext cx="8064500" cy="24479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273050" indent="-273050" eaLnBrk="0" hangingPunct="0">
              <a:spcBef>
                <a:spcPct val="20000"/>
              </a:spcBef>
              <a:buClr>
                <a:schemeClr val="accent1"/>
              </a:buClr>
              <a:buSzPct val="85000"/>
              <a:buFont typeface="Wingdings 2" pitchFamily="18" charset="2"/>
              <a:buChar char=""/>
            </a:pPr>
            <a:endParaRPr lang="zh-CN" altLang="en-US" sz="2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3085*4204*460*460"/>
  <p:tag name="KSO_WM_UNIT_MEDIACOVER_STYLEID" val="1"/>
  <p:tag name="KSO_WM_UNIT_MEDIACOVER_TEXTSTATE" val="0"/>
  <p:tag name="KSO_WM_UNIT_MEDIACOVER_BTN_POS" val="c"/>
  <p:tag name="KSO_WM_UNIT_MEDIACOVER_BTN_STYLE" val="ee0bc779c1f3d7f3e90c96344320e69a"/>
  <p:tag name="KSO_WM_UNIT_MEDIACOVER_RGB" val="000000"/>
  <p:tag name="KSO_WM_UNIT_MEDIACOVER_TRANSPARENCY" val="0.5"/>
</p:tagLst>
</file>

<file path=ppt/tags/tag2.xml><?xml version="1.0" encoding="utf-8"?>
<p:tagLst xmlns:p="http://schemas.openxmlformats.org/presentationml/2006/main">
  <p:tag name="KSO_WM_TEMPLATE_CATEGORY" val="custom"/>
  <p:tag name="KSO_WM_TEMPLATE_INDEX" val="20202601"/>
</p:tagLst>
</file>

<file path=ppt/tags/tag3.xml><?xml version="1.0" encoding="utf-8"?>
<p:tagLst xmlns:p="http://schemas.openxmlformats.org/presentationml/2006/main">
  <p:tag name="REFSHAPE" val="752389804"/>
  <p:tag name="KSO_WM_UNIT_PLACING_PICTURE_USER_VIEWPORT" val="{&quot;height&quot;:5475,&quot;width&quot;:11805}"/>
</p:tagLst>
</file>

<file path=ppt/tags/tag4.xml><?xml version="1.0" encoding="utf-8"?>
<p:tagLst xmlns:p="http://schemas.openxmlformats.org/presentationml/2006/main">
  <p:tag name="KSO_WM_TEMPLATE_CATEGORY" val="custom"/>
  <p:tag name="KSO_WM_TEMPLATE_INDEX" val="20202601"/>
</p:tagLst>
</file>

<file path=ppt/tags/tag5.xml><?xml version="1.0" encoding="utf-8"?>
<p:tagLst xmlns:p="http://schemas.openxmlformats.org/presentationml/2006/main">
  <p:tag name="REFSHAPE" val="850397980"/>
  <p:tag name="KSO_WM_UNIT_PLACING_PICTURE_USER_VIEWPORT" val="{&quot;height&quot;:6330,&quot;width&quot;:10920}"/>
</p:tagLst>
</file>

<file path=ppt/tags/tag6.xml><?xml version="1.0" encoding="utf-8"?>
<p:tagLst xmlns:p="http://schemas.openxmlformats.org/presentationml/2006/main">
  <p:tag name="KSO_WM_TEMPLATE_CATEGORY" val="custom"/>
  <p:tag name="KSO_WM_TEMPLATE_INDEX" val="20202601"/>
</p:tagLst>
</file>

<file path=ppt/tags/tag7.xml><?xml version="1.0" encoding="utf-8"?>
<p:tagLst xmlns:p="http://schemas.openxmlformats.org/presentationml/2006/main">
  <p:tag name="KSO_WM_TEMPLATE_CATEGORY" val="custom"/>
  <p:tag name="KSO_WM_TEMPLATE_INDEX" val="20202601"/>
</p:tagLst>
</file>

<file path=ppt/tags/tag8.xml><?xml version="1.0" encoding="utf-8"?>
<p:tagLst xmlns:p="http://schemas.openxmlformats.org/presentationml/2006/main">
  <p:tag name="REFSHAPE" val="638329172"/>
  <p:tag name="KSO_WM_UNIT_PLACING_PICTURE_USER_VIEWPORT" val="{&quot;height&quot;:8745,&quot;width&quot;:14835}"/>
</p:tagLst>
</file>

<file path=ppt/tags/tag9.xml><?xml version="1.0" encoding="utf-8"?>
<p:tagLst xmlns:p="http://schemas.openxmlformats.org/presentationml/2006/main">
  <p:tag name="KSO_WM_TEMPLATE_CATEGORY" val="custom"/>
  <p:tag name="KSO_WM_TEMPLATE_INDEX" val="20202601"/>
</p:tagLst>
</file>

<file path=ppt/tags/tag10.xml><?xml version="1.0" encoding="utf-8"?>
<p:tagLst xmlns:p="http://schemas.openxmlformats.org/presentationml/2006/main">
  <p:tag name="REFSHAPE" val="638338828"/>
  <p:tag name="KSO_WM_UNIT_PLACING_PICTURE_USER_VIEWPORT" val="{&quot;height&quot;:8580,&quot;width&quot;:9315}"/>
</p:tagLst>
</file>

<file path=ppt/tags/tag11.xml><?xml version="1.0" encoding="utf-8"?>
<p:tagLst xmlns:p="http://schemas.openxmlformats.org/presentationml/2006/main">
  <p:tag name="KSO_WM_TEMPLATE_CATEGORY" val="custom"/>
  <p:tag name="KSO_WM_TEMPLATE_INDEX" val="20202601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20202601"/>
</p:tagLst>
</file>

<file path=ppt/tags/tag13.xml><?xml version="1.0" encoding="utf-8"?>
<p:tagLst xmlns:p="http://schemas.openxmlformats.org/presentationml/2006/main">
  <p:tag name="KSO_WM_TEMPLATE_CATEGORY" val="custom"/>
  <p:tag name="KSO_WM_TEMPLATE_INDEX" val="20202601"/>
</p:tagLst>
</file>

<file path=ppt/tags/tag14.xml><?xml version="1.0" encoding="utf-8"?>
<p:tagLst xmlns:p="http://schemas.openxmlformats.org/presentationml/2006/main">
  <p:tag name="KSO_WM_TEMPLATE_CATEGORY" val="custom"/>
  <p:tag name="KSO_WM_TEMPLATE_INDEX" val="20202601"/>
</p:tagLst>
</file>

<file path=ppt/tags/tag15.xml><?xml version="1.0" encoding="utf-8"?>
<p:tagLst xmlns:p="http://schemas.openxmlformats.org/presentationml/2006/main">
  <p:tag name="KSO_WM_TEMPLATE_CATEGORY" val="custom"/>
  <p:tag name="KSO_WM_TEMPLATE_INDEX" val="20202601"/>
</p:tagLst>
</file>

<file path=ppt/tags/tag16.xml><?xml version="1.0" encoding="utf-8"?>
<p:tagLst xmlns:p="http://schemas.openxmlformats.org/presentationml/2006/main">
  <p:tag name="KSO_WM_TEMPLATE_CATEGORY" val="custom"/>
  <p:tag name="KSO_WM_TEMPLATE_INDEX" val="20202601"/>
</p:tagLst>
</file>

<file path=ppt/tags/tag17.xml><?xml version="1.0" encoding="utf-8"?>
<p:tagLst xmlns:p="http://schemas.openxmlformats.org/presentationml/2006/main">
  <p:tag name="KSO_WM_TEMPLATE_CATEGORY" val="custom"/>
  <p:tag name="KSO_WM_TEMPLATE_INDEX" val="20202601"/>
</p:tagLst>
</file>

<file path=ppt/tags/tag18.xml><?xml version="1.0" encoding="utf-8"?>
<p:tagLst xmlns:p="http://schemas.openxmlformats.org/presentationml/2006/main">
  <p:tag name="KSO_WM_TEMPLATE_CATEGORY" val="custom"/>
  <p:tag name="KSO_WM_TEMPLATE_INDEX" val="20202601"/>
</p:tagLst>
</file>

<file path=ppt/tags/tag19.xml><?xml version="1.0" encoding="utf-8"?>
<p:tagLst xmlns:p="http://schemas.openxmlformats.org/presentationml/2006/main">
  <p:tag name="KSO_WM_TEMPLATE_CATEGORY" val="custom"/>
  <p:tag name="KSO_WM_TEMPLATE_INDEX" val="20202601"/>
</p:tagLst>
</file>

<file path=ppt/tags/tag20.xml><?xml version="1.0" encoding="utf-8"?>
<p:tagLst xmlns:p="http://schemas.openxmlformats.org/presentationml/2006/main">
  <p:tag name="KSO_WM_TEMPLATE_CATEGORY" val="custom"/>
  <p:tag name="KSO_WM_TEMPLATE_INDEX" val="20202601"/>
</p:tagLst>
</file>

<file path=ppt/tags/tag21.xml><?xml version="1.0" encoding="utf-8"?>
<p:tagLst xmlns:p="http://schemas.openxmlformats.org/presentationml/2006/main">
  <p:tag name="KSO_WM_TEMPLATE_CATEGORY" val="custom"/>
  <p:tag name="KSO_WM_TEMPLATE_INDEX" val="20202601"/>
</p:tagLst>
</file>

<file path=ppt/tags/tag22.xml><?xml version="1.0" encoding="utf-8"?>
<p:tagLst xmlns:p="http://schemas.openxmlformats.org/presentationml/2006/main">
  <p:tag name="KSO_WM_TEMPLATE_CATEGORY" val="custom"/>
  <p:tag name="KSO_WM_TEMPLATE_INDEX" val="20202601"/>
</p:tagLst>
</file>

<file path=ppt/tags/tag23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3617*4570*460*460"/>
  <p:tag name="KSO_WM_UNIT_MEDIACOVER_STYLEID" val="1"/>
  <p:tag name="KSO_WM_UNIT_MEDIACOVER_TEXTSTATE" val="0"/>
  <p:tag name="KSO_WM_UNIT_MEDIACOVER_BTN_POS" val="c"/>
  <p:tag name="KSO_WM_UNIT_MEDIACOVER_BTN_STYLE" val="ee0bc779c1f3d7f3e90c96344320e69a"/>
  <p:tag name="KSO_WM_UNIT_MEDIACOVER_RGB" val="000000"/>
  <p:tag name="KSO_WM_UNIT_MEDIACOVER_TRANSPARENCY" val="0.5"/>
</p:tagLst>
</file>

<file path=ppt/tags/tag24.xml><?xml version="1.0" encoding="utf-8"?>
<p:tagLst xmlns:p="http://schemas.openxmlformats.org/presentationml/2006/main">
  <p:tag name="KSO_WM_BEAUTIFY_FLAG" val="#wm#"/>
  <p:tag name="KSO_WM_TEMPLATE_CATEGORY" val="custom"/>
  <p:tag name="KSO_WM_TEMPLATE_INDEX" val="20202601"/>
</p:tagLst>
</file>

<file path=ppt/tags/tag25.xml><?xml version="1.0" encoding="utf-8"?>
<p:tagLst xmlns:p="http://schemas.openxmlformats.org/presentationml/2006/main">
  <p:tag name="KSO_WM_BEAUTIFY_FLAG" val="#wm#"/>
  <p:tag name="KSO_WM_TEMPLATE_CATEGORY" val="custom"/>
  <p:tag name="KSO_WM_TEMPLATE_INDEX" val="20202601"/>
</p:tagLst>
</file>

<file path=ppt/tags/tag26.xml><?xml version="1.0" encoding="utf-8"?>
<p:tagLst xmlns:p="http://schemas.openxmlformats.org/presentationml/2006/main">
  <p:tag name="KSO_WM_TEMPLATE_CATEGORY" val="custom"/>
  <p:tag name="KSO_WM_TEMPLATE_INDEX" val="20202601"/>
</p:tagLst>
</file>

<file path=ppt/tags/tag27.xml><?xml version="1.0" encoding="utf-8"?>
<p:tagLst xmlns:p="http://schemas.openxmlformats.org/presentationml/2006/main">
  <p:tag name="KSO_WM_TEMPLATE_CATEGORY" val="custom"/>
  <p:tag name="KSO_WM_TEMPLATE_INDEX" val="20202601"/>
</p:tagLst>
</file>

<file path=ppt/tags/tag28.xml><?xml version="1.0" encoding="utf-8"?>
<p:tagLst xmlns:p="http://schemas.openxmlformats.org/presentationml/2006/main">
  <p:tag name="KSO_WM_TEMPLATE_CATEGORY" val="custom"/>
  <p:tag name="KSO_WM_TEMPLATE_INDEX" val="20202601"/>
</p:tagLst>
</file>

<file path=ppt/tags/tag29.xml><?xml version="1.0" encoding="utf-8"?>
<p:tagLst xmlns:p="http://schemas.openxmlformats.org/presentationml/2006/main">
  <p:tag name="KSO_WM_TEMPLATE_CATEGORY" val="custom"/>
  <p:tag name="KSO_WM_TEMPLATE_INDEX" val="20202601"/>
</p:tagLst>
</file>

<file path=ppt/tags/tag30.xml><?xml version="1.0" encoding="utf-8"?>
<p:tagLst xmlns:p="http://schemas.openxmlformats.org/presentationml/2006/main">
  <p:tag name="KSO_WM_TEMPLATE_CATEGORY" val="custom"/>
  <p:tag name="KSO_WM_TEMPLATE_INDEX" val="20202601"/>
</p:tagLst>
</file>

<file path=ppt/tags/tag31.xml><?xml version="1.0" encoding="utf-8"?>
<p:tagLst xmlns:p="http://schemas.openxmlformats.org/presentationml/2006/main">
  <p:tag name="KSO_WM_TEMPLATE_CATEGORY" val="custom"/>
  <p:tag name="KSO_WM_TEMPLATE_INDEX" val="20202601"/>
</p:tagLst>
</file>

<file path=ppt/tags/tag32.xml><?xml version="1.0" encoding="utf-8"?>
<p:tagLst xmlns:p="http://schemas.openxmlformats.org/presentationml/2006/main">
  <p:tag name="KSO_WM_TEMPLATE_CATEGORY" val="custom"/>
  <p:tag name="KSO_WM_TEMPLATE_INDEX" val="20202601"/>
</p:tagLst>
</file>

<file path=ppt/tags/tag33.xml><?xml version="1.0" encoding="utf-8"?>
<p:tagLst xmlns:p="http://schemas.openxmlformats.org/presentationml/2006/main">
  <p:tag name="KSO_WM_TEMPLATE_CATEGORY" val="custom"/>
  <p:tag name="KSO_WM_TEMPLATE_INDEX" val="20202601"/>
</p:tagLst>
</file>

<file path=ppt/tags/tag34.xml><?xml version="1.0" encoding="utf-8"?>
<p:tagLst xmlns:p="http://schemas.openxmlformats.org/presentationml/2006/main">
  <p:tag name="KSO_WM_TEMPLATE_CATEGORY" val="custom"/>
  <p:tag name="KSO_WM_TEMPLATE_INDEX" val="20202601"/>
</p:tagLst>
</file>

<file path=ppt/tags/tag35.xml><?xml version="1.0" encoding="utf-8"?>
<p:tagLst xmlns:p="http://schemas.openxmlformats.org/presentationml/2006/main">
  <p:tag name="commondata" val="eyJoZGlkIjoiNzNmMjU3NjQyZWJjNjg3MGZhOWIyNjVlZTczN2EwZDQifQ=="/>
</p:tagLst>
</file>

<file path=ppt/theme/theme1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FFFFFF"/>
      </a:accent3>
      <a:accent4>
        <a:srgbClr val="000000"/>
      </a:accent4>
      <a:accent5>
        <a:srgbClr val="BEBFC0"/>
      </a:accent5>
      <a:accent6>
        <a:srgbClr val="E25F17"/>
      </a:accent6>
      <a:hlink>
        <a:srgbClr val="5F5F5F"/>
      </a:hlink>
      <a:folHlink>
        <a:srgbClr val="969696"/>
      </a:folHlink>
    </a:clrScheme>
    <a:fontScheme name="Office 主题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oboto Light"/>
            <a:ea typeface="微软雅黑 Light" panose="020B0502040204020203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oboto Light"/>
            <a:ea typeface="微软雅黑 Light" panose="020B0502040204020203" pitchFamily="34" charset="-122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434342"/>
        </a:dk2>
        <a:lt2>
          <a:srgbClr val="CDD7D9"/>
        </a:lt2>
        <a:accent1>
          <a:srgbClr val="797B7E"/>
        </a:accent1>
        <a:accent2>
          <a:srgbClr val="F96A1B"/>
        </a:accent2>
        <a:accent3>
          <a:srgbClr val="FFFFFF"/>
        </a:accent3>
        <a:accent4>
          <a:srgbClr val="000000"/>
        </a:accent4>
        <a:accent5>
          <a:srgbClr val="BEBFC0"/>
        </a:accent5>
        <a:accent6>
          <a:srgbClr val="E25F17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2018医师协会年会-胡飞垂体微腺瘤</Template>
  <TotalTime>0</TotalTime>
  <Words>2070</Words>
  <Application>WPS 演示</Application>
  <PresentationFormat>自定义</PresentationFormat>
  <Paragraphs>350</Paragraphs>
  <Slides>68</Slides>
  <Notes>26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68</vt:i4>
      </vt:variant>
    </vt:vector>
  </HeadingPairs>
  <TitlesOfParts>
    <vt:vector size="81" baseType="lpstr">
      <vt:lpstr>Arial</vt:lpstr>
      <vt:lpstr>宋体</vt:lpstr>
      <vt:lpstr>Wingdings</vt:lpstr>
      <vt:lpstr>Roboto Light</vt:lpstr>
      <vt:lpstr>Segoe Print</vt:lpstr>
      <vt:lpstr>微软雅黑 Light</vt:lpstr>
      <vt:lpstr>黑体</vt:lpstr>
      <vt:lpstr>微软雅黑</vt:lpstr>
      <vt:lpstr>Calibri</vt:lpstr>
      <vt:lpstr>Wingdings 2</vt:lpstr>
      <vt:lpstr>Wingdings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S2</dc:creator>
  <cp:lastModifiedBy>Administrator</cp:lastModifiedBy>
  <cp:revision>139</cp:revision>
  <dcterms:created xsi:type="dcterms:W3CDTF">2019-05-08T13:31:27Z</dcterms:created>
  <dcterms:modified xsi:type="dcterms:W3CDTF">2026-09-14T08:41:23Z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A34FD374C7EE42139EE68329B31E93BE_13</vt:lpwstr>
  </property>
</Properties>
</file>