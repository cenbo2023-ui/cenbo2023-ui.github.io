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71" r:id="rId7"/>
    <p:sldId id="287" r:id="rId8"/>
    <p:sldId id="288" r:id="rId9"/>
    <p:sldId id="289" r:id="rId10"/>
    <p:sldId id="290" r:id="rId11"/>
    <p:sldId id="291" r:id="rId12"/>
    <p:sldId id="292" r:id="rId13"/>
    <p:sldId id="260" r:id="rId14"/>
    <p:sldId id="262" r:id="rId15"/>
    <p:sldId id="263" r:id="rId16"/>
    <p:sldId id="264" r:id="rId17"/>
    <p:sldId id="265" r:id="rId18"/>
    <p:sldId id="266" r:id="rId19"/>
    <p:sldId id="267" r:id="rId20"/>
    <p:sldId id="269" r:id="rId21"/>
    <p:sldId id="270" r:id="rId22"/>
    <p:sldId id="328" r:id="rId23"/>
    <p:sldId id="274" r:id="rId24"/>
    <p:sldId id="329" r:id="rId25"/>
    <p:sldId id="275" r:id="rId26"/>
    <p:sldId id="272" r:id="rId27"/>
    <p:sldId id="273" r:id="rId28"/>
    <p:sldId id="276" r:id="rId29"/>
    <p:sldId id="307" r:id="rId30"/>
    <p:sldId id="308" r:id="rId31"/>
    <p:sldId id="309" r:id="rId32"/>
    <p:sldId id="310" r:id="rId33"/>
    <p:sldId id="311" r:id="rId34"/>
    <p:sldId id="312" r:id="rId35"/>
    <p:sldId id="313" r:id="rId36"/>
    <p:sldId id="317" r:id="rId37"/>
    <p:sldId id="314" r:id="rId38"/>
    <p:sldId id="315" r:id="rId39"/>
    <p:sldId id="316" r:id="rId40"/>
    <p:sldId id="321" r:id="rId41"/>
    <p:sldId id="323" r:id="rId42"/>
    <p:sldId id="324" r:id="rId43"/>
    <p:sldId id="325" r:id="rId44"/>
    <p:sldId id="326" r:id="rId45"/>
    <p:sldId id="353" r:id="rId46"/>
    <p:sldId id="354" r:id="rId47"/>
    <p:sldId id="355" r:id="rId48"/>
    <p:sldId id="356" r:id="rId49"/>
    <p:sldId id="360" r:id="rId50"/>
    <p:sldId id="357" r:id="rId51"/>
    <p:sldId id="358" r:id="rId52"/>
    <p:sldId id="327" r:id="rId53"/>
  </p:sldIdLst>
  <p:sldSz cx="12192000" cy="6858000"/>
  <p:notesSz cx="6858000" cy="9144000"/>
  <p:custDataLst>
    <p:tags r:id="rId5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4" autoAdjust="0"/>
    <p:restoredTop sz="94660"/>
  </p:normalViewPr>
  <p:slideViewPr>
    <p:cSldViewPr snapToGrid="0">
      <p:cViewPr varScale="1">
        <p:scale>
          <a:sx n="97" d="100"/>
          <a:sy n="97" d="100"/>
        </p:scale>
        <p:origin x="51" y="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7" Type="http://schemas.openxmlformats.org/officeDocument/2006/relationships/tags" Target="tags/tag3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7937-ABC8-4FD6-871E-627E85F89A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189A-C097-4502-8A04-CA5B16B178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7937-ABC8-4FD6-871E-627E85F89A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189A-C097-4502-8A04-CA5B16B178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7937-ABC8-4FD6-871E-627E85F89A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189A-C097-4502-8A04-CA5B16B178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7937-ABC8-4FD6-871E-627E85F89A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189A-C097-4502-8A04-CA5B16B178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7937-ABC8-4FD6-871E-627E85F89A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189A-C097-4502-8A04-CA5B16B178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7937-ABC8-4FD6-871E-627E85F89A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189A-C097-4502-8A04-CA5B16B178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7937-ABC8-4FD6-871E-627E85F89A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189A-C097-4502-8A04-CA5B16B178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7937-ABC8-4FD6-871E-627E85F89A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189A-C097-4502-8A04-CA5B16B178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7937-ABC8-4FD6-871E-627E85F89A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189A-C097-4502-8A04-CA5B16B178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7937-ABC8-4FD6-871E-627E85F89A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189A-C097-4502-8A04-CA5B16B178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7937-ABC8-4FD6-871E-627E85F89A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189A-C097-4502-8A04-CA5B16B178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A7937-ABC8-4FD6-871E-627E85F89A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D189A-C097-4502-8A04-CA5B16B1781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jpeg"/><Relationship Id="rId1" Type="http://schemas.openxmlformats.org/officeDocument/2006/relationships/tags" Target="../tags/tag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jpeg"/><Relationship Id="rId1" Type="http://schemas.openxmlformats.org/officeDocument/2006/relationships/hyperlink" Target="&#38745;&#24609;/&#38742;&#24609;-&#21548;&#31070;&#32463;&#30244;.mp4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4.jpeg"/><Relationship Id="rId1" Type="http://schemas.openxmlformats.org/officeDocument/2006/relationships/image" Target="../media/image33.jpe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6.jpeg"/><Relationship Id="rId1" Type="http://schemas.openxmlformats.org/officeDocument/2006/relationships/image" Target="../media/image35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8.jpeg"/><Relationship Id="rId1" Type="http://schemas.openxmlformats.org/officeDocument/2006/relationships/image" Target="../media/image37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1" Type="http://schemas.openxmlformats.org/officeDocument/2006/relationships/hyperlink" Target="&#28504;&#22235;&#24179;/&#22797;&#21457;&#21548;&#30244;-&#28504;&#22235;&#24179;.mp4" TargetMode="Externa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tags" Target="../tags/tag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3.jpeg"/><Relationship Id="rId1" Type="http://schemas.openxmlformats.org/officeDocument/2006/relationships/image" Target="../media/image42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5.jpeg"/><Relationship Id="rId1" Type="http://schemas.openxmlformats.org/officeDocument/2006/relationships/image" Target="../media/image44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8.jpeg"/><Relationship Id="rId1" Type="http://schemas.openxmlformats.org/officeDocument/2006/relationships/image" Target="../media/image47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0.jpeg"/><Relationship Id="rId1" Type="http://schemas.openxmlformats.org/officeDocument/2006/relationships/image" Target="../media/image49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88371" y="-404554"/>
            <a:ext cx="9144000" cy="2387600"/>
          </a:xfrm>
        </p:spPr>
        <p:txBody>
          <a:bodyPr>
            <a:normAutofit/>
          </a:bodyPr>
          <a:lstStyle/>
          <a:p>
            <a:r>
              <a:rPr lang="zh-CN" altLang="en-US" sz="4500" dirty="0"/>
              <a:t>听神经瘤手术中的核心技术</a:t>
            </a:r>
            <a:endParaRPr lang="zh-CN" altLang="en-US" sz="45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长江航运总医院 武汉脑科医院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岑 波</a:t>
            </a:r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手术体位</a:t>
            </a:r>
            <a:endParaRPr lang="zh-CN" altLang="en-US" dirty="0"/>
          </a:p>
        </p:txBody>
      </p:sp>
      <p:pic>
        <p:nvPicPr>
          <p:cNvPr id="3" name="内容占位符 2" descr="微信图片_20220309090857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39875" y="1393825"/>
            <a:ext cx="9402445" cy="52647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开颅要点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关键孔的寻找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横窦及乙状窦的显露与保护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乳突导静脉的处理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椎动脉的保护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关键孔的位置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2394" y="1825625"/>
            <a:ext cx="4567211" cy="4351338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4711" y="1825625"/>
            <a:ext cx="4082578" cy="4351338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 descr="微信图片_2022030909083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94685" y="1825625"/>
            <a:ext cx="580199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 descr="微信图片_20220309090841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360420" y="1825625"/>
            <a:ext cx="546989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 descr="微信图片_2022030909083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612515" y="1825625"/>
            <a:ext cx="496633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 descr="微信图片_20220309090846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94685" y="1825625"/>
            <a:ext cx="580199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 descr="微信图片_20220309090852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94685" y="1825625"/>
            <a:ext cx="580199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 descr="微信图片_2022030909090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78580" y="1825625"/>
            <a:ext cx="443357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横窦及乙状窦的显露与保护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3" name="内容占位符 2" descr="微信图片_2022030909092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94685" y="1825625"/>
            <a:ext cx="580199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6931" y="-208016"/>
            <a:ext cx="10515600" cy="1325563"/>
          </a:xfrm>
        </p:spPr>
        <p:txBody>
          <a:bodyPr/>
          <a:lstStyle/>
          <a:p>
            <a:r>
              <a:rPr lang="zh-CN" altLang="en-US" dirty="0"/>
              <a:t>椎动脉的保护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189" y="892524"/>
            <a:ext cx="5779533" cy="5888911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硬膜剪开的方式</a:t>
            </a:r>
            <a:endParaRPr lang="zh-CN" altLang="en-US" dirty="0"/>
          </a:p>
        </p:txBody>
      </p:sp>
      <p:pic>
        <p:nvPicPr>
          <p:cNvPr id="4" name="内容占位符 3" descr="微信图片_2022030909080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98420" y="1377950"/>
            <a:ext cx="6785610" cy="50895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高颅压的控制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0915" y="1471930"/>
            <a:ext cx="10515600" cy="4351338"/>
          </a:xfrm>
        </p:spPr>
        <p:txBody>
          <a:bodyPr>
            <a:noAutofit/>
          </a:bodyPr>
          <a:lstStyle/>
          <a:p>
            <a:endParaRPr lang="zh-CN" altLang="en-US" sz="2000" dirty="0">
              <a:solidFill>
                <a:schemeClr val="tx1"/>
              </a:solidFill>
              <a:uFillTx/>
            </a:endParaRPr>
          </a:p>
          <a:p>
            <a:r>
              <a:rPr lang="zh-CN" altLang="en-US" sz="3600" dirty="0">
                <a:solidFill>
                  <a:schemeClr val="tx1"/>
                </a:solidFill>
                <a:uFillTx/>
              </a:rPr>
              <a:t>甘露醇快速静滴</a:t>
            </a:r>
            <a:endParaRPr lang="zh-CN" altLang="en-US" sz="3600" dirty="0">
              <a:solidFill>
                <a:schemeClr val="tx1"/>
              </a:solidFill>
              <a:uFillTx/>
            </a:endParaRPr>
          </a:p>
          <a:p>
            <a:endParaRPr lang="zh-CN" altLang="en-US" sz="3600" dirty="0">
              <a:solidFill>
                <a:schemeClr val="tx1"/>
              </a:solidFill>
              <a:uFillTx/>
            </a:endParaRPr>
          </a:p>
          <a:p>
            <a:r>
              <a:rPr lang="zh-CN" altLang="en-US" sz="3600" dirty="0">
                <a:solidFill>
                  <a:schemeClr val="tx1"/>
                </a:solidFill>
                <a:uFillTx/>
              </a:rPr>
              <a:t>过度换气</a:t>
            </a:r>
            <a:endParaRPr lang="zh-CN" altLang="en-US" sz="3600" dirty="0">
              <a:solidFill>
                <a:schemeClr val="tx1"/>
              </a:solidFill>
              <a:uFillTx/>
            </a:endParaRPr>
          </a:p>
          <a:p>
            <a:endParaRPr lang="zh-CN" altLang="en-US" sz="3600" dirty="0">
              <a:solidFill>
                <a:schemeClr val="tx1"/>
              </a:solidFill>
              <a:uFillTx/>
            </a:endParaRPr>
          </a:p>
          <a:p>
            <a:r>
              <a:rPr lang="zh-CN" altLang="en-US" sz="3600" dirty="0">
                <a:solidFill>
                  <a:schemeClr val="tx1"/>
                </a:solidFill>
                <a:uFillTx/>
              </a:rPr>
              <a:t>枕大池及小脑延髓池</a:t>
            </a:r>
            <a:endParaRPr lang="en-US" altLang="zh-CN" sz="3600" dirty="0">
              <a:solidFill>
                <a:schemeClr val="tx1"/>
              </a:solidFill>
              <a:uFillTx/>
            </a:endParaRPr>
          </a:p>
          <a:p>
            <a:endParaRPr lang="en-US" altLang="zh-CN" sz="3600" dirty="0">
              <a:solidFill>
                <a:schemeClr val="tx1"/>
              </a:solidFill>
              <a:uFillTx/>
            </a:endParaRPr>
          </a:p>
          <a:p>
            <a:r>
              <a:rPr lang="zh-CN" altLang="en-US" sz="3600" dirty="0">
                <a:solidFill>
                  <a:schemeClr val="tx1"/>
                </a:solidFill>
                <a:uFillTx/>
              </a:rPr>
              <a:t>脑室外引流</a:t>
            </a:r>
            <a:endParaRPr lang="zh-CN" altLang="en-US" sz="3600" dirty="0">
              <a:solidFill>
                <a:schemeClr val="tx1"/>
              </a:solidFill>
              <a:uFillTx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肿瘤固有包膜的寻找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903" y="1825625"/>
            <a:ext cx="7722193" cy="4351338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肿瘤表面神经血管的分离与保护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930" y="1825625"/>
            <a:ext cx="5616140" cy="4351338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704" y="1825625"/>
            <a:ext cx="6042591" cy="4351338"/>
          </a:xfr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739" y="1825625"/>
            <a:ext cx="5478522" cy="4351338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面神经的寻找与保护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0710" y="1825625"/>
            <a:ext cx="5870579" cy="4351338"/>
          </a:xfr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内听道的寻找与开放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12839" y="1825625"/>
            <a:ext cx="5766322" cy="4351338"/>
          </a:xfr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内听道的寻找与开放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063" y="1825625"/>
            <a:ext cx="6633874" cy="4351338"/>
          </a:xfr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脑干端面神经的寻找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446" y="1747552"/>
            <a:ext cx="6899850" cy="4823878"/>
          </a:xfr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408" y="1825625"/>
            <a:ext cx="6235184" cy="4351338"/>
          </a:xfr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术中电生理监测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562" y="1411176"/>
            <a:ext cx="7203995" cy="5400885"/>
          </a:xfr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关颅的要点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内听道口的封闭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乳突气房封闭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硬膜严密缝合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肌肉彻底止血分层缝合</a:t>
            </a: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病例分享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病例 </a:t>
            </a:r>
            <a:r>
              <a:rPr lang="en-US" altLang="zh-CN" dirty="0"/>
              <a:t>1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zh-CN" altLang="en-US" dirty="0"/>
              <a:t>患者女性，</a:t>
            </a:r>
            <a:r>
              <a:rPr lang="en-US" altLang="zh-CN" dirty="0"/>
              <a:t>37</a:t>
            </a:r>
            <a:r>
              <a:rPr lang="zh-CN" altLang="en-US" dirty="0"/>
              <a:t>岁。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耳鸣一年，加重</a:t>
            </a:r>
            <a:r>
              <a:rPr lang="en-US" altLang="zh-CN" dirty="0"/>
              <a:t>1</a:t>
            </a:r>
            <a:r>
              <a:rPr lang="zh-CN" altLang="en-US" dirty="0"/>
              <a:t>月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头部</a:t>
            </a:r>
            <a:r>
              <a:rPr lang="en-US" altLang="zh-CN" dirty="0"/>
              <a:t>MR</a:t>
            </a:r>
            <a:r>
              <a:rPr lang="zh-CN" altLang="en-US" dirty="0"/>
              <a:t>检查提示：右侧</a:t>
            </a:r>
            <a:r>
              <a:rPr lang="en-US" altLang="zh-CN" dirty="0"/>
              <a:t>CPA</a:t>
            </a:r>
            <a:r>
              <a:rPr lang="zh-CN" altLang="en-US" dirty="0"/>
              <a:t>占位，考虑听神经瘤</a:t>
            </a: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 descr="微信图片_20220309143140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898265" y="1825625"/>
            <a:ext cx="439483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 descr="微信图片_20220309143049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670935" y="1825625"/>
            <a:ext cx="484949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 descr="微信图片_20220309143211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05480" y="1825625"/>
            <a:ext cx="578040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 descr="微信图片_20220309143156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76905" y="1825625"/>
            <a:ext cx="583755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 descr="微信图片_20220309143149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79545" y="1825625"/>
            <a:ext cx="423227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 descr="微信图片_20220309143152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477385" y="1825625"/>
            <a:ext cx="323659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 descr="微信图片_20220309143256">
            <a:hlinkClick r:id="rId1" action="ppaction://hlinkfile"/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4685" y="1825625"/>
            <a:ext cx="580199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 descr="微信图片_20220309143228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94685" y="1825625"/>
            <a:ext cx="580199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 descr="微信图片_20220309143216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94685" y="1825625"/>
            <a:ext cx="580199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 descr="微信图片_20220309143219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94685" y="1825625"/>
            <a:ext cx="580199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病例 </a:t>
            </a:r>
            <a:r>
              <a:rPr lang="en-US" altLang="zh-CN"/>
              <a:t>2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zh-CN" altLang="en-US"/>
              <a:t>    患者男性</a:t>
            </a:r>
            <a:r>
              <a:rPr lang="en-US" altLang="zh-CN"/>
              <a:t>62</a:t>
            </a:r>
            <a:r>
              <a:rPr lang="zh-CN" altLang="en-US"/>
              <a:t>岁，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 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左耳听力下降</a:t>
            </a:r>
            <a:r>
              <a:rPr lang="en-US" altLang="zh-CN"/>
              <a:t>1</a:t>
            </a:r>
            <a:r>
              <a:rPr lang="zh-CN" altLang="en-US"/>
              <a:t>月余，外院头部</a:t>
            </a:r>
            <a:r>
              <a:rPr lang="en-US" altLang="zh-CN"/>
              <a:t>MR</a:t>
            </a:r>
            <a:r>
              <a:rPr lang="zh-CN" altLang="en-US"/>
              <a:t>提示：左</a:t>
            </a:r>
            <a:r>
              <a:rPr lang="en-US" altLang="zh-CN"/>
              <a:t>CPA</a:t>
            </a:r>
            <a:r>
              <a:rPr lang="zh-CN" altLang="en-US"/>
              <a:t>占位</a:t>
            </a:r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                    </a:t>
            </a:r>
            <a:r>
              <a:rPr lang="zh-CN" altLang="en-US"/>
              <a:t>术前头部</a:t>
            </a:r>
            <a:r>
              <a:rPr lang="en-US" altLang="zh-CN"/>
              <a:t>CT</a:t>
            </a:r>
            <a:endParaRPr lang="en-US" altLang="zh-CN"/>
          </a:p>
        </p:txBody>
      </p:sp>
      <p:pic>
        <p:nvPicPr>
          <p:cNvPr id="9" name="内容占位符 8" descr="微信图片_20220307103138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842770" y="2505075"/>
            <a:ext cx="3151505" cy="3684905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/>
              <a:t>                     </a:t>
            </a:r>
            <a:r>
              <a:rPr lang="zh-CN" altLang="en-US"/>
              <a:t>术后头部</a:t>
            </a:r>
            <a:r>
              <a:rPr lang="en-US" altLang="zh-CN"/>
              <a:t>CT</a:t>
            </a:r>
            <a:endParaRPr lang="en-US" altLang="zh-CN"/>
          </a:p>
        </p:txBody>
      </p:sp>
      <p:pic>
        <p:nvPicPr>
          <p:cNvPr id="10" name="内容占位符 9" descr="微信图片_20220307103201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7282180" y="2505075"/>
            <a:ext cx="2962910" cy="368490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病例 </a:t>
            </a:r>
            <a:r>
              <a:rPr lang="en-US" altLang="zh-CN"/>
              <a:t>3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zh-CN" altLang="en-US"/>
              <a:t>患者男性，</a:t>
            </a:r>
            <a:r>
              <a:rPr lang="en-US" altLang="zh-CN"/>
              <a:t>49</a:t>
            </a:r>
            <a:r>
              <a:rPr lang="zh-CN" altLang="en-US"/>
              <a:t>岁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听神经瘤术后</a:t>
            </a:r>
            <a:r>
              <a:rPr lang="en-US" altLang="zh-CN"/>
              <a:t>15</a:t>
            </a:r>
            <a:r>
              <a:rPr lang="zh-CN" altLang="en-US"/>
              <a:t>年，饮水呛咳</a:t>
            </a:r>
            <a:r>
              <a:rPr lang="en-US" altLang="zh-CN"/>
              <a:t>1</a:t>
            </a:r>
            <a:r>
              <a:rPr lang="zh-CN" altLang="en-US"/>
              <a:t>月余</a:t>
            </a:r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术前</a:t>
            </a:r>
            <a:r>
              <a:rPr lang="en-US" altLang="zh-CN"/>
              <a:t>MR</a:t>
            </a:r>
            <a:endParaRPr lang="en-US" altLang="zh-CN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 descr="捕获1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2922905" y="3099435"/>
            <a:ext cx="2428875" cy="2524125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内容占位符 8" descr="捕获2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610350" y="3099435"/>
            <a:ext cx="2381250" cy="249555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术后</a:t>
            </a:r>
            <a:r>
              <a:rPr lang="en-US" altLang="zh-CN"/>
              <a:t>MR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内容占位符 6" descr="捕获4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2908300" y="3089910"/>
            <a:ext cx="2657475" cy="2524125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内容占位符 7" descr="捕获5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696710" y="3089910"/>
            <a:ext cx="2428875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手术视频</a:t>
            </a:r>
            <a:endParaRPr lang="zh-CN" altLang="en-US"/>
          </a:p>
        </p:txBody>
      </p:sp>
      <p:pic>
        <p:nvPicPr>
          <p:cNvPr id="9" name="内容占位符 8" descr="屏幕截图 2022-03-09 151947">
            <a:hlinkClick r:id="rId1" action="ppaction://hlinkfile"/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8815" y="2340610"/>
            <a:ext cx="5753100" cy="332105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spcBef>
                <a:spcPts val="1000"/>
              </a:spcBef>
              <a:buClrTx/>
              <a:buSzTx/>
              <a:buNone/>
            </a:pPr>
            <a:r>
              <a:rPr lang="zh-CN" altLang="en-US" sz="2800">
                <a:latin typeface="+mn-lt"/>
                <a:ea typeface="+mn-ea"/>
                <a:cs typeface="+mn-cs"/>
              </a:rPr>
              <a:t>病例4</a:t>
            </a:r>
            <a:endParaRPr lang="zh-CN" altLang="en-US" sz="2800">
              <a:latin typeface="+mn-lt"/>
              <a:ea typeface="+mn-ea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algn="l">
              <a:buClrTx/>
              <a:buSzTx/>
              <a:buFontTx/>
              <a:buNone/>
            </a:pPr>
            <a:r>
              <a:rPr lang="zh-CN" altLang="en-US"/>
              <a:t>患者，男性40岁</a:t>
            </a:r>
            <a:endParaRPr lang="zh-CN" altLang="en-US"/>
          </a:p>
          <a:p>
            <a:pPr marL="0" algn="l">
              <a:buClrTx/>
              <a:buSzTx/>
              <a:buFontTx/>
              <a:buNone/>
            </a:pPr>
            <a:r>
              <a:rPr lang="zh-CN" altLang="en-US"/>
              <a:t>听神经瘤术后11年，间断头痛伴呕吐10月入院</a:t>
            </a:r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术前</a:t>
            </a:r>
            <a:r>
              <a:rPr lang="en-US" altLang="zh-CN"/>
              <a:t>MR</a:t>
            </a:r>
            <a:r>
              <a:rPr lang="zh-CN" altLang="en-US"/>
              <a:t>检查</a:t>
            </a:r>
            <a:endParaRPr lang="zh-CN" altLang="en-US"/>
          </a:p>
        </p:txBody>
      </p:sp>
      <p:pic>
        <p:nvPicPr>
          <p:cNvPr id="4" name="内容占位符 3" descr="批注 2023-06-29 154851"/>
          <p:cNvPicPr>
            <a:picLocks noChangeAspect="1"/>
          </p:cNvPicPr>
          <p:nvPr>
            <p:ph sz="half"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24915" y="1825625"/>
            <a:ext cx="4406900" cy="4351655"/>
          </a:xfrm>
          <a:prstGeom prst="rect">
            <a:avLst/>
          </a:prstGeom>
        </p:spPr>
      </p:pic>
      <p:pic>
        <p:nvPicPr>
          <p:cNvPr id="7" name="内容占位符 6" descr="批注 2023-06-29 155118"/>
          <p:cNvPicPr>
            <a:picLocks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85280" y="1825625"/>
            <a:ext cx="415480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内容占位符 4" descr="批注 2023-06-29 154601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237615" y="2033905"/>
            <a:ext cx="4381500" cy="3933825"/>
          </a:xfrm>
          <a:prstGeom prst="rect">
            <a:avLst/>
          </a:prstGeom>
        </p:spPr>
      </p:pic>
      <p:pic>
        <p:nvPicPr>
          <p:cNvPr id="6" name="内容占位符 5" descr="批注 2023-06-29 154715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57645" y="1929130"/>
            <a:ext cx="4410075" cy="414337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内容占位符 4" descr="批注 2023-06-29 155516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082675" y="1825625"/>
            <a:ext cx="4692015" cy="4351655"/>
          </a:xfrm>
          <a:prstGeom prst="rect">
            <a:avLst/>
          </a:prstGeom>
        </p:spPr>
      </p:pic>
      <p:pic>
        <p:nvPicPr>
          <p:cNvPr id="6" name="内容占位符 5" descr="批注 2023-06-29 155616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58585" y="1825625"/>
            <a:ext cx="460756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7" name="内容占位符 6" descr="微信图片_2023062916505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70050" y="113030"/>
            <a:ext cx="9489440" cy="661225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术后</a:t>
            </a:r>
            <a:r>
              <a:rPr lang="en-US" altLang="zh-CN"/>
              <a:t>MR</a:t>
            </a:r>
            <a:r>
              <a:rPr lang="zh-CN" altLang="en-US"/>
              <a:t>复查</a:t>
            </a:r>
            <a:endParaRPr lang="zh-CN" altLang="en-US"/>
          </a:p>
        </p:txBody>
      </p:sp>
      <p:pic>
        <p:nvPicPr>
          <p:cNvPr id="5" name="内容占位符 4" descr="批注 2023-06-29 160217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380490" y="1871980"/>
            <a:ext cx="4095750" cy="4257675"/>
          </a:xfrm>
          <a:prstGeom prst="rect">
            <a:avLst/>
          </a:prstGeom>
        </p:spPr>
      </p:pic>
      <p:pic>
        <p:nvPicPr>
          <p:cNvPr id="6" name="内容占位符 5" descr="批注 2023-06-29 160458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46875" y="1825625"/>
            <a:ext cx="403098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内容占位符 4" descr="批注 2023-06-29 160711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187450" y="1825625"/>
            <a:ext cx="4482465" cy="4351655"/>
          </a:xfrm>
          <a:prstGeom prst="rect">
            <a:avLst/>
          </a:prstGeom>
        </p:spPr>
      </p:pic>
      <p:pic>
        <p:nvPicPr>
          <p:cNvPr id="6" name="内容占位符 5" descr="批注 2023-06-29 160815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44920" y="1825625"/>
            <a:ext cx="483489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76" y="365125"/>
            <a:ext cx="8997906" cy="6368112"/>
          </a:xfrm>
        </p:spPr>
      </p:pic>
      <p:sp>
        <p:nvSpPr>
          <p:cNvPr id="6" name="文本框 5"/>
          <p:cNvSpPr txBox="1"/>
          <p:nvPr/>
        </p:nvSpPr>
        <p:spPr>
          <a:xfrm>
            <a:off x="5569527" y="1491915"/>
            <a:ext cx="372322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500" dirty="0">
                <a:solidFill>
                  <a:schemeClr val="accent2"/>
                </a:solidFill>
              </a:rPr>
              <a:t>谢谢聆听！</a:t>
            </a:r>
            <a:endParaRPr lang="zh-CN" altLang="en-US" sz="35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853,&quot;width&quot;:6921}"/>
</p:tagLst>
</file>

<file path=ppt/tags/tag2.xml><?xml version="1.0" encoding="utf-8"?>
<p:tagLst xmlns:p="http://schemas.openxmlformats.org/presentationml/2006/main">
  <p:tag name="KSO_WM_UNIT_PLACING_PICTURE_USER_VIEWPORT" val="{&quot;height&quot;:6853,&quot;width&quot;:6940}"/>
</p:tagLst>
</file>

<file path=ppt/tags/tag3.xml><?xml version="1.0" encoding="utf-8"?>
<p:tagLst xmlns:p="http://schemas.openxmlformats.org/presentationml/2006/main">
  <p:tag name="KSO_WPP_MARK_KEY" val="9af7969c-8f8e-44c9-aabd-b534751a4954"/>
  <p:tag name="COMMONDATA" val="eyJoZGlkIjoiNzNmMjU3NjQyZWJjNjg3MGZhOWIyNjVlZTczN2EwZD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</Words>
  <Application>WPS 演示</Application>
  <PresentationFormat>宽屏</PresentationFormat>
  <Paragraphs>103</Paragraphs>
  <Slides>51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0" baseType="lpstr">
      <vt:lpstr>Arial</vt:lpstr>
      <vt:lpstr>宋体</vt:lpstr>
      <vt:lpstr>Wingdings</vt:lpstr>
      <vt:lpstr>等线 Light</vt:lpstr>
      <vt:lpstr>等线</vt:lpstr>
      <vt:lpstr>微软雅黑</vt:lpstr>
      <vt:lpstr>Arial Unicode MS</vt:lpstr>
      <vt:lpstr>Calibri</vt:lpstr>
      <vt:lpstr>Office 主题​​</vt:lpstr>
      <vt:lpstr>听神经瘤手术中的核心技术</vt:lpstr>
      <vt:lpstr>手术体位</vt:lpstr>
      <vt:lpstr>开颅要点</vt:lpstr>
      <vt:lpstr>关键孔的位置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横窦及乙状窦的显露与保护 </vt:lpstr>
      <vt:lpstr>椎动脉的保护</vt:lpstr>
      <vt:lpstr>硬膜剪开的方式</vt:lpstr>
      <vt:lpstr>高颅压的控制</vt:lpstr>
      <vt:lpstr>肿瘤固有包膜的寻找</vt:lpstr>
      <vt:lpstr>肿瘤表面神经血管的分离与保护</vt:lpstr>
      <vt:lpstr>PowerPoint 演示文稿</vt:lpstr>
      <vt:lpstr>PowerPoint 演示文稿</vt:lpstr>
      <vt:lpstr>面神经的寻找与保护</vt:lpstr>
      <vt:lpstr>内听道的寻找与开放</vt:lpstr>
      <vt:lpstr>内听道的寻找与开放</vt:lpstr>
      <vt:lpstr>脑干端面神经的寻找</vt:lpstr>
      <vt:lpstr>PowerPoint 演示文稿</vt:lpstr>
      <vt:lpstr>术中电生理监测</vt:lpstr>
      <vt:lpstr>关颅的要点</vt:lpstr>
      <vt:lpstr>病例分享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术前MR</vt:lpstr>
      <vt:lpstr>术后MR</vt:lpstr>
      <vt:lpstr>手术视频</vt:lpstr>
      <vt:lpstr>病例4</vt:lpstr>
      <vt:lpstr>术前MR检查</vt:lpstr>
      <vt:lpstr>PowerPoint 演示文稿</vt:lpstr>
      <vt:lpstr>PowerPoint 演示文稿</vt:lpstr>
      <vt:lpstr>PowerPoint 演示文稿</vt:lpstr>
      <vt:lpstr>术后MR复查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听神经瘤手术中的核心技术</dc:title>
  <dc:creator>岑 波</dc:creator>
  <cp:lastModifiedBy>Administrator</cp:lastModifiedBy>
  <cp:revision>21</cp:revision>
  <dcterms:created xsi:type="dcterms:W3CDTF">2022-03-08T07:00:00Z</dcterms:created>
  <dcterms:modified xsi:type="dcterms:W3CDTF">2026-09-14T23:20:53Z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A6CCF618B10A47F8861E95C16236176A_12</vt:lpwstr>
  </property>
</Properties>
</file>